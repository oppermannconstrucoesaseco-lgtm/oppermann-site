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666666"/>
                </a:solidFill>
                <a:latin typeface="Arial"/>
              </a:defRPr>
            </a:pPr>
            <a:r>
              <a:rPr sz="1000" b="0" i="0" u="none" strike="noStrike">
                <a:solidFill>
                  <a:srgbClr val="666666"/>
                </a:solidFill>
                <a:latin typeface="Arial"/>
              </a:rPr>
              <a:t>Peso total das paredes (toneladas) — 6 apt × 80 m²</a:t>
            </a:r>
          </a:p>
        </c:rich>
      </c:tx>
      <c:layout/>
      <c:overlay val="0"/>
    </c:title>
    <c:autoTitleDeleted val="0"/>
    <c:plotArea>
      <c:layout/>
      <c:barChart>
        <c:barDir val="col"/>
        <c:grouping val="clustered"/>
        <c:varyColors val="0"/>
        <c:ser>
          <c:idx val="0"/>
          <c:order val="0"/>
          <c:tx>
            <c:strRef>
              <c:f>Sheet1!$B$1</c:f>
              <c:strCache>
                <c:ptCount val="1"/>
                <c:pt idx="0">
                  <c:v>Peso total 6 apt (t)</c:v>
                </c:pt>
              </c:strCache>
            </c:strRef>
          </c:tx>
          <c:spPr>
            <a:solidFill>
              <a:srgbClr val="2A2A2A"/>
            </a:solidFill>
            <a:effectLst/>
          </c:spPr>
          <c:invertIfNegative val="0"/>
          <c:dLbls>
            <c:numFmt formatCode="#,##0" sourceLinked="0"/>
            <c:txPr>
              <a:bodyPr/>
              <a:lstStyle/>
              <a:p>
                <a:pPr>
                  <a:defRPr b="0" i="0" strike="noStrike" sz="1000" u="none">
                    <a:solidFill>
                      <a:srgbClr val="1E1E1E"/>
                    </a:solidFill>
                    <a:latin typeface="Arial"/>
                  </a:defRPr>
                </a:pPr>
              </a:p>
            </c:txPr>
            <c:showLegendKey val="0"/>
            <c:showVal val="1"/>
            <c:showCatName val="0"/>
            <c:showSerName val="0"/>
            <c:showPercent val="0"/>
            <c:showBubbleSize val="0"/>
            <c:showLeaderLines val="0"/>
          </c:dLbls>
          <c:dPt>
            <c:idx val="0"/>
            <c:invertIfNegative val="0"/>
            <c:bubble3D val="0"/>
            <c:spPr>
              <a:solidFill>
                <a:srgbClr val="2A2A2A"/>
              </a:solidFill>
              <a:effectLst/>
            </c:spPr>
          </c:dPt>
          <c:dPt>
            <c:idx val="1"/>
            <c:invertIfNegative val="0"/>
            <c:bubble3D val="0"/>
            <c:spPr>
              <a:solidFill>
                <a:srgbClr val="2A2A2A"/>
              </a:solidFill>
              <a:effectLst/>
            </c:spPr>
          </c:dPt>
          <c:dPt>
            <c:idx val="2"/>
            <c:invertIfNegative val="0"/>
            <c:bubble3D val="0"/>
            <c:spPr>
              <a:solidFill>
                <a:srgbClr val="2A2A2A"/>
              </a:solidFill>
              <a:effectLst/>
            </c:spPr>
          </c:dPt>
          <c:dPt>
            <c:idx val="3"/>
            <c:invertIfNegative val="0"/>
            <c:bubble3D val="0"/>
            <c:spPr>
              <a:solidFill>
                <a:srgbClr val="C8A84B"/>
              </a:solidFill>
              <a:effectLst/>
            </c:spPr>
          </c:dPt>
          <c:dPt>
            <c:idx val="4"/>
            <c:invertIfNegative val="0"/>
            <c:bubble3D val="0"/>
            <c:spPr>
              <a:solidFill>
                <a:srgbClr val="A07830"/>
              </a:solidFill>
              <a:effectLst/>
            </c:spPr>
          </c:dPt>
          <c:dPt>
            <c:idx val="5"/>
            <c:invertIfNegative val="0"/>
            <c:bubble3D val="0"/>
            <c:spPr>
              <a:solidFill>
                <a:srgbClr val="8B6914"/>
              </a:solidFill>
              <a:effectLst/>
            </c:spPr>
          </c:dPt>
          <c:cat>
            <c:multiLvlStrRef>
              <c:f>Sheet1!$A$2:$A$7</c:f>
              <c:multiLvlStrCache>
                <c:ptCount val="6"/>
                <c:lvl>
                  <c:pt idx="0">
                    <c:v>Alv. Cer.
9cm</c:v>
                  </c:pt>
                  <c:pt idx="1">
                    <c:v>Alv. Cer.
14cm</c:v>
                  </c:pt>
                  <c:pt idx="2">
                    <c:v>Alv. Conc.
14cm</c:v>
                  </c:pt>
                  <c:pt idx="3">
                    <c:v>Drywall
ST+Lã</c:v>
                  </c:pt>
                  <c:pt idx="4">
                    <c:v>Drywall
Dupla+Lã</c:v>
                  </c:pt>
                  <c:pt idx="5">
                    <c:v>Drywall
Alta Perf.</c:v>
                  </c:pt>
                </c:lvl>
              </c:multiLvlStrCache>
            </c:multiLvlStrRef>
          </c:cat>
          <c:val>
            <c:numRef>
              <c:f>Sheet1!$B$2:$B$7</c:f>
              <c:numCache>
                <c:formatCode>General</c:formatCode>
                <c:ptCount val="6"/>
                <c:pt idx="0">
                  <c:v>104.3</c:v>
                </c:pt>
                <c:pt idx="1">
                  <c:v>137.1</c:v>
                </c:pt>
                <c:pt idx="2">
                  <c:v>147.8</c:v>
                </c:pt>
                <c:pt idx="3">
                  <c:v>12.4</c:v>
                </c:pt>
                <c:pt idx="4">
                  <c:v>23.1</c:v>
                </c:pt>
                <c:pt idx="5">
                  <c:v>24.2</c:v>
                </c:pt>
              </c:numCache>
            </c:numRef>
          </c:val>
        </c:ser>
        <c:dLbls>
          <c:numFmt formatCode="#,##0" sourceLinked="0"/>
          <c:txPr>
            <a:bodyPr/>
            <a:lstStyle/>
            <a:p>
              <a:pPr>
                <a:defRPr b="0" i="0" strike="noStrike" sz="1000" u="none">
                  <a:solidFill>
                    <a:srgbClr val="1E1E1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3A3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A3A3A"/>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7F6F3"/>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standard"/>
        <c:varyColors val="0"/>
        <c:ser>
          <c:idx val="0"/>
          <c:order val="0"/>
          <c:tx>
            <c:strRef>
              <c:f>Sheet1!$B$1</c:f>
              <c:strCache>
                <c:ptCount val="1"/>
                <c:pt idx="0">
                  <c:v>Alvenaria</c:v>
                </c:pt>
              </c:strCache>
            </c:strRef>
          </c:tx>
          <c:spPr>
            <a:solidFill>
              <a:srgbClr val="A07830"/>
            </a:solidFill>
            <a:ln w="25400" cap="flat">
              <a:solidFill>
                <a:srgbClr val="A07830"/>
              </a:solidFill>
              <a:prstDash val="solid"/>
              <a:round/>
            </a:ln>
            <a:effectLst/>
          </c:spPr>
          <c:invertIfNegative val="0"/>
          <c:marker>
            <c:symbol val="circle"/>
            <c:size val="6"/>
            <c:spPr>
              <a:solidFill>
                <a:srgbClr val="A07830"/>
              </a:solidFill>
              <a:ln w="9525" cap="flat">
                <a:solidFill>
                  <a:srgbClr val="A07830"/>
                </a:solidFill>
                <a:prstDash val="solid"/>
                <a:round/>
              </a:ln>
              <a:effectLst/>
            </c:spPr>
          </c:marker>
          <c:cat>
            <c:multiLvlStrRef>
              <c:f>Sheet1!$A$2:$A$8</c:f>
              <c:multiLvlStrCache>
                <c:ptCount val="7"/>
                <c:lvl>
                  <c:pt idx="0">
                    <c:v>Peso/Leveza</c:v>
                  </c:pt>
                  <c:pt idx="1">
                    <c:v>Área Útil</c:v>
                  </c:pt>
                  <c:pt idx="2">
                    <c:v>Velocidade</c:v>
                  </c:pt>
                  <c:pt idx="3">
                    <c:v>Acústica</c:v>
                  </c:pt>
                  <c:pt idx="4">
                    <c:v>Custo Total</c:v>
                  </c:pt>
                  <c:pt idx="5">
                    <c:v>Sustent.</c:v>
                  </c:pt>
                  <c:pt idx="6">
                    <c:v>Manut.</c:v>
                  </c:pt>
                </c:lvl>
              </c:multiLvlStrCache>
            </c:multiLvlStrRef>
          </c:cat>
          <c:val>
            <c:numRef>
              <c:f>Sheet1!$B$2:$B$8</c:f>
              <c:numCache>
                <c:formatCode>General</c:formatCode>
                <c:ptCount val="7"/>
                <c:pt idx="0">
                  <c:v>1</c:v>
                </c:pt>
                <c:pt idx="1">
                  <c:v>1</c:v>
                </c:pt>
                <c:pt idx="2">
                  <c:v>2</c:v>
                </c:pt>
                <c:pt idx="3">
                  <c:v>3</c:v>
                </c:pt>
                <c:pt idx="4">
                  <c:v>3</c:v>
                </c:pt>
                <c:pt idx="5">
                  <c:v>2</c:v>
                </c:pt>
                <c:pt idx="6">
                  <c:v>2</c:v>
                </c:pt>
              </c:numCache>
            </c:numRef>
          </c:val>
        </c:ser>
        <c:ser>
          <c:idx val="1"/>
          <c:order val="1"/>
          <c:tx>
            <c:strRef>
              <c:f>Sheet1!$C$1</c:f>
              <c:strCache>
                <c:ptCount val="1"/>
                <c:pt idx="0">
                  <c:v>Drywall ST+Lã</c:v>
                </c:pt>
              </c:strCache>
            </c:strRef>
          </c:tx>
          <c:spPr>
            <a:solidFill>
              <a:srgbClr val="C8A84B"/>
            </a:solidFill>
            <a:ln w="25400" cap="flat">
              <a:solidFill>
                <a:srgbClr val="C8A84B"/>
              </a:solidFill>
              <a:prstDash val="solid"/>
              <a:round/>
            </a:ln>
            <a:effectLst/>
          </c:spPr>
          <c:invertIfNegative val="0"/>
          <c:marker>
            <c:symbol val="circle"/>
            <c:size val="6"/>
            <c:spPr>
              <a:solidFill>
                <a:srgbClr val="C8A84B"/>
              </a:solidFill>
              <a:ln w="9525" cap="flat">
                <a:solidFill>
                  <a:srgbClr val="C8A84B"/>
                </a:solidFill>
                <a:prstDash val="solid"/>
                <a:round/>
              </a:ln>
              <a:effectLst/>
            </c:spPr>
          </c:marker>
          <c:cat>
            <c:multiLvlStrRef>
              <c:f>Sheet1!$A$2:$A$8</c:f>
              <c:multiLvlStrCache>
                <c:ptCount val="7"/>
                <c:lvl>
                  <c:pt idx="0">
                    <c:v>Peso/Leveza</c:v>
                  </c:pt>
                  <c:pt idx="1">
                    <c:v>Área Útil</c:v>
                  </c:pt>
                  <c:pt idx="2">
                    <c:v>Velocidade</c:v>
                  </c:pt>
                  <c:pt idx="3">
                    <c:v>Acústica</c:v>
                  </c:pt>
                  <c:pt idx="4">
                    <c:v>Custo Total</c:v>
                  </c:pt>
                  <c:pt idx="5">
                    <c:v>Sustent.</c:v>
                  </c:pt>
                  <c:pt idx="6">
                    <c:v>Manut.</c:v>
                  </c:pt>
                </c:lvl>
              </c:multiLvlStrCache>
            </c:multiLvlStrRef>
          </c:cat>
          <c:val>
            <c:numRef>
              <c:f>Sheet1!$C$2:$C$8</c:f>
              <c:numCache>
                <c:formatCode>General</c:formatCode>
                <c:ptCount val="7"/>
                <c:pt idx="0">
                  <c:v>5</c:v>
                </c:pt>
                <c:pt idx="1">
                  <c:v>5</c:v>
                </c:pt>
                <c:pt idx="2">
                  <c:v>5</c:v>
                </c:pt>
                <c:pt idx="3">
                  <c:v>4</c:v>
                </c:pt>
                <c:pt idx="4">
                  <c:v>5</c:v>
                </c:pt>
                <c:pt idx="5">
                  <c:v>4</c:v>
                </c:pt>
                <c:pt idx="6">
                  <c:v>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solidFill>
      <a:srgbClr val="F7F6F3"/>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3A3A3A"/>
                </a:solidFill>
                <a:latin typeface="Arial"/>
              </a:defRPr>
            </a:pPr>
            <a:r>
              <a:rPr sz="1000" b="0" i="0" u="none" strike="noStrike">
                <a:solidFill>
                  <a:srgbClr val="3A3A3A"/>
                </a:solidFill>
                <a:latin typeface="Arial"/>
              </a:rPr>
              <a:t>Composição da Economia Total Estimada</a:t>
            </a:r>
          </a:p>
        </c:rich>
      </c:tx>
      <c:layout/>
      <c:overlay val="0"/>
    </c:title>
    <c:autoTitleDeleted val="0"/>
    <c:plotArea>
      <c:layout/>
      <c:doughnutChart>
        <c:varyColors val="1"/>
        <c:ser>
          <c:idx val="0"/>
          <c:order val="0"/>
          <c:tx>
            <c:strRef>
              <c:f>Sheet1!$B$1</c:f>
              <c:strCache>
                <c:ptCount val="1"/>
                <c:pt idx="0">
                  <c:v>Economia</c:v>
                </c:pt>
              </c:strCache>
            </c:strRef>
          </c:tx>
          <c:spPr>
            <a:solidFill>
              <a:schemeClr val="accent1"/>
            </a:solidFill>
            <a:ln w="9525" cap="flat">
              <a:solidFill>
                <a:srgbClr val="F9F9F9"/>
              </a:solidFill>
              <a:prstDash val="solid"/>
              <a:round/>
            </a:ln>
            <a:effectLst/>
          </c:spPr>
          <c:dPt>
            <c:idx val="0"/>
            <c:bubble3D val="0"/>
            <c:spPr>
              <a:solidFill>
                <a:srgbClr val="C8A84B"/>
              </a:solidFill>
              <a:effectLst/>
            </c:spPr>
          </c:dPt>
          <c:dPt>
            <c:idx val="1"/>
            <c:bubble3D val="0"/>
            <c:spPr>
              <a:solidFill>
                <a:srgbClr val="A07830"/>
              </a:solidFill>
              <a:effectLst/>
            </c:spPr>
          </c:dPt>
          <c:dPt>
            <c:idx val="2"/>
            <c:bubble3D val="0"/>
            <c:spPr>
              <a:solidFill>
                <a:srgbClr val="8B6914"/>
              </a:solidFill>
              <a:effectLst/>
            </c:spPr>
          </c:dPt>
          <c:dLbls>
            <c:dLbl>
              <c:idx val="0"/>
              <c:numFmt formatCode="General" sourceLinked="0"/>
              <c:spPr/>
              <c:txPr>
                <a:bodyPr/>
                <a:lstStyle/>
                <a:p>
                  <a:pPr>
                    <a:defRPr sz="900" b="0"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900" b="0" i="0" u="none" strike="noStrike">
                      <a:solidFill>
                        <a:srgbClr val="FFFFFF"/>
                      </a:solidFill>
                      <a:latin typeface="Arial"/>
                    </a:defRPr>
                  </a:pPr>
                </a:p>
              </c:txPr>
              <c:showLegendKey val="0"/>
              <c:showVal val="1"/>
              <c:showCatName val="0"/>
              <c:showSerName val="0"/>
              <c:showPercent val="0"/>
              <c:showBubbleSize val="0"/>
            </c:dLbl>
            <c:dLbl>
              <c:idx val="2"/>
              <c:numFmt formatCode="General" sourceLinked="0"/>
              <c:spPr/>
              <c:txPr>
                <a:bodyPr/>
                <a:lstStyle/>
                <a:p>
                  <a:pPr>
                    <a:defRPr sz="900" b="0"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Custo direto (−19%)</c:v>
                </c:pt>
                <c:pt idx="1">
                  <c:v>Área útil recuperada</c:v>
                </c:pt>
                <c:pt idx="2">
                  <c:v>Entulho/Logística</c:v>
                </c:pt>
              </c:strCache>
            </c:strRef>
          </c:cat>
          <c:val>
            <c:numRef>
              <c:f>Sheet1!$B$2:$B$4</c:f>
              <c:numCache>
                <c:ptCount val="3"/>
                <c:pt idx="0">
                  <c:v>10800</c:v>
                </c:pt>
                <c:pt idx="1">
                  <c:v>144000</c:v>
                </c:pt>
                <c:pt idx="2">
                  <c:v>5500</c:v>
                </c:pt>
              </c:numCache>
            </c:numRef>
          </c:val>
        </c:ser>
        <c:firstSliceAng val="0"/>
        <c:holeSize val="50"/>
      </c:doughnutChart>
      <c:spPr>
        <a:noFill/>
        <a:ln>
          <a:noFill/>
        </a:ln>
        <a:effectLst/>
      </c:spPr>
    </c:plotArea>
    <c:legend>
      <c:legendPos val="b"/>
      <c:overlay val="0"/>
      <c:txPr>
        <a:bodyPr/>
        <a:lstStyle/>
        <a:p>
          <a:pPr>
            <a:defRPr sz="900">      </a:defRPr>
          </a:pPr>
          <a:endParaRPr lang="en-US"/>
        </a:p>
      </c:txPr>
    </c:legend>
    <c:plotVisOnly val="1"/>
    <c:dispBlanksAs val="span"/>
  </c:chart>
  <c:spPr>
    <a:solidFill>
      <a:srgbClr val="F7F6F3"/>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jp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8A84B"/>
          </a:solidFill>
          <a:ln w="12700">
            <a:solidFill>
              <a:srgbClr val="C8A84B"/>
            </a:solidFill>
            <a:prstDash val="solid"/>
          </a:ln>
        </p:spPr>
      </p:sp>
      <p:pic>
        <p:nvPicPr>
          <p:cNvPr id="3" name="Image 0" descr="/mnt/user-data/uploads/1000172040.jpg">    </p:cNvPr>
          <p:cNvPicPr>
            <a:picLocks noChangeAspect="1"/>
          </p:cNvPicPr>
          <p:nvPr/>
        </p:nvPicPr>
        <p:blipFill>
          <a:blip r:embed="rId1"/>
          <a:stretch>
            <a:fillRect/>
          </a:stretch>
        </p:blipFill>
        <p:spPr>
          <a:xfrm>
            <a:off x="2057400" y="201168"/>
            <a:ext cx="5029200" cy="1074992"/>
          </a:xfrm>
          <a:prstGeom prst="rect">
            <a:avLst/>
          </a:prstGeom>
        </p:spPr>
      </p:pic>
      <p:sp>
        <p:nvSpPr>
          <p:cNvPr id="4" name="Shape 1"/>
          <p:cNvSpPr/>
          <p:nvPr/>
        </p:nvSpPr>
        <p:spPr>
          <a:xfrm>
            <a:off x="1371600" y="1316736"/>
            <a:ext cx="6400800" cy="0"/>
          </a:xfrm>
          <a:prstGeom prst="line">
            <a:avLst/>
          </a:prstGeom>
          <a:noFill/>
          <a:ln w="12700">
            <a:solidFill>
              <a:srgbClr val="A07830"/>
            </a:solidFill>
            <a:prstDash val="solid"/>
          </a:ln>
        </p:spPr>
      </p:sp>
      <p:sp>
        <p:nvSpPr>
          <p:cNvPr id="5" name="Text 2"/>
          <p:cNvSpPr/>
          <p:nvPr/>
        </p:nvSpPr>
        <p:spPr>
          <a:xfrm>
            <a:off x="457200" y="1417320"/>
            <a:ext cx="8229600" cy="594360"/>
          </a:xfrm>
          <a:prstGeom prst="rect">
            <a:avLst/>
          </a:prstGeom>
          <a:noFill/>
          <a:ln/>
        </p:spPr>
        <p:txBody>
          <a:bodyPr wrap="square" lIns="0" tIns="0" rIns="0" bIns="0" rtlCol="0" anchor="ctr"/>
          <a:lstStyle/>
          <a:p>
            <a:pPr algn="ctr" indent="0" marL="0">
              <a:buNone/>
            </a:pPr>
            <a:r>
              <a:rPr lang="en-US" sz="2600" b="1" spc="300" kern="0" dirty="0">
                <a:solidFill>
                  <a:srgbClr val="C8A84B"/>
                </a:solidFill>
                <a:latin typeface="Cambria" pitchFamily="34" charset="0"/>
                <a:ea typeface="Cambria" pitchFamily="34" charset="-122"/>
                <a:cs typeface="Cambria" pitchFamily="34" charset="-120"/>
              </a:rPr>
              <a:t>ESTUDO TÉCNICO DE VIABILIDADE</a:t>
            </a:r>
            <a:endParaRPr lang="en-US" sz="2600" dirty="0"/>
          </a:p>
        </p:txBody>
      </p:sp>
      <p:sp>
        <p:nvSpPr>
          <p:cNvPr id="6" name="Text 3"/>
          <p:cNvSpPr/>
          <p:nvPr/>
        </p:nvSpPr>
        <p:spPr>
          <a:xfrm>
            <a:off x="731520" y="2011680"/>
            <a:ext cx="7680960" cy="822960"/>
          </a:xfrm>
          <a:prstGeom prst="rect">
            <a:avLst/>
          </a:prstGeom>
          <a:noFill/>
          <a:ln/>
        </p:spPr>
        <p:txBody>
          <a:bodyPr wrap="square" lIns="0" tIns="0" rIns="0" bIns="0" rtlCol="0" anchor="ctr"/>
          <a:lstStyle/>
          <a:p>
            <a:pPr algn="ctr" indent="0" marL="0">
              <a:buNone/>
            </a:pPr>
            <a:r>
              <a:rPr lang="en-US" sz="1400" dirty="0">
                <a:solidFill>
                  <a:srgbClr val="F0EFEC"/>
                </a:solidFill>
                <a:latin typeface="Calibri" pitchFamily="34" charset="0"/>
                <a:ea typeface="Calibri" pitchFamily="34" charset="-122"/>
                <a:cs typeface="Calibri" pitchFamily="34" charset="-120"/>
              </a:rPr>
              <a:t>Substituição de Paredes de Alvenaria por Sistemas Drywall</a:t>
            </a:r>
            <a:endParaRPr lang="en-US" sz="1400" dirty="0"/>
          </a:p>
          <a:p>
            <a:pPr algn="ctr" indent="0" marL="0">
              <a:buNone/>
            </a:pPr>
            <a:r>
              <a:rPr lang="en-US" sz="1400" dirty="0">
                <a:solidFill>
                  <a:srgbClr val="F0EFEC"/>
                </a:solidFill>
                <a:latin typeface="Calibri" pitchFamily="34" charset="0"/>
                <a:ea typeface="Calibri" pitchFamily="34" charset="-122"/>
                <a:cs typeface="Calibri" pitchFamily="34" charset="-120"/>
              </a:rPr>
              <a:t>em Empreendimentos Residenciais</a:t>
            </a:r>
            <a:endParaRPr lang="en-US" sz="1400" dirty="0"/>
          </a:p>
        </p:txBody>
      </p:sp>
      <p:sp>
        <p:nvSpPr>
          <p:cNvPr id="7" name="Text 4"/>
          <p:cNvSpPr/>
          <p:nvPr/>
        </p:nvSpPr>
        <p:spPr>
          <a:xfrm>
            <a:off x="914400" y="2834640"/>
            <a:ext cx="7315200" cy="320040"/>
          </a:xfrm>
          <a:prstGeom prst="rect">
            <a:avLst/>
          </a:prstGeom>
          <a:noFill/>
          <a:ln/>
        </p:spPr>
        <p:txBody>
          <a:bodyPr wrap="square" lIns="0" tIns="0" rIns="0" bIns="0" rtlCol="0" anchor="ctr"/>
          <a:lstStyle/>
          <a:p>
            <a:pPr algn="ctr" indent="0" marL="0">
              <a:buNone/>
            </a:pPr>
            <a:r>
              <a:rPr lang="en-US" sz="1100" i="1" dirty="0">
                <a:solidFill>
                  <a:srgbClr val="BBBBBB"/>
                </a:solidFill>
                <a:latin typeface="Calibri" pitchFamily="34" charset="0"/>
                <a:ea typeface="Calibri" pitchFamily="34" charset="-122"/>
                <a:cs typeface="Calibri" pitchFamily="34" charset="-120"/>
              </a:rPr>
              <a:t>Comparativo técnico, acústico, econômico e executivo para tomada de decisão</a:t>
            </a:r>
            <a:endParaRPr lang="en-US" sz="1100" dirty="0"/>
          </a:p>
        </p:txBody>
      </p:sp>
      <p:sp>
        <p:nvSpPr>
          <p:cNvPr id="8" name="Shape 5"/>
          <p:cNvSpPr/>
          <p:nvPr/>
        </p:nvSpPr>
        <p:spPr>
          <a:xfrm>
            <a:off x="1371600" y="3218688"/>
            <a:ext cx="6400800" cy="0"/>
          </a:xfrm>
          <a:prstGeom prst="line">
            <a:avLst/>
          </a:prstGeom>
          <a:noFill/>
          <a:ln w="6350">
            <a:solidFill>
              <a:srgbClr val="A07830"/>
            </a:solidFill>
            <a:prstDash val="solid"/>
          </a:ln>
        </p:spPr>
      </p:sp>
      <p:sp>
        <p:nvSpPr>
          <p:cNvPr id="9" name="Text 6"/>
          <p:cNvSpPr/>
          <p:nvPr/>
        </p:nvSpPr>
        <p:spPr>
          <a:xfrm>
            <a:off x="457200" y="3337560"/>
            <a:ext cx="2011680" cy="201168"/>
          </a:xfrm>
          <a:prstGeom prst="rect">
            <a:avLst/>
          </a:prstGeom>
          <a:noFill/>
          <a:ln/>
        </p:spPr>
        <p:txBody>
          <a:bodyPr wrap="square" lIns="0" tIns="0" rIns="0" bIns="0" rtlCol="0" anchor="ctr"/>
          <a:lstStyle/>
          <a:p>
            <a:pPr algn="ctr" indent="0" marL="0">
              <a:buNone/>
            </a:pPr>
            <a:r>
              <a:rPr lang="en-US" sz="750" b="1" spc="100" kern="0" dirty="0">
                <a:solidFill>
                  <a:srgbClr val="A07830"/>
                </a:solidFill>
                <a:latin typeface="Calibri" pitchFamily="34" charset="0"/>
                <a:ea typeface="Calibri" pitchFamily="34" charset="-122"/>
                <a:cs typeface="Calibri" pitchFamily="34" charset="-120"/>
              </a:rPr>
              <a:t>DOCUMENTO</a:t>
            </a:r>
            <a:endParaRPr lang="en-US" sz="750" dirty="0"/>
          </a:p>
        </p:txBody>
      </p:sp>
      <p:sp>
        <p:nvSpPr>
          <p:cNvPr id="10" name="Text 7"/>
          <p:cNvSpPr/>
          <p:nvPr/>
        </p:nvSpPr>
        <p:spPr>
          <a:xfrm>
            <a:off x="457200" y="3538728"/>
            <a:ext cx="2011680" cy="21945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EST-DRY-002/2026</a:t>
            </a:r>
            <a:endParaRPr lang="en-US" sz="950" dirty="0"/>
          </a:p>
        </p:txBody>
      </p:sp>
      <p:sp>
        <p:nvSpPr>
          <p:cNvPr id="11" name="Text 8"/>
          <p:cNvSpPr/>
          <p:nvPr/>
        </p:nvSpPr>
        <p:spPr>
          <a:xfrm>
            <a:off x="2542032" y="3337560"/>
            <a:ext cx="2011680" cy="201168"/>
          </a:xfrm>
          <a:prstGeom prst="rect">
            <a:avLst/>
          </a:prstGeom>
          <a:noFill/>
          <a:ln/>
        </p:spPr>
        <p:txBody>
          <a:bodyPr wrap="square" lIns="0" tIns="0" rIns="0" bIns="0" rtlCol="0" anchor="ctr"/>
          <a:lstStyle/>
          <a:p>
            <a:pPr algn="ctr" indent="0" marL="0">
              <a:buNone/>
            </a:pPr>
            <a:r>
              <a:rPr lang="en-US" sz="750" b="1" spc="100" kern="0" dirty="0">
                <a:solidFill>
                  <a:srgbClr val="A07830"/>
                </a:solidFill>
                <a:latin typeface="Calibri" pitchFamily="34" charset="0"/>
                <a:ea typeface="Calibri" pitchFamily="34" charset="-122"/>
                <a:cs typeface="Calibri" pitchFamily="34" charset="-120"/>
              </a:rPr>
              <a:t>REVISÃO</a:t>
            </a:r>
            <a:endParaRPr lang="en-US" sz="750" dirty="0"/>
          </a:p>
        </p:txBody>
      </p:sp>
      <p:sp>
        <p:nvSpPr>
          <p:cNvPr id="12" name="Text 9"/>
          <p:cNvSpPr/>
          <p:nvPr/>
        </p:nvSpPr>
        <p:spPr>
          <a:xfrm>
            <a:off x="2542032" y="3538728"/>
            <a:ext cx="2011680" cy="21945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2.1 — Junho 2026</a:t>
            </a:r>
            <a:endParaRPr lang="en-US" sz="950" dirty="0"/>
          </a:p>
        </p:txBody>
      </p:sp>
      <p:sp>
        <p:nvSpPr>
          <p:cNvPr id="13" name="Text 10"/>
          <p:cNvSpPr/>
          <p:nvPr/>
        </p:nvSpPr>
        <p:spPr>
          <a:xfrm>
            <a:off x="4626864" y="3337560"/>
            <a:ext cx="2011680" cy="201168"/>
          </a:xfrm>
          <a:prstGeom prst="rect">
            <a:avLst/>
          </a:prstGeom>
          <a:noFill/>
          <a:ln/>
        </p:spPr>
        <p:txBody>
          <a:bodyPr wrap="square" lIns="0" tIns="0" rIns="0" bIns="0" rtlCol="0" anchor="ctr"/>
          <a:lstStyle/>
          <a:p>
            <a:pPr algn="ctr" indent="0" marL="0">
              <a:buNone/>
            </a:pPr>
            <a:r>
              <a:rPr lang="en-US" sz="750" b="1" spc="100" kern="0" dirty="0">
                <a:solidFill>
                  <a:srgbClr val="A07830"/>
                </a:solidFill>
                <a:latin typeface="Calibri" pitchFamily="34" charset="0"/>
                <a:ea typeface="Calibri" pitchFamily="34" charset="-122"/>
                <a:cs typeface="Calibri" pitchFamily="34" charset="-120"/>
              </a:rPr>
              <a:t>MODELO BASE</a:t>
            </a:r>
            <a:endParaRPr lang="en-US" sz="750" dirty="0"/>
          </a:p>
        </p:txBody>
      </p:sp>
      <p:sp>
        <p:nvSpPr>
          <p:cNvPr id="14" name="Text 11"/>
          <p:cNvSpPr/>
          <p:nvPr/>
        </p:nvSpPr>
        <p:spPr>
          <a:xfrm>
            <a:off x="4626864" y="3538728"/>
            <a:ext cx="2011680" cy="21945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6 apt · 80 m²</a:t>
            </a:r>
            <a:endParaRPr lang="en-US" sz="950" dirty="0"/>
          </a:p>
        </p:txBody>
      </p:sp>
      <p:sp>
        <p:nvSpPr>
          <p:cNvPr id="15" name="Text 12"/>
          <p:cNvSpPr/>
          <p:nvPr/>
        </p:nvSpPr>
        <p:spPr>
          <a:xfrm>
            <a:off x="6711696" y="3337560"/>
            <a:ext cx="2011680" cy="201168"/>
          </a:xfrm>
          <a:prstGeom prst="rect">
            <a:avLst/>
          </a:prstGeom>
          <a:noFill/>
          <a:ln/>
        </p:spPr>
        <p:txBody>
          <a:bodyPr wrap="square" lIns="0" tIns="0" rIns="0" bIns="0" rtlCol="0" anchor="ctr"/>
          <a:lstStyle/>
          <a:p>
            <a:pPr algn="ctr" indent="0" marL="0">
              <a:buNone/>
            </a:pPr>
            <a:r>
              <a:rPr lang="en-US" sz="750" b="1" spc="100" kern="0" dirty="0">
                <a:solidFill>
                  <a:srgbClr val="A07830"/>
                </a:solidFill>
                <a:latin typeface="Calibri" pitchFamily="34" charset="0"/>
                <a:ea typeface="Calibri" pitchFamily="34" charset="-122"/>
                <a:cs typeface="Calibri" pitchFamily="34" charset="-120"/>
              </a:rPr>
              <a:t>ELABORADO POR</a:t>
            </a:r>
            <a:endParaRPr lang="en-US" sz="750" dirty="0"/>
          </a:p>
        </p:txBody>
      </p:sp>
      <p:sp>
        <p:nvSpPr>
          <p:cNvPr id="16" name="Text 13"/>
          <p:cNvSpPr/>
          <p:nvPr/>
        </p:nvSpPr>
        <p:spPr>
          <a:xfrm>
            <a:off x="6711696" y="3538728"/>
            <a:ext cx="2011680" cy="21945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Oppermann Constr. a Seco</a:t>
            </a:r>
            <a:endParaRPr lang="en-US" sz="950" dirty="0"/>
          </a:p>
        </p:txBody>
      </p:sp>
      <p:sp>
        <p:nvSpPr>
          <p:cNvPr id="17" name="Text 14"/>
          <p:cNvSpPr/>
          <p:nvPr/>
        </p:nvSpPr>
        <p:spPr>
          <a:xfrm>
            <a:off x="457200" y="4160520"/>
            <a:ext cx="8229600" cy="274320"/>
          </a:xfrm>
          <a:prstGeom prst="rect">
            <a:avLst/>
          </a:prstGeom>
          <a:noFill/>
          <a:ln/>
        </p:spPr>
        <p:txBody>
          <a:bodyPr wrap="square" lIns="0" tIns="0" rIns="0" bIns="0" rtlCol="0" anchor="ctr"/>
          <a:lstStyle/>
          <a:p>
            <a:pPr algn="ctr" indent="0" marL="0">
              <a:buNone/>
            </a:pPr>
            <a:r>
              <a:rPr lang="en-US" sz="1000" i="1" dirty="0">
                <a:solidFill>
                  <a:srgbClr val="C8A84B"/>
                </a:solidFill>
                <a:latin typeface="Calibri" pitchFamily="34" charset="0"/>
                <a:ea typeface="Calibri" pitchFamily="34" charset="-122"/>
                <a:cs typeface="Calibri" pitchFamily="34" charset="-120"/>
              </a:rPr>
              <a:t>Construção a seco com precisão, desempenho e alto padrão.</a:t>
            </a:r>
            <a:endParaRPr lang="en-US" sz="1000" dirty="0"/>
          </a:p>
        </p:txBody>
      </p:sp>
      <p:sp>
        <p:nvSpPr>
          <p:cNvPr id="18" name="Shape 15"/>
          <p:cNvSpPr/>
          <p:nvPr/>
        </p:nvSpPr>
        <p:spPr>
          <a:xfrm>
            <a:off x="0" y="5084064"/>
            <a:ext cx="9144000" cy="59436"/>
          </a:xfrm>
          <a:prstGeom prst="rect">
            <a:avLst/>
          </a:prstGeom>
          <a:solidFill>
            <a:srgbClr val="C8A84B"/>
          </a:solidFill>
          <a:ln w="12700">
            <a:solidFill>
              <a:srgbClr val="C8A84B"/>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3"/>
        </a:solidFill>
      </p:bgPr>
    </p:bg>
    <p:spTree>
      <p:nvGrpSpPr>
        <p:cNvPr id="1" name=""/>
        <p:cNvGrpSpPr/>
        <p:nvPr/>
      </p:nvGrpSpPr>
      <p:grpSpPr>
        <a:xfrm>
          <a:off x="0" y="0"/>
          <a:ext cx="0" cy="0"/>
          <a:chOff x="0" y="0"/>
          <a:chExt cx="0" cy="0"/>
        </a:xfrm>
      </p:grpSpPr>
      <p:sp>
        <p:nvSpPr>
          <p:cNvPr id="2" name="Text 0"/>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666666"/>
                </a:solidFill>
              </a:rPr>
              <a:t>2 / 12</a:t>
            </a:r>
            <a:endParaRPr lang="en-US" sz="900" dirty="0"/>
          </a:p>
        </p:txBody>
      </p:sp>
      <p:sp>
        <p:nvSpPr>
          <p:cNvPr id="3" name="Text 1"/>
          <p:cNvSpPr/>
          <p:nvPr/>
        </p:nvSpPr>
        <p:spPr>
          <a:xfrm>
            <a:off x="457200" y="201168"/>
            <a:ext cx="8229600" cy="457200"/>
          </a:xfrm>
          <a:prstGeom prst="rect">
            <a:avLst/>
          </a:prstGeom>
          <a:noFill/>
          <a:ln/>
        </p:spPr>
        <p:txBody>
          <a:bodyPr wrap="square" lIns="0" tIns="0" rIns="0" bIns="0" rtlCol="0" anchor="ctr"/>
          <a:lstStyle/>
          <a:p>
            <a:pPr indent="0" marL="0">
              <a:buNone/>
            </a:pPr>
            <a:r>
              <a:rPr lang="en-US" sz="2200" b="1" dirty="0">
                <a:solidFill>
                  <a:srgbClr val="1E1E1E"/>
                </a:solidFill>
                <a:latin typeface="Cambria" pitchFamily="34" charset="0"/>
                <a:ea typeface="Cambria" pitchFamily="34" charset="-122"/>
                <a:cs typeface="Cambria" pitchFamily="34" charset="-120"/>
              </a:rPr>
              <a:t>O PROBLEMA E A OPORTUNIDADE</a:t>
            </a:r>
            <a:endParaRPr lang="en-US" sz="2200" dirty="0"/>
          </a:p>
        </p:txBody>
      </p:sp>
      <p:sp>
        <p:nvSpPr>
          <p:cNvPr id="4" name="Shape 2"/>
          <p:cNvSpPr/>
          <p:nvPr/>
        </p:nvSpPr>
        <p:spPr>
          <a:xfrm>
            <a:off x="457200" y="731520"/>
            <a:ext cx="1115568" cy="256032"/>
          </a:xfrm>
          <a:prstGeom prst="roundRect">
            <a:avLst>
              <a:gd name="adj" fmla="val 14286"/>
            </a:avLst>
          </a:prstGeom>
          <a:solidFill>
            <a:srgbClr val="C8A84B"/>
          </a:solidFill>
          <a:ln/>
        </p:spPr>
      </p:sp>
      <p:sp>
        <p:nvSpPr>
          <p:cNvPr id="5" name="Text 3"/>
          <p:cNvSpPr/>
          <p:nvPr/>
        </p:nvSpPr>
        <p:spPr>
          <a:xfrm>
            <a:off x="457200" y="740664"/>
            <a:ext cx="1115568" cy="246888"/>
          </a:xfrm>
          <a:prstGeom prst="rect">
            <a:avLst/>
          </a:prstGeom>
          <a:noFill/>
          <a:ln/>
        </p:spPr>
        <p:txBody>
          <a:bodyPr wrap="square" lIns="0" tIns="0" rIns="0" bIns="0" rtlCol="0" anchor="ctr"/>
          <a:lstStyle/>
          <a:p>
            <a:pPr algn="ctr" indent="0" marL="0">
              <a:buNone/>
            </a:pPr>
            <a:r>
              <a:rPr lang="en-US" sz="900" b="1" dirty="0">
                <a:solidFill>
                  <a:srgbClr val="1E1E1E"/>
                </a:solidFill>
              </a:rPr>
              <a:t>CONTEXTO</a:t>
            </a:r>
            <a:endParaRPr lang="en-US" sz="900" dirty="0"/>
          </a:p>
        </p:txBody>
      </p:sp>
      <p:sp>
        <p:nvSpPr>
          <p:cNvPr id="6" name="Shape 4"/>
          <p:cNvSpPr/>
          <p:nvPr/>
        </p:nvSpPr>
        <p:spPr>
          <a:xfrm>
            <a:off x="365760" y="1078992"/>
            <a:ext cx="3840480" cy="3474720"/>
          </a:xfrm>
          <a:prstGeom prst="roundRect">
            <a:avLst>
              <a:gd name="adj" fmla="val 2105"/>
            </a:avLst>
          </a:prstGeom>
          <a:solidFill>
            <a:srgbClr val="1E1E1E"/>
          </a:solidFill>
          <a:ln/>
          <a:effectLst>
            <a:outerShdw sx="100000" sy="100000" kx="0" ky="0" algn="bl" rotWithShape="0" blurRad="101600" dist="38100" dir="2700000">
              <a:srgbClr val="000000">
                <a:alpha val="18000"/>
              </a:srgbClr>
            </a:outerShdw>
          </a:effectLst>
        </p:spPr>
      </p:sp>
      <p:sp>
        <p:nvSpPr>
          <p:cNvPr id="7" name="Text 5"/>
          <p:cNvSpPr/>
          <p:nvPr/>
        </p:nvSpPr>
        <p:spPr>
          <a:xfrm>
            <a:off x="502920" y="1207008"/>
            <a:ext cx="3566160" cy="347472"/>
          </a:xfrm>
          <a:prstGeom prst="rect">
            <a:avLst/>
          </a:prstGeom>
          <a:noFill/>
          <a:ln/>
        </p:spPr>
        <p:txBody>
          <a:bodyPr wrap="square" lIns="0" tIns="0" rIns="0" bIns="0" rtlCol="0" anchor="ctr"/>
          <a:lstStyle/>
          <a:p>
            <a:pPr algn="ctr" indent="0" marL="0">
              <a:buNone/>
            </a:pPr>
            <a:r>
              <a:rPr lang="en-US" sz="1200" b="1" dirty="0">
                <a:solidFill>
                  <a:srgbClr val="C8A84B"/>
                </a:solidFill>
                <a:latin typeface="Cambria" pitchFamily="34" charset="0"/>
                <a:ea typeface="Cambria" pitchFamily="34" charset="-122"/>
                <a:cs typeface="Cambria" pitchFamily="34" charset="-120"/>
              </a:rPr>
              <a:t>ALVENARIA CONVENCIONAL</a:t>
            </a:r>
            <a:endParaRPr lang="en-US" sz="1200" dirty="0"/>
          </a:p>
        </p:txBody>
      </p:sp>
      <p:sp>
        <p:nvSpPr>
          <p:cNvPr id="8" name="Text 6"/>
          <p:cNvSpPr/>
          <p:nvPr/>
        </p:nvSpPr>
        <p:spPr>
          <a:xfrm>
            <a:off x="502920" y="1627632"/>
            <a:ext cx="3566160" cy="2834640"/>
          </a:xfrm>
          <a:prstGeom prst="rect">
            <a:avLst/>
          </a:prstGeom>
          <a:noFill/>
          <a:ln/>
        </p:spPr>
        <p:txBody>
          <a:bodyPr wrap="square" lIns="0" tIns="0" rIns="0" bIns="0" rtlCol="0" anchor="ctr"/>
          <a:lstStyle/>
          <a:p>
            <a:pPr marL="342900" indent="-342900">
              <a:buSzPct val="100000"/>
              <a:buChar char="•"/>
            </a:pPr>
            <a:r>
              <a:rPr lang="en-US" sz="1000" dirty="0">
                <a:solidFill>
                  <a:srgbClr val="F0EFEC"/>
                </a:solidFill>
                <a:latin typeface="Calibri" pitchFamily="34" charset="0"/>
                <a:ea typeface="Calibri" pitchFamily="34" charset="-122"/>
                <a:cs typeface="Calibri" pitchFamily="34" charset="-120"/>
              </a:rPr>
              <a:t>  194 a 275 kg/m² — carga elevada na estrutura</a:t>
            </a:r>
            <a:endParaRPr lang="en-US" sz="1000" dirty="0"/>
          </a:p>
          <a:p>
            <a:pPr marL="342900" indent="-342900">
              <a:buSzPct val="100000"/>
              <a:buChar char="•"/>
            </a:pPr>
            <a:r>
              <a:rPr lang="en-US" sz="1000" dirty="0">
                <a:solidFill>
                  <a:srgbClr val="F0EFEC"/>
                </a:solidFill>
                <a:latin typeface="Calibri" pitchFamily="34" charset="0"/>
                <a:ea typeface="Calibri" pitchFamily="34" charset="-122"/>
                <a:cs typeface="Calibri" pitchFamily="34" charset="-120"/>
              </a:rPr>
              <a:t>  Prazo maior: 15–20 m²/dia por operário</a:t>
            </a:r>
            <a:endParaRPr lang="en-US" sz="1000" dirty="0"/>
          </a:p>
          <a:p>
            <a:pPr marL="342900" indent="-342900">
              <a:buSzPct val="100000"/>
              <a:buChar char="•"/>
            </a:pPr>
            <a:r>
              <a:rPr lang="en-US" sz="1000" dirty="0">
                <a:solidFill>
                  <a:srgbClr val="F0EFEC"/>
                </a:solidFill>
                <a:latin typeface="Calibri" pitchFamily="34" charset="0"/>
                <a:ea typeface="Calibri" pitchFamily="34" charset="-122"/>
                <a:cs typeface="Calibri" pitchFamily="34" charset="-120"/>
              </a:rPr>
              <a:t>  Até 25% de desperdício e entulho</a:t>
            </a:r>
            <a:endParaRPr lang="en-US" sz="1000" dirty="0"/>
          </a:p>
          <a:p>
            <a:pPr marL="342900" indent="-342900">
              <a:buSzPct val="100000"/>
              <a:buChar char="•"/>
            </a:pPr>
            <a:r>
              <a:rPr lang="en-US" sz="1000" dirty="0">
                <a:solidFill>
                  <a:srgbClr val="F0EFEC"/>
                </a:solidFill>
                <a:latin typeface="Calibri" pitchFamily="34" charset="0"/>
                <a:ea typeface="Calibri" pitchFamily="34" charset="-122"/>
                <a:cs typeface="Calibri" pitchFamily="34" charset="-120"/>
              </a:rPr>
              <a:t>  Rasgos para instalações: retrabalho e custo</a:t>
            </a:r>
            <a:endParaRPr lang="en-US" sz="1000" dirty="0"/>
          </a:p>
          <a:p>
            <a:pPr marL="342900" indent="-342900">
              <a:buSzPct val="100000"/>
              <a:buChar char="•"/>
            </a:pPr>
            <a:r>
              <a:rPr lang="en-US" sz="1000" dirty="0">
                <a:solidFill>
                  <a:srgbClr val="F0EFEC"/>
                </a:solidFill>
                <a:latin typeface="Calibri" pitchFamily="34" charset="0"/>
                <a:ea typeface="Calibri" pitchFamily="34" charset="-122"/>
                <a:cs typeface="Calibri" pitchFamily="34" charset="-120"/>
              </a:rPr>
              <a:t>  Rigidez de layout — reformas custosas</a:t>
            </a:r>
            <a:endParaRPr lang="en-US" sz="1000" dirty="0"/>
          </a:p>
          <a:p>
            <a:pPr marL="342900" indent="-342900">
              <a:buSzPct val="100000"/>
              <a:buChar char="•"/>
            </a:pPr>
            <a:r>
              <a:rPr lang="en-US" sz="1000" dirty="0">
                <a:solidFill>
                  <a:srgbClr val="F0EFEC"/>
                </a:solidFill>
                <a:latin typeface="Calibri" pitchFamily="34" charset="0"/>
                <a:ea typeface="Calibri" pitchFamily="34" charset="-122"/>
                <a:cs typeface="Calibri" pitchFamily="34" charset="-120"/>
              </a:rPr>
              <a:t>  Consumo de água e cura/secagem</a:t>
            </a:r>
            <a:endParaRPr lang="en-US" sz="1000" dirty="0"/>
          </a:p>
          <a:p>
            <a:pPr marL="342900" indent="-342900">
              <a:buSzPct val="100000"/>
              <a:buChar char="•"/>
            </a:pPr>
            <a:r>
              <a:rPr lang="en-US" sz="1000" dirty="0">
                <a:solidFill>
                  <a:srgbClr val="F0EFEC"/>
                </a:solidFill>
                <a:latin typeface="Calibri" pitchFamily="34" charset="0"/>
                <a:ea typeface="Calibri" pitchFamily="34" charset="-122"/>
                <a:cs typeface="Calibri" pitchFamily="34" charset="-120"/>
              </a:rPr>
              <a:t>  Custo de R$ 150–170/m² (mat. + MO)</a:t>
            </a:r>
            <a:endParaRPr lang="en-US" sz="1000" dirty="0"/>
          </a:p>
        </p:txBody>
      </p:sp>
      <p:sp>
        <p:nvSpPr>
          <p:cNvPr id="9" name="Shape 7"/>
          <p:cNvSpPr/>
          <p:nvPr/>
        </p:nvSpPr>
        <p:spPr>
          <a:xfrm>
            <a:off x="4937760" y="1078992"/>
            <a:ext cx="3840480" cy="3474720"/>
          </a:xfrm>
          <a:prstGeom prst="roundRect">
            <a:avLst>
              <a:gd name="adj" fmla="val 2105"/>
            </a:avLst>
          </a:prstGeom>
          <a:solidFill>
            <a:srgbClr val="1A3000"/>
          </a:solidFill>
          <a:ln/>
          <a:effectLst>
            <a:outerShdw sx="100000" sy="100000" kx="0" ky="0" algn="bl" rotWithShape="0" blurRad="101600" dist="38100" dir="2700000">
              <a:srgbClr val="000000">
                <a:alpha val="18000"/>
              </a:srgbClr>
            </a:outerShdw>
          </a:effectLst>
        </p:spPr>
      </p:sp>
      <p:sp>
        <p:nvSpPr>
          <p:cNvPr id="10" name="Text 8"/>
          <p:cNvSpPr/>
          <p:nvPr/>
        </p:nvSpPr>
        <p:spPr>
          <a:xfrm>
            <a:off x="5074920" y="1207008"/>
            <a:ext cx="3566160" cy="347472"/>
          </a:xfrm>
          <a:prstGeom prst="rect">
            <a:avLst/>
          </a:prstGeom>
          <a:noFill/>
          <a:ln/>
        </p:spPr>
        <p:txBody>
          <a:bodyPr wrap="square" lIns="0" tIns="0" rIns="0" bIns="0" rtlCol="0" anchor="ctr"/>
          <a:lstStyle/>
          <a:p>
            <a:pPr algn="ctr" indent="0" marL="0">
              <a:buNone/>
            </a:pPr>
            <a:r>
              <a:rPr lang="en-US" sz="1200" b="1" dirty="0">
                <a:solidFill>
                  <a:srgbClr val="C8A84B"/>
                </a:solidFill>
                <a:latin typeface="Cambria" pitchFamily="34" charset="0"/>
                <a:ea typeface="Cambria" pitchFamily="34" charset="-122"/>
                <a:cs typeface="Cambria" pitchFamily="34" charset="-120"/>
              </a:rPr>
              <a:t>SISTEMAS DRYWALL</a:t>
            </a:r>
            <a:endParaRPr lang="en-US" sz="1200" dirty="0"/>
          </a:p>
        </p:txBody>
      </p:sp>
      <p:sp>
        <p:nvSpPr>
          <p:cNvPr id="11" name="Text 9"/>
          <p:cNvSpPr/>
          <p:nvPr/>
        </p:nvSpPr>
        <p:spPr>
          <a:xfrm>
            <a:off x="5074920" y="1627632"/>
            <a:ext cx="3566160" cy="2834640"/>
          </a:xfrm>
          <a:prstGeom prst="rect">
            <a:avLst/>
          </a:prstGeom>
          <a:noFill/>
          <a:ln/>
        </p:spPr>
        <p:txBody>
          <a:bodyPr wrap="square" lIns="0" tIns="0" rIns="0" bIns="0" rtlCol="0" anchor="ctr"/>
          <a:lstStyle/>
          <a:p>
            <a:pPr marL="342900" indent="-342900">
              <a:buSzPct val="100000"/>
              <a:buChar char="•"/>
            </a:pPr>
            <a:r>
              <a:rPr lang="en-US" sz="1000" dirty="0">
                <a:solidFill>
                  <a:srgbClr val="F0EFEC"/>
                </a:solidFill>
                <a:latin typeface="Calibri" pitchFamily="34" charset="0"/>
                <a:ea typeface="Calibri" pitchFamily="34" charset="-122"/>
                <a:cs typeface="Calibri" pitchFamily="34" charset="-120"/>
              </a:rPr>
              <a:t>  22 a 45 kg/m² — redução de até 91% de carga</a:t>
            </a:r>
            <a:endParaRPr lang="en-US" sz="1000" dirty="0"/>
          </a:p>
          <a:p>
            <a:pPr marL="342900" indent="-342900">
              <a:buSzPct val="100000"/>
              <a:buChar char="•"/>
            </a:pPr>
            <a:r>
              <a:rPr lang="en-US" sz="1000" dirty="0">
                <a:solidFill>
                  <a:srgbClr val="F0EFEC"/>
                </a:solidFill>
                <a:latin typeface="Calibri" pitchFamily="34" charset="0"/>
                <a:ea typeface="Calibri" pitchFamily="34" charset="-122"/>
                <a:cs typeface="Calibri" pitchFamily="34" charset="-120"/>
              </a:rPr>
              <a:t>  35–40 m²/dia — 2× mais produtivo</a:t>
            </a:r>
            <a:endParaRPr lang="en-US" sz="1000" dirty="0"/>
          </a:p>
          <a:p>
            <a:pPr marL="342900" indent="-342900">
              <a:buSzPct val="100000"/>
              <a:buChar char="•"/>
            </a:pPr>
            <a:r>
              <a:rPr lang="en-US" sz="1000" dirty="0">
                <a:solidFill>
                  <a:srgbClr val="F0EFEC"/>
                </a:solidFill>
                <a:latin typeface="Calibri" pitchFamily="34" charset="0"/>
                <a:ea typeface="Calibri" pitchFamily="34" charset="-122"/>
                <a:cs typeface="Calibri" pitchFamily="34" charset="-120"/>
              </a:rPr>
              <a:t>  Apenas ~5% de desperdício</a:t>
            </a:r>
            <a:endParaRPr lang="en-US" sz="1000" dirty="0"/>
          </a:p>
          <a:p>
            <a:pPr marL="342900" indent="-342900">
              <a:buSzPct val="100000"/>
              <a:buChar char="•"/>
            </a:pPr>
            <a:r>
              <a:rPr lang="en-US" sz="1000" dirty="0">
                <a:solidFill>
                  <a:srgbClr val="F0EFEC"/>
                </a:solidFill>
                <a:latin typeface="Calibri" pitchFamily="34" charset="0"/>
                <a:ea typeface="Calibri" pitchFamily="34" charset="-122"/>
                <a:cs typeface="Calibri" pitchFamily="34" charset="-120"/>
              </a:rPr>
              <a:t>  Instalações passam pelo interior da parede</a:t>
            </a:r>
            <a:endParaRPr lang="en-US" sz="1000" dirty="0"/>
          </a:p>
          <a:p>
            <a:pPr marL="342900" indent="-342900">
              <a:buSzPct val="100000"/>
              <a:buChar char="•"/>
            </a:pPr>
            <a:r>
              <a:rPr lang="en-US" sz="1000" dirty="0">
                <a:solidFill>
                  <a:srgbClr val="F0EFEC"/>
                </a:solidFill>
                <a:latin typeface="Calibri" pitchFamily="34" charset="0"/>
                <a:ea typeface="Calibri" pitchFamily="34" charset="-122"/>
                <a:cs typeface="Calibri" pitchFamily="34" charset="-120"/>
              </a:rPr>
              <a:t>  Layout flexível — fácil realocação</a:t>
            </a:r>
            <a:endParaRPr lang="en-US" sz="1000" dirty="0"/>
          </a:p>
          <a:p>
            <a:pPr marL="342900" indent="-342900">
              <a:buSzPct val="100000"/>
              <a:buChar char="•"/>
            </a:pPr>
            <a:r>
              <a:rPr lang="en-US" sz="1000" dirty="0">
                <a:solidFill>
                  <a:srgbClr val="F0EFEC"/>
                </a:solidFill>
                <a:latin typeface="Calibri" pitchFamily="34" charset="0"/>
                <a:ea typeface="Calibri" pitchFamily="34" charset="-122"/>
                <a:cs typeface="Calibri" pitchFamily="34" charset="-120"/>
              </a:rPr>
              <a:t>  Obra a seco — sem espera de cura</a:t>
            </a:r>
            <a:endParaRPr lang="en-US" sz="1000" dirty="0"/>
          </a:p>
          <a:p>
            <a:pPr marL="342900" indent="-342900">
              <a:buSzPct val="100000"/>
              <a:buChar char="•"/>
            </a:pPr>
            <a:r>
              <a:rPr lang="en-US" sz="1000" dirty="0">
                <a:solidFill>
                  <a:srgbClr val="F0EFEC"/>
                </a:solidFill>
                <a:latin typeface="Calibri" pitchFamily="34" charset="0"/>
                <a:ea typeface="Calibri" pitchFamily="34" charset="-122"/>
                <a:cs typeface="Calibri" pitchFamily="34" charset="-120"/>
              </a:rPr>
              <a:t>  Custo de R$ 132–150/m² (mat. + MO)</a:t>
            </a:r>
            <a:endParaRPr lang="en-US" sz="1000" dirty="0"/>
          </a:p>
        </p:txBody>
      </p:sp>
      <p:sp>
        <p:nvSpPr>
          <p:cNvPr id="12" name="Shape 10"/>
          <p:cNvSpPr/>
          <p:nvPr/>
        </p:nvSpPr>
        <p:spPr>
          <a:xfrm>
            <a:off x="4169664" y="2377440"/>
            <a:ext cx="804672" cy="804672"/>
          </a:xfrm>
          <a:prstGeom prst="ellipse">
            <a:avLst/>
          </a:prstGeom>
          <a:solidFill>
            <a:srgbClr val="C8A84B"/>
          </a:solidFill>
          <a:ln/>
        </p:spPr>
      </p:sp>
      <p:sp>
        <p:nvSpPr>
          <p:cNvPr id="13" name="Text 11"/>
          <p:cNvSpPr/>
          <p:nvPr/>
        </p:nvSpPr>
        <p:spPr>
          <a:xfrm>
            <a:off x="4169664" y="2377440"/>
            <a:ext cx="804672" cy="804672"/>
          </a:xfrm>
          <a:prstGeom prst="rect">
            <a:avLst/>
          </a:prstGeom>
          <a:noFill/>
          <a:ln/>
        </p:spPr>
        <p:txBody>
          <a:bodyPr wrap="square" lIns="0" tIns="0" rIns="0" bIns="0" rtlCol="0" anchor="ctr"/>
          <a:lstStyle/>
          <a:p>
            <a:pPr algn="ctr" indent="0" marL="0">
              <a:buNone/>
            </a:pPr>
            <a:r>
              <a:rPr lang="en-US" sz="1400" b="1" dirty="0">
                <a:solidFill>
                  <a:srgbClr val="1E1E1E"/>
                </a:solidFill>
                <a:latin typeface="Cambria" pitchFamily="34" charset="0"/>
                <a:ea typeface="Cambria" pitchFamily="34" charset="-122"/>
                <a:cs typeface="Cambria" pitchFamily="34" charset="-120"/>
              </a:rPr>
              <a:t>VS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1E1E"/>
        </a:solidFill>
      </p:bgPr>
    </p:bg>
    <p:spTree>
      <p:nvGrpSpPr>
        <p:cNvPr id="1" name=""/>
        <p:cNvGrpSpPr/>
        <p:nvPr/>
      </p:nvGrpSpPr>
      <p:grpSpPr>
        <a:xfrm>
          <a:off x="0" y="0"/>
          <a:ext cx="0" cy="0"/>
          <a:chOff x="0" y="0"/>
          <a:chExt cx="0" cy="0"/>
        </a:xfrm>
      </p:grpSpPr>
      <p:sp>
        <p:nvSpPr>
          <p:cNvPr id="2" name="Text 0"/>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666666"/>
                </a:solidFill>
              </a:rPr>
              <a:t>3 / 12</a:t>
            </a:r>
            <a:endParaRPr lang="en-US" sz="900" dirty="0"/>
          </a:p>
        </p:txBody>
      </p:sp>
      <p:sp>
        <p:nvSpPr>
          <p:cNvPr id="3" name="Text 1"/>
          <p:cNvSpPr/>
          <p:nvPr/>
        </p:nvSpPr>
        <p:spPr>
          <a:xfrm>
            <a:off x="457200" y="201168"/>
            <a:ext cx="8229600" cy="438912"/>
          </a:xfrm>
          <a:prstGeom prst="rect">
            <a:avLst/>
          </a:prstGeom>
          <a:noFill/>
          <a:ln/>
        </p:spPr>
        <p:txBody>
          <a:bodyPr wrap="square" lIns="0" tIns="0" rIns="0" bIns="0" rtlCol="0" anchor="ctr"/>
          <a:lstStyle/>
          <a:p>
            <a:pPr indent="0" marL="0">
              <a:buNone/>
            </a:pPr>
            <a:r>
              <a:rPr lang="en-US" sz="2200" b="1" dirty="0">
                <a:solidFill>
                  <a:srgbClr val="C8A84B"/>
                </a:solidFill>
                <a:latin typeface="Cambria" pitchFamily="34" charset="0"/>
                <a:ea typeface="Cambria" pitchFamily="34" charset="-122"/>
                <a:cs typeface="Cambria" pitchFamily="34" charset="-120"/>
              </a:rPr>
              <a:t>NÚMEROS QUE MUDAM A DECISÃO</a:t>
            </a:r>
            <a:endParaRPr lang="en-US" sz="2200" dirty="0"/>
          </a:p>
        </p:txBody>
      </p:sp>
      <p:sp>
        <p:nvSpPr>
          <p:cNvPr id="4" name="Text 2"/>
          <p:cNvSpPr/>
          <p:nvPr/>
        </p:nvSpPr>
        <p:spPr>
          <a:xfrm>
            <a:off x="457200" y="658368"/>
            <a:ext cx="8229600" cy="256032"/>
          </a:xfrm>
          <a:prstGeom prst="rect">
            <a:avLst/>
          </a:prstGeom>
          <a:noFill/>
          <a:ln/>
        </p:spPr>
        <p:txBody>
          <a:bodyPr wrap="square" lIns="0" tIns="0" rIns="0" bIns="0" rtlCol="0" anchor="ctr"/>
          <a:lstStyle/>
          <a:p>
            <a:pPr algn="ctr" indent="0" marL="0">
              <a:buNone/>
            </a:pPr>
            <a:r>
              <a:rPr lang="en-US" sz="1000" dirty="0">
                <a:solidFill>
                  <a:srgbClr val="BBBBBB"/>
                </a:solidFill>
                <a:latin typeface="Calibri" pitchFamily="34" charset="0"/>
                <a:ea typeface="Calibri" pitchFamily="34" charset="-122"/>
                <a:cs typeface="Calibri" pitchFamily="34" charset="-120"/>
              </a:rPr>
              <a:t>6 apartamentos de 80 m²  ·  32 m lineares de paredes por apt  ·  537,6 m² totais</a:t>
            </a:r>
            <a:endParaRPr lang="en-US" sz="1000" dirty="0"/>
          </a:p>
        </p:txBody>
      </p:sp>
      <p:sp>
        <p:nvSpPr>
          <p:cNvPr id="5" name="Shape 3"/>
          <p:cNvSpPr/>
          <p:nvPr/>
        </p:nvSpPr>
        <p:spPr>
          <a:xfrm>
            <a:off x="320040" y="1024128"/>
            <a:ext cx="2633472" cy="1737360"/>
          </a:xfrm>
          <a:prstGeom prst="roundRect">
            <a:avLst>
              <a:gd name="adj" fmla="val 5263"/>
            </a:avLst>
          </a:prstGeom>
          <a:solidFill>
            <a:srgbClr val="2A2A2A"/>
          </a:solidFill>
          <a:ln/>
          <a:effectLst>
            <a:outerShdw sx="100000" sy="100000" kx="0" ky="0" algn="bl" rotWithShape="0" blurRad="101600" dist="38100" dir="2700000">
              <a:srgbClr val="000000">
                <a:alpha val="18000"/>
              </a:srgbClr>
            </a:outerShdw>
          </a:effectLst>
        </p:spPr>
      </p:sp>
      <p:pic>
        <p:nvPicPr>
          <p:cNvPr id="6" name="Image 0" descr="preencoded.png">    </p:cNvPr>
          <p:cNvPicPr>
            <a:picLocks noChangeAspect="1"/>
          </p:cNvPicPr>
          <p:nvPr/>
        </p:nvPicPr>
        <p:blipFill>
          <a:blip r:embed="rId1"/>
          <a:stretch>
            <a:fillRect/>
          </a:stretch>
        </p:blipFill>
        <p:spPr>
          <a:xfrm>
            <a:off x="484632" y="1207008"/>
            <a:ext cx="384048" cy="384048"/>
          </a:xfrm>
          <a:prstGeom prst="rect">
            <a:avLst/>
          </a:prstGeom>
        </p:spPr>
      </p:pic>
      <p:sp>
        <p:nvSpPr>
          <p:cNvPr id="7" name="Text 4"/>
          <p:cNvSpPr/>
          <p:nvPr/>
        </p:nvSpPr>
        <p:spPr>
          <a:xfrm>
            <a:off x="914400" y="1152144"/>
            <a:ext cx="1993392" cy="621792"/>
          </a:xfrm>
          <a:prstGeom prst="rect">
            <a:avLst/>
          </a:prstGeom>
          <a:noFill/>
          <a:ln/>
        </p:spPr>
        <p:txBody>
          <a:bodyPr wrap="square" lIns="0" tIns="0" rIns="0" bIns="0" rtlCol="0" anchor="ctr"/>
          <a:lstStyle/>
          <a:p>
            <a:pPr algn="l" indent="0" marL="0">
              <a:buNone/>
            </a:pPr>
            <a:r>
              <a:rPr lang="en-US" sz="3200" b="1" dirty="0">
                <a:solidFill>
                  <a:srgbClr val="C8A84B"/>
                </a:solidFill>
                <a:latin typeface="Cambria" pitchFamily="34" charset="0"/>
                <a:ea typeface="Cambria" pitchFamily="34" charset="-122"/>
                <a:cs typeface="Cambria" pitchFamily="34" charset="-120"/>
              </a:rPr>
              <a:t>−77%</a:t>
            </a:r>
            <a:endParaRPr lang="en-US" sz="3200" dirty="0"/>
          </a:p>
        </p:txBody>
      </p:sp>
      <p:sp>
        <p:nvSpPr>
          <p:cNvPr id="8" name="Text 5"/>
          <p:cNvSpPr/>
          <p:nvPr/>
        </p:nvSpPr>
        <p:spPr>
          <a:xfrm>
            <a:off x="484632" y="1801368"/>
            <a:ext cx="2359152" cy="749808"/>
          </a:xfrm>
          <a:prstGeom prst="rect">
            <a:avLst/>
          </a:prstGeom>
          <a:noFill/>
          <a:ln/>
        </p:spPr>
        <p:txBody>
          <a:bodyPr wrap="square" lIns="0" tIns="0" rIns="0" bIns="0" rtlCol="0" anchor="ctr"/>
          <a:lstStyle/>
          <a:p>
            <a:pPr algn="l" indent="0" marL="0">
              <a:buNone/>
            </a:pPr>
            <a:r>
              <a:rPr lang="en-US" sz="1000" dirty="0">
                <a:solidFill>
                  <a:srgbClr val="F0EFEC"/>
                </a:solidFill>
                <a:latin typeface="Calibri" pitchFamily="34" charset="0"/>
                <a:ea typeface="Calibri" pitchFamily="34" charset="-122"/>
                <a:cs typeface="Calibri" pitchFamily="34" charset="-120"/>
              </a:rPr>
              <a:t>Redução de peso</a:t>
            </a:r>
            <a:endParaRPr lang="en-US" sz="1000" dirty="0"/>
          </a:p>
          <a:p>
            <a:pPr algn="l" indent="0" marL="0">
              <a:buNone/>
            </a:pPr>
            <a:r>
              <a:rPr lang="en-US" sz="1000" dirty="0">
                <a:solidFill>
                  <a:srgbClr val="F0EFEC"/>
                </a:solidFill>
                <a:latin typeface="Calibri" pitchFamily="34" charset="0"/>
                <a:ea typeface="Calibri" pitchFamily="34" charset="-122"/>
                <a:cs typeface="Calibri" pitchFamily="34" charset="-120"/>
              </a:rPr>
              <a:t>no sistema mais comum</a:t>
            </a:r>
            <a:endParaRPr lang="en-US" sz="1000" dirty="0"/>
          </a:p>
        </p:txBody>
      </p:sp>
      <p:sp>
        <p:nvSpPr>
          <p:cNvPr id="9" name="Shape 6"/>
          <p:cNvSpPr/>
          <p:nvPr/>
        </p:nvSpPr>
        <p:spPr>
          <a:xfrm>
            <a:off x="3172968" y="1024128"/>
            <a:ext cx="2633472" cy="1737360"/>
          </a:xfrm>
          <a:prstGeom prst="roundRect">
            <a:avLst>
              <a:gd name="adj" fmla="val 5263"/>
            </a:avLst>
          </a:prstGeom>
          <a:solidFill>
            <a:srgbClr val="2A2A2A"/>
          </a:solidFill>
          <a:ln/>
          <a:effectLst>
            <a:outerShdw sx="100000" sy="100000" kx="0" ky="0" algn="bl" rotWithShape="0" blurRad="101600" dist="38100" dir="2700000">
              <a:srgbClr val="000000">
                <a:alpha val="18000"/>
              </a:srgbClr>
            </a:outerShdw>
          </a:effectLst>
        </p:spPr>
      </p:sp>
      <p:pic>
        <p:nvPicPr>
          <p:cNvPr id="10" name="Image 1" descr="preencoded.png">    </p:cNvPr>
          <p:cNvPicPr>
            <a:picLocks noChangeAspect="1"/>
          </p:cNvPicPr>
          <p:nvPr/>
        </p:nvPicPr>
        <p:blipFill>
          <a:blip r:embed="rId2"/>
          <a:stretch>
            <a:fillRect/>
          </a:stretch>
        </p:blipFill>
        <p:spPr>
          <a:xfrm>
            <a:off x="3337560" y="1207008"/>
            <a:ext cx="384048" cy="384048"/>
          </a:xfrm>
          <a:prstGeom prst="rect">
            <a:avLst/>
          </a:prstGeom>
        </p:spPr>
      </p:pic>
      <p:sp>
        <p:nvSpPr>
          <p:cNvPr id="11" name="Text 7"/>
          <p:cNvSpPr/>
          <p:nvPr/>
        </p:nvSpPr>
        <p:spPr>
          <a:xfrm>
            <a:off x="3767328" y="1152144"/>
            <a:ext cx="1993392" cy="621792"/>
          </a:xfrm>
          <a:prstGeom prst="rect">
            <a:avLst/>
          </a:prstGeom>
          <a:noFill/>
          <a:ln/>
        </p:spPr>
        <p:txBody>
          <a:bodyPr wrap="square" lIns="0" tIns="0" rIns="0" bIns="0" rtlCol="0" anchor="ctr"/>
          <a:lstStyle/>
          <a:p>
            <a:pPr algn="l" indent="0" marL="0">
              <a:buNone/>
            </a:pPr>
            <a:r>
              <a:rPr lang="en-US" sz="3200" b="1" dirty="0">
                <a:solidFill>
                  <a:srgbClr val="C8A84B"/>
                </a:solidFill>
                <a:latin typeface="Cambria" pitchFamily="34" charset="0"/>
                <a:ea typeface="Cambria" pitchFamily="34" charset="-122"/>
                <a:cs typeface="Cambria" pitchFamily="34" charset="-120"/>
              </a:rPr>
              <a:t>−80 t</a:t>
            </a:r>
            <a:endParaRPr lang="en-US" sz="3200" dirty="0"/>
          </a:p>
        </p:txBody>
      </p:sp>
      <p:sp>
        <p:nvSpPr>
          <p:cNvPr id="12" name="Text 8"/>
          <p:cNvSpPr/>
          <p:nvPr/>
        </p:nvSpPr>
        <p:spPr>
          <a:xfrm>
            <a:off x="3337560" y="1801368"/>
            <a:ext cx="2359152" cy="749808"/>
          </a:xfrm>
          <a:prstGeom prst="rect">
            <a:avLst/>
          </a:prstGeom>
          <a:noFill/>
          <a:ln/>
        </p:spPr>
        <p:txBody>
          <a:bodyPr wrap="square" lIns="0" tIns="0" rIns="0" bIns="0" rtlCol="0" anchor="ctr"/>
          <a:lstStyle/>
          <a:p>
            <a:pPr algn="l" indent="0" marL="0">
              <a:buNone/>
            </a:pPr>
            <a:r>
              <a:rPr lang="en-US" sz="1000" dirty="0">
                <a:solidFill>
                  <a:srgbClr val="F0EFEC"/>
                </a:solidFill>
                <a:latin typeface="Calibri" pitchFamily="34" charset="0"/>
                <a:ea typeface="Calibri" pitchFamily="34" charset="-122"/>
                <a:cs typeface="Calibri" pitchFamily="34" charset="-120"/>
              </a:rPr>
              <a:t>Carga retirada da</a:t>
            </a:r>
            <a:endParaRPr lang="en-US" sz="1000" dirty="0"/>
          </a:p>
          <a:p>
            <a:pPr algn="l" indent="0" marL="0">
              <a:buNone/>
            </a:pPr>
            <a:r>
              <a:rPr lang="en-US" sz="1000" dirty="0">
                <a:solidFill>
                  <a:srgbClr val="F0EFEC"/>
                </a:solidFill>
                <a:latin typeface="Calibri" pitchFamily="34" charset="0"/>
                <a:ea typeface="Calibri" pitchFamily="34" charset="-122"/>
                <a:cs typeface="Calibri" pitchFamily="34" charset="-120"/>
              </a:rPr>
              <a:t>estrutura (6 apt)</a:t>
            </a:r>
            <a:endParaRPr lang="en-US" sz="1000" dirty="0"/>
          </a:p>
        </p:txBody>
      </p:sp>
      <p:sp>
        <p:nvSpPr>
          <p:cNvPr id="13" name="Shape 9"/>
          <p:cNvSpPr/>
          <p:nvPr/>
        </p:nvSpPr>
        <p:spPr>
          <a:xfrm>
            <a:off x="6025896" y="1024128"/>
            <a:ext cx="2633472" cy="1737360"/>
          </a:xfrm>
          <a:prstGeom prst="roundRect">
            <a:avLst>
              <a:gd name="adj" fmla="val 5263"/>
            </a:avLst>
          </a:prstGeom>
          <a:solidFill>
            <a:srgbClr val="2A2A2A"/>
          </a:solidFill>
          <a:ln/>
          <a:effectLst>
            <a:outerShdw sx="100000" sy="100000" kx="0" ky="0" algn="bl" rotWithShape="0" blurRad="101600" dist="38100" dir="2700000">
              <a:srgbClr val="000000">
                <a:alpha val="18000"/>
              </a:srgbClr>
            </a:outerShdw>
          </a:effectLst>
        </p:spPr>
      </p:sp>
      <p:pic>
        <p:nvPicPr>
          <p:cNvPr id="14" name="Image 2" descr="preencoded.png">    </p:cNvPr>
          <p:cNvPicPr>
            <a:picLocks noChangeAspect="1"/>
          </p:cNvPicPr>
          <p:nvPr/>
        </p:nvPicPr>
        <p:blipFill>
          <a:blip r:embed="rId3"/>
          <a:stretch>
            <a:fillRect/>
          </a:stretch>
        </p:blipFill>
        <p:spPr>
          <a:xfrm>
            <a:off x="6190488" y="1207008"/>
            <a:ext cx="384048" cy="384048"/>
          </a:xfrm>
          <a:prstGeom prst="rect">
            <a:avLst/>
          </a:prstGeom>
        </p:spPr>
      </p:pic>
      <p:sp>
        <p:nvSpPr>
          <p:cNvPr id="15" name="Text 10"/>
          <p:cNvSpPr/>
          <p:nvPr/>
        </p:nvSpPr>
        <p:spPr>
          <a:xfrm>
            <a:off x="6620256" y="1152144"/>
            <a:ext cx="1993392" cy="621792"/>
          </a:xfrm>
          <a:prstGeom prst="rect">
            <a:avLst/>
          </a:prstGeom>
          <a:noFill/>
          <a:ln/>
        </p:spPr>
        <p:txBody>
          <a:bodyPr wrap="square" lIns="0" tIns="0" rIns="0" bIns="0" rtlCol="0" anchor="ctr"/>
          <a:lstStyle/>
          <a:p>
            <a:pPr algn="l" indent="0" marL="0">
              <a:buNone/>
            </a:pPr>
            <a:r>
              <a:rPr lang="en-US" sz="3200" b="1" dirty="0">
                <a:solidFill>
                  <a:srgbClr val="C8A84B"/>
                </a:solidFill>
                <a:latin typeface="Cambria" pitchFamily="34" charset="0"/>
                <a:ea typeface="Cambria" pitchFamily="34" charset="-122"/>
                <a:cs typeface="Cambria" pitchFamily="34" charset="-120"/>
              </a:rPr>
              <a:t>+3,2 m²</a:t>
            </a:r>
            <a:endParaRPr lang="en-US" sz="3200" dirty="0"/>
          </a:p>
        </p:txBody>
      </p:sp>
      <p:sp>
        <p:nvSpPr>
          <p:cNvPr id="16" name="Text 11"/>
          <p:cNvSpPr/>
          <p:nvPr/>
        </p:nvSpPr>
        <p:spPr>
          <a:xfrm>
            <a:off x="6190488" y="1801368"/>
            <a:ext cx="2359152" cy="749808"/>
          </a:xfrm>
          <a:prstGeom prst="rect">
            <a:avLst/>
          </a:prstGeom>
          <a:noFill/>
          <a:ln/>
        </p:spPr>
        <p:txBody>
          <a:bodyPr wrap="square" lIns="0" tIns="0" rIns="0" bIns="0" rtlCol="0" anchor="ctr"/>
          <a:lstStyle/>
          <a:p>
            <a:pPr algn="l" indent="0" marL="0">
              <a:buNone/>
            </a:pPr>
            <a:r>
              <a:rPr lang="en-US" sz="1000" dirty="0">
                <a:solidFill>
                  <a:srgbClr val="F0EFEC"/>
                </a:solidFill>
                <a:latin typeface="Calibri" pitchFamily="34" charset="0"/>
                <a:ea typeface="Calibri" pitchFamily="34" charset="-122"/>
                <a:cs typeface="Calibri" pitchFamily="34" charset="-120"/>
              </a:rPr>
              <a:t>Área útil recuperada</a:t>
            </a:r>
            <a:endParaRPr lang="en-US" sz="1000" dirty="0"/>
          </a:p>
          <a:p>
            <a:pPr algn="l" indent="0" marL="0">
              <a:buNone/>
            </a:pPr>
            <a:r>
              <a:rPr lang="en-US" sz="1000" dirty="0">
                <a:solidFill>
                  <a:srgbClr val="F0EFEC"/>
                </a:solidFill>
                <a:latin typeface="Calibri" pitchFamily="34" charset="0"/>
                <a:ea typeface="Calibri" pitchFamily="34" charset="-122"/>
                <a:cs typeface="Calibri" pitchFamily="34" charset="-120"/>
              </a:rPr>
              <a:t>por apartamento</a:t>
            </a:r>
            <a:endParaRPr lang="en-US" sz="1000" dirty="0"/>
          </a:p>
        </p:txBody>
      </p:sp>
      <p:sp>
        <p:nvSpPr>
          <p:cNvPr id="17" name="Shape 12"/>
          <p:cNvSpPr/>
          <p:nvPr/>
        </p:nvSpPr>
        <p:spPr>
          <a:xfrm>
            <a:off x="320040" y="2990088"/>
            <a:ext cx="2633472" cy="1737360"/>
          </a:xfrm>
          <a:prstGeom prst="roundRect">
            <a:avLst>
              <a:gd name="adj" fmla="val 5263"/>
            </a:avLst>
          </a:prstGeom>
          <a:solidFill>
            <a:srgbClr val="2A2A2A"/>
          </a:solidFill>
          <a:ln/>
          <a:effectLst>
            <a:outerShdw sx="100000" sy="100000" kx="0" ky="0" algn="bl" rotWithShape="0" blurRad="101600" dist="38100" dir="2700000">
              <a:srgbClr val="000000">
                <a:alpha val="18000"/>
              </a:srgbClr>
            </a:outerShdw>
          </a:effectLst>
        </p:spPr>
      </p:sp>
      <p:pic>
        <p:nvPicPr>
          <p:cNvPr id="18" name="Image 3" descr="preencoded.png">    </p:cNvPr>
          <p:cNvPicPr>
            <a:picLocks noChangeAspect="1"/>
          </p:cNvPicPr>
          <p:nvPr/>
        </p:nvPicPr>
        <p:blipFill>
          <a:blip r:embed="rId4"/>
          <a:stretch>
            <a:fillRect/>
          </a:stretch>
        </p:blipFill>
        <p:spPr>
          <a:xfrm>
            <a:off x="484632" y="3172968"/>
            <a:ext cx="384048" cy="384048"/>
          </a:xfrm>
          <a:prstGeom prst="rect">
            <a:avLst/>
          </a:prstGeom>
        </p:spPr>
      </p:pic>
      <p:sp>
        <p:nvSpPr>
          <p:cNvPr id="19" name="Text 13"/>
          <p:cNvSpPr/>
          <p:nvPr/>
        </p:nvSpPr>
        <p:spPr>
          <a:xfrm>
            <a:off x="914400" y="3118104"/>
            <a:ext cx="1993392" cy="621792"/>
          </a:xfrm>
          <a:prstGeom prst="rect">
            <a:avLst/>
          </a:prstGeom>
          <a:noFill/>
          <a:ln/>
        </p:spPr>
        <p:txBody>
          <a:bodyPr wrap="square" lIns="0" tIns="0" rIns="0" bIns="0" rtlCol="0" anchor="ctr"/>
          <a:lstStyle/>
          <a:p>
            <a:pPr algn="l" indent="0" marL="0">
              <a:buNone/>
            </a:pPr>
            <a:r>
              <a:rPr lang="en-US" sz="3200" b="1" dirty="0">
                <a:solidFill>
                  <a:srgbClr val="C8A84B"/>
                </a:solidFill>
                <a:latin typeface="Cambria" pitchFamily="34" charset="0"/>
                <a:ea typeface="Cambria" pitchFamily="34" charset="-122"/>
                <a:cs typeface="Cambria" pitchFamily="34" charset="-120"/>
              </a:rPr>
              <a:t>2×</a:t>
            </a:r>
            <a:endParaRPr lang="en-US" sz="3200" dirty="0"/>
          </a:p>
        </p:txBody>
      </p:sp>
      <p:sp>
        <p:nvSpPr>
          <p:cNvPr id="20" name="Text 14"/>
          <p:cNvSpPr/>
          <p:nvPr/>
        </p:nvSpPr>
        <p:spPr>
          <a:xfrm>
            <a:off x="484632" y="3767328"/>
            <a:ext cx="2359152" cy="749808"/>
          </a:xfrm>
          <a:prstGeom prst="rect">
            <a:avLst/>
          </a:prstGeom>
          <a:noFill/>
          <a:ln/>
        </p:spPr>
        <p:txBody>
          <a:bodyPr wrap="square" lIns="0" tIns="0" rIns="0" bIns="0" rtlCol="0" anchor="ctr"/>
          <a:lstStyle/>
          <a:p>
            <a:pPr algn="l" indent="0" marL="0">
              <a:buNone/>
            </a:pPr>
            <a:r>
              <a:rPr lang="en-US" sz="1000" dirty="0">
                <a:solidFill>
                  <a:srgbClr val="F0EFEC"/>
                </a:solidFill>
                <a:latin typeface="Calibri" pitchFamily="34" charset="0"/>
                <a:ea typeface="Calibri" pitchFamily="34" charset="-122"/>
                <a:cs typeface="Calibri" pitchFamily="34" charset="-120"/>
              </a:rPr>
              <a:t>Mais produtivo</a:t>
            </a:r>
            <a:endParaRPr lang="en-US" sz="1000" dirty="0"/>
          </a:p>
          <a:p>
            <a:pPr algn="l" indent="0" marL="0">
              <a:buNone/>
            </a:pPr>
            <a:r>
              <a:rPr lang="en-US" sz="1000" dirty="0">
                <a:solidFill>
                  <a:srgbClr val="F0EFEC"/>
                </a:solidFill>
                <a:latin typeface="Calibri" pitchFamily="34" charset="0"/>
                <a:ea typeface="Calibri" pitchFamily="34" charset="-122"/>
                <a:cs typeface="Calibri" pitchFamily="34" charset="-120"/>
              </a:rPr>
              <a:t>(m²/dia por operário)</a:t>
            </a:r>
            <a:endParaRPr lang="en-US" sz="1000" dirty="0"/>
          </a:p>
        </p:txBody>
      </p:sp>
      <p:sp>
        <p:nvSpPr>
          <p:cNvPr id="21" name="Shape 15"/>
          <p:cNvSpPr/>
          <p:nvPr/>
        </p:nvSpPr>
        <p:spPr>
          <a:xfrm>
            <a:off x="3172968" y="2990088"/>
            <a:ext cx="2633472" cy="1737360"/>
          </a:xfrm>
          <a:prstGeom prst="roundRect">
            <a:avLst>
              <a:gd name="adj" fmla="val 5263"/>
            </a:avLst>
          </a:prstGeom>
          <a:solidFill>
            <a:srgbClr val="2A2A2A"/>
          </a:solidFill>
          <a:ln/>
          <a:effectLst>
            <a:outerShdw sx="100000" sy="100000" kx="0" ky="0" algn="bl" rotWithShape="0" blurRad="101600" dist="38100" dir="2700000">
              <a:srgbClr val="000000">
                <a:alpha val="18000"/>
              </a:srgbClr>
            </a:outerShdw>
          </a:effectLst>
        </p:spPr>
      </p:sp>
      <p:pic>
        <p:nvPicPr>
          <p:cNvPr id="22" name="Image 4" descr="preencoded.png">    </p:cNvPr>
          <p:cNvPicPr>
            <a:picLocks noChangeAspect="1"/>
          </p:cNvPicPr>
          <p:nvPr/>
        </p:nvPicPr>
        <p:blipFill>
          <a:blip r:embed="rId5"/>
          <a:stretch>
            <a:fillRect/>
          </a:stretch>
        </p:blipFill>
        <p:spPr>
          <a:xfrm>
            <a:off x="3337560" y="3172968"/>
            <a:ext cx="384048" cy="384048"/>
          </a:xfrm>
          <a:prstGeom prst="rect">
            <a:avLst/>
          </a:prstGeom>
        </p:spPr>
      </p:pic>
      <p:sp>
        <p:nvSpPr>
          <p:cNvPr id="23" name="Text 16"/>
          <p:cNvSpPr/>
          <p:nvPr/>
        </p:nvSpPr>
        <p:spPr>
          <a:xfrm>
            <a:off x="3767328" y="3118104"/>
            <a:ext cx="1993392" cy="621792"/>
          </a:xfrm>
          <a:prstGeom prst="rect">
            <a:avLst/>
          </a:prstGeom>
          <a:noFill/>
          <a:ln/>
        </p:spPr>
        <p:txBody>
          <a:bodyPr wrap="square" lIns="0" tIns="0" rIns="0" bIns="0" rtlCol="0" anchor="ctr"/>
          <a:lstStyle/>
          <a:p>
            <a:pPr algn="l" indent="0" marL="0">
              <a:buNone/>
            </a:pPr>
            <a:r>
              <a:rPr lang="en-US" sz="3200" b="1" dirty="0">
                <a:solidFill>
                  <a:srgbClr val="C8A84B"/>
                </a:solidFill>
                <a:latin typeface="Cambria" pitchFamily="34" charset="0"/>
                <a:ea typeface="Cambria" pitchFamily="34" charset="-122"/>
                <a:cs typeface="Cambria" pitchFamily="34" charset="-120"/>
              </a:rPr>
              <a:t>−19%</a:t>
            </a:r>
            <a:endParaRPr lang="en-US" sz="3200" dirty="0"/>
          </a:p>
        </p:txBody>
      </p:sp>
      <p:sp>
        <p:nvSpPr>
          <p:cNvPr id="24" name="Text 17"/>
          <p:cNvSpPr/>
          <p:nvPr/>
        </p:nvSpPr>
        <p:spPr>
          <a:xfrm>
            <a:off x="3337560" y="3767328"/>
            <a:ext cx="2359152" cy="749808"/>
          </a:xfrm>
          <a:prstGeom prst="rect">
            <a:avLst/>
          </a:prstGeom>
          <a:noFill/>
          <a:ln/>
        </p:spPr>
        <p:txBody>
          <a:bodyPr wrap="square" lIns="0" tIns="0" rIns="0" bIns="0" rtlCol="0" anchor="ctr"/>
          <a:lstStyle/>
          <a:p>
            <a:pPr algn="l" indent="0" marL="0">
              <a:buNone/>
            </a:pPr>
            <a:r>
              <a:rPr lang="en-US" sz="1000" dirty="0">
                <a:solidFill>
                  <a:srgbClr val="F0EFEC"/>
                </a:solidFill>
                <a:latin typeface="Calibri" pitchFamily="34" charset="0"/>
                <a:ea typeface="Calibri" pitchFamily="34" charset="-122"/>
                <a:cs typeface="Calibri" pitchFamily="34" charset="-120"/>
              </a:rPr>
              <a:t>Economia de custo</a:t>
            </a:r>
            <a:endParaRPr lang="en-US" sz="1000" dirty="0"/>
          </a:p>
          <a:p>
            <a:pPr algn="l" indent="0" marL="0">
              <a:buNone/>
            </a:pPr>
            <a:r>
              <a:rPr lang="en-US" sz="1000" dirty="0">
                <a:solidFill>
                  <a:srgbClr val="F0EFEC"/>
                </a:solidFill>
                <a:latin typeface="Calibri" pitchFamily="34" charset="0"/>
                <a:ea typeface="Calibri" pitchFamily="34" charset="-122"/>
                <a:cs typeface="Calibri" pitchFamily="34" charset="-120"/>
              </a:rPr>
              <a:t>direto estimada</a:t>
            </a:r>
            <a:endParaRPr lang="en-US" sz="1000" dirty="0"/>
          </a:p>
        </p:txBody>
      </p:sp>
      <p:sp>
        <p:nvSpPr>
          <p:cNvPr id="25" name="Shape 18"/>
          <p:cNvSpPr/>
          <p:nvPr/>
        </p:nvSpPr>
        <p:spPr>
          <a:xfrm>
            <a:off x="6025896" y="2990088"/>
            <a:ext cx="2633472" cy="1737360"/>
          </a:xfrm>
          <a:prstGeom prst="roundRect">
            <a:avLst>
              <a:gd name="adj" fmla="val 5263"/>
            </a:avLst>
          </a:prstGeom>
          <a:solidFill>
            <a:srgbClr val="2A2A2A"/>
          </a:solidFill>
          <a:ln/>
          <a:effectLst>
            <a:outerShdw sx="100000" sy="100000" kx="0" ky="0" algn="bl" rotWithShape="0" blurRad="101600" dist="38100" dir="2700000">
              <a:srgbClr val="000000">
                <a:alpha val="18000"/>
              </a:srgbClr>
            </a:outerShdw>
          </a:effectLst>
        </p:spPr>
      </p:sp>
      <p:pic>
        <p:nvPicPr>
          <p:cNvPr id="26" name="Image 5" descr="preencoded.png">    </p:cNvPr>
          <p:cNvPicPr>
            <a:picLocks noChangeAspect="1"/>
          </p:cNvPicPr>
          <p:nvPr/>
        </p:nvPicPr>
        <p:blipFill>
          <a:blip r:embed="rId6"/>
          <a:stretch>
            <a:fillRect/>
          </a:stretch>
        </p:blipFill>
        <p:spPr>
          <a:xfrm>
            <a:off x="6190488" y="3172968"/>
            <a:ext cx="384048" cy="384048"/>
          </a:xfrm>
          <a:prstGeom prst="rect">
            <a:avLst/>
          </a:prstGeom>
        </p:spPr>
      </p:pic>
      <p:sp>
        <p:nvSpPr>
          <p:cNvPr id="27" name="Text 19"/>
          <p:cNvSpPr/>
          <p:nvPr/>
        </p:nvSpPr>
        <p:spPr>
          <a:xfrm>
            <a:off x="6620256" y="3118104"/>
            <a:ext cx="1993392" cy="621792"/>
          </a:xfrm>
          <a:prstGeom prst="rect">
            <a:avLst/>
          </a:prstGeom>
          <a:noFill/>
          <a:ln/>
        </p:spPr>
        <p:txBody>
          <a:bodyPr wrap="square" lIns="0" tIns="0" rIns="0" bIns="0" rtlCol="0" anchor="ctr"/>
          <a:lstStyle/>
          <a:p>
            <a:pPr algn="l" indent="0" marL="0">
              <a:buNone/>
            </a:pPr>
            <a:r>
              <a:rPr lang="en-US" sz="3200" b="1" dirty="0">
                <a:solidFill>
                  <a:srgbClr val="C8A84B"/>
                </a:solidFill>
                <a:latin typeface="Cambria" pitchFamily="34" charset="0"/>
                <a:ea typeface="Cambria" pitchFamily="34" charset="-122"/>
                <a:cs typeface="Cambria" pitchFamily="34" charset="-120"/>
              </a:rPr>
              <a:t>−80%</a:t>
            </a:r>
            <a:endParaRPr lang="en-US" sz="3200" dirty="0"/>
          </a:p>
        </p:txBody>
      </p:sp>
      <p:sp>
        <p:nvSpPr>
          <p:cNvPr id="28" name="Text 20"/>
          <p:cNvSpPr/>
          <p:nvPr/>
        </p:nvSpPr>
        <p:spPr>
          <a:xfrm>
            <a:off x="6190488" y="3767328"/>
            <a:ext cx="2359152" cy="749808"/>
          </a:xfrm>
          <a:prstGeom prst="rect">
            <a:avLst/>
          </a:prstGeom>
          <a:noFill/>
          <a:ln/>
        </p:spPr>
        <p:txBody>
          <a:bodyPr wrap="square" lIns="0" tIns="0" rIns="0" bIns="0" rtlCol="0" anchor="ctr"/>
          <a:lstStyle/>
          <a:p>
            <a:pPr algn="l" indent="0" marL="0">
              <a:buNone/>
            </a:pPr>
            <a:r>
              <a:rPr lang="en-US" sz="1000" dirty="0">
                <a:solidFill>
                  <a:srgbClr val="F0EFEC"/>
                </a:solidFill>
                <a:latin typeface="Calibri" pitchFamily="34" charset="0"/>
                <a:ea typeface="Calibri" pitchFamily="34" charset="-122"/>
                <a:cs typeface="Calibri" pitchFamily="34" charset="-120"/>
              </a:rPr>
              <a:t>Redução de entulho</a:t>
            </a:r>
            <a:endParaRPr lang="en-US" sz="1000" dirty="0"/>
          </a:p>
          <a:p>
            <a:pPr algn="l" indent="0" marL="0">
              <a:buNone/>
            </a:pPr>
            <a:r>
              <a:rPr lang="en-US" sz="1000" dirty="0">
                <a:solidFill>
                  <a:srgbClr val="F0EFEC"/>
                </a:solidFill>
                <a:latin typeface="Calibri" pitchFamily="34" charset="0"/>
                <a:ea typeface="Calibri" pitchFamily="34" charset="-122"/>
                <a:cs typeface="Calibri" pitchFamily="34" charset="-120"/>
              </a:rPr>
              <a:t>gerado em obra</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3"/>
        </a:solidFill>
      </p:bgPr>
    </p:bg>
    <p:spTree>
      <p:nvGrpSpPr>
        <p:cNvPr id="1" name=""/>
        <p:cNvGrpSpPr/>
        <p:nvPr/>
      </p:nvGrpSpPr>
      <p:grpSpPr>
        <a:xfrm>
          <a:off x="0" y="0"/>
          <a:ext cx="0" cy="0"/>
          <a:chOff x="0" y="0"/>
          <a:chExt cx="0" cy="0"/>
        </a:xfrm>
      </p:grpSpPr>
      <p:sp>
        <p:nvSpPr>
          <p:cNvPr id="2" name="Text 0"/>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666666"/>
                </a:solidFill>
              </a:rPr>
              <a:t>4 / 12</a:t>
            </a:r>
            <a:endParaRPr lang="en-US" sz="900" dirty="0"/>
          </a:p>
        </p:txBody>
      </p:sp>
      <p:sp>
        <p:nvSpPr>
          <p:cNvPr id="3" name="Text 1"/>
          <p:cNvSpPr/>
          <p:nvPr/>
        </p:nvSpPr>
        <p:spPr>
          <a:xfrm>
            <a:off x="457200" y="201168"/>
            <a:ext cx="8229600" cy="438912"/>
          </a:xfrm>
          <a:prstGeom prst="rect">
            <a:avLst/>
          </a:prstGeom>
          <a:noFill/>
          <a:ln/>
        </p:spPr>
        <p:txBody>
          <a:bodyPr wrap="square" lIns="0" tIns="0" rIns="0" bIns="0" rtlCol="0" anchor="ctr"/>
          <a:lstStyle/>
          <a:p>
            <a:pPr indent="0" marL="0">
              <a:buNone/>
            </a:pPr>
            <a:r>
              <a:rPr lang="en-US" sz="2200" b="1" dirty="0">
                <a:solidFill>
                  <a:srgbClr val="1E1E1E"/>
                </a:solidFill>
                <a:latin typeface="Cambria" pitchFamily="34" charset="0"/>
                <a:ea typeface="Cambria" pitchFamily="34" charset="-122"/>
                <a:cs typeface="Cambria" pitchFamily="34" charset="-120"/>
              </a:rPr>
              <a:t>IMPACTO DE CARGA NA ESTRUTURA</a:t>
            </a:r>
            <a:endParaRPr lang="en-US" sz="2200" dirty="0"/>
          </a:p>
        </p:txBody>
      </p:sp>
      <p:sp>
        <p:nvSpPr>
          <p:cNvPr id="4" name="Shape 2"/>
          <p:cNvSpPr/>
          <p:nvPr/>
        </p:nvSpPr>
        <p:spPr>
          <a:xfrm>
            <a:off x="457200" y="749808"/>
            <a:ext cx="1010412" cy="256032"/>
          </a:xfrm>
          <a:prstGeom prst="roundRect">
            <a:avLst>
              <a:gd name="adj" fmla="val 14286"/>
            </a:avLst>
          </a:prstGeom>
          <a:solidFill>
            <a:srgbClr val="C8A84B"/>
          </a:solidFill>
          <a:ln/>
        </p:spPr>
      </p:sp>
      <p:sp>
        <p:nvSpPr>
          <p:cNvPr id="5" name="Text 3"/>
          <p:cNvSpPr/>
          <p:nvPr/>
        </p:nvSpPr>
        <p:spPr>
          <a:xfrm>
            <a:off x="457200" y="758952"/>
            <a:ext cx="1010412" cy="246888"/>
          </a:xfrm>
          <a:prstGeom prst="rect">
            <a:avLst/>
          </a:prstGeom>
          <a:noFill/>
          <a:ln/>
        </p:spPr>
        <p:txBody>
          <a:bodyPr wrap="square" lIns="0" tIns="0" rIns="0" bIns="0" rtlCol="0" anchor="ctr"/>
          <a:lstStyle/>
          <a:p>
            <a:pPr algn="ctr" indent="0" marL="0">
              <a:buNone/>
            </a:pPr>
            <a:r>
              <a:rPr lang="en-US" sz="900" b="1" dirty="0">
                <a:solidFill>
                  <a:srgbClr val="1E1E1E"/>
                </a:solidFill>
              </a:rPr>
              <a:t>CÁLCULO</a:t>
            </a:r>
            <a:endParaRPr lang="en-US" sz="900" dirty="0"/>
          </a:p>
        </p:txBody>
      </p:sp>
      <p:graphicFrame>
        <p:nvGraphicFramePr>
          <p:cNvPr id="6" name="Chart 0" descr=""/>
          <p:cNvGraphicFramePr/>
          <p:nvPr/>
        </p:nvGraphicFramePr>
        <p:xfrm>
          <a:off x="365760" y="1024128"/>
          <a:ext cx="512064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0" y="1024128"/>
          <a:ext cx="3291840" cy="3566160"/>
        </p:xfrm>
        <a:graphic>
          <a:graphicData uri="http://schemas.openxmlformats.org/drawingml/2006/table">
            <a:tbl>
              <a:tblPr/>
              <a:tblGrid>
                <a:gridCol w="1371600"/>
                <a:gridCol w="685800"/>
                <a:gridCol w="685800"/>
                <a:gridCol w="548640"/>
              </a:tblGrid>
              <a:tr h="509451">
                <a:tc>
                  <a:txBody>
                    <a:bodyPr/>
                    <a:lstStyle/>
                    <a:p>
                      <a:pPr indent="0" marL="0">
                        <a:buNone/>
                      </a:pPr>
                      <a:r>
                        <a:rPr lang="en-US" sz="900" b="1" dirty="0">
                          <a:solidFill>
                            <a:srgbClr val="C8A84B"/>
                          </a:solidFill>
                        </a:rPr>
                        <a:t>Sistema</a:t>
                      </a:r>
                      <a:endParaRPr lang="en-US" sz="900" dirty="0"/>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E1E1E"/>
                    </a:solidFill>
                  </a:tcPr>
                </a:tc>
                <a:tc>
                  <a:txBody>
                    <a:bodyPr/>
                    <a:lstStyle/>
                    <a:p>
                      <a:pPr algn="ctr" indent="0" marL="0">
                        <a:buNone/>
                      </a:pPr>
                      <a:r>
                        <a:rPr lang="en-US" sz="900" b="1" dirty="0">
                          <a:solidFill>
                            <a:srgbClr val="C8A84B"/>
                          </a:solidFill>
                        </a:rPr>
                        <a:t>Massa (kg/m²)</a:t>
                      </a:r>
                      <a:endParaRPr lang="en-US" sz="900" dirty="0"/>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E1E1E"/>
                    </a:solidFill>
                  </a:tcPr>
                </a:tc>
                <a:tc>
                  <a:txBody>
                    <a:bodyPr/>
                    <a:lstStyle/>
                    <a:p>
                      <a:pPr algn="ctr" indent="0" marL="0">
                        <a:buNone/>
                      </a:pPr>
                      <a:r>
                        <a:rPr lang="en-US" sz="900" b="1" dirty="0">
                          <a:solidFill>
                            <a:srgbClr val="C8A84B"/>
                          </a:solidFill>
                        </a:rPr>
                        <a:t>Peso 6apt (t)</a:t>
                      </a:r>
                      <a:endParaRPr lang="en-US" sz="900" dirty="0"/>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E1E1E"/>
                    </a:solidFill>
                  </a:tcPr>
                </a:tc>
                <a:tc>
                  <a:txBody>
                    <a:bodyPr/>
                    <a:lstStyle/>
                    <a:p>
                      <a:pPr algn="ctr" indent="0" marL="0">
                        <a:buNone/>
                      </a:pPr>
                      <a:r>
                        <a:rPr lang="en-US" sz="900" b="1" dirty="0">
                          <a:solidFill>
                            <a:srgbClr val="C8A84B"/>
                          </a:solidFill>
                        </a:rPr>
                        <a:t>Redução</a:t>
                      </a:r>
                      <a:endParaRPr lang="en-US" sz="900" dirty="0"/>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E1E1E"/>
                    </a:solidFill>
                  </a:tcPr>
                </a:tc>
              </a:tr>
              <a:tr h="509451">
                <a:tc>
                  <a:txBody>
                    <a:bodyPr/>
                    <a:lstStyle/>
                    <a:p>
                      <a:pPr algn="l" indent="0" marL="0">
                        <a:buNone/>
                      </a:pPr>
                      <a:r>
                        <a:rPr lang="en-US" sz="900" dirty="0">
                          <a:solidFill>
                            <a:srgbClr val="1E1E1E"/>
                          </a:solidFill>
                        </a:rPr>
                        <a:t>Alv. Cer. 9cm ★</a:t>
                      </a:r>
                      <a:endParaRPr lang="en-US" sz="900" dirty="0"/>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E1E1E"/>
                          </a:solidFill>
                        </a:rPr>
                        <a:t>194</a:t>
                      </a:r>
                      <a:endParaRPr lang="en-US" sz="900" dirty="0"/>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E1E1E"/>
                          </a:solidFill>
                        </a:rPr>
                        <a:t>104,5</a:t>
                      </a:r>
                      <a:endParaRPr lang="en-US" sz="900" dirty="0"/>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E1E1E"/>
                          </a:solidFill>
                        </a:rPr>
                        <a:t>REF.</a:t>
                      </a:r>
                      <a:endParaRPr lang="en-US" sz="900" dirty="0"/>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FFFFF"/>
                    </a:solidFill>
                  </a:tcPr>
                </a:tc>
              </a:tr>
              <a:tr h="509451">
                <a:tc>
                  <a:txBody>
                    <a:bodyPr/>
                    <a:lstStyle/>
                    <a:p>
                      <a:pPr algn="l" indent="0" marL="0">
                        <a:buNone/>
                      </a:pPr>
                      <a:r>
                        <a:rPr lang="en-US" sz="900" dirty="0">
                          <a:solidFill>
                            <a:srgbClr val="1E1E1E"/>
                          </a:solidFill>
                        </a:rPr>
                        <a:t>Alv. Cer. 14cm</a:t>
                      </a:r>
                      <a:endParaRPr lang="en-US" sz="900" dirty="0"/>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0EFEC"/>
                    </a:solidFill>
                  </a:tcPr>
                </a:tc>
                <a:tc>
                  <a:txBody>
                    <a:bodyPr/>
                    <a:lstStyle/>
                    <a:p>
                      <a:pPr algn="ctr" indent="0" marL="0">
                        <a:buNone/>
                      </a:pPr>
                      <a:r>
                        <a:rPr lang="en-US" sz="900" dirty="0">
                          <a:solidFill>
                            <a:srgbClr val="1E1E1E"/>
                          </a:solidFill>
                        </a:rPr>
                        <a:t>255</a:t>
                      </a:r>
                      <a:endParaRPr lang="en-US" sz="900" dirty="0"/>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0EFEC"/>
                    </a:solidFill>
                  </a:tcPr>
                </a:tc>
                <a:tc>
                  <a:txBody>
                    <a:bodyPr/>
                    <a:lstStyle/>
                    <a:p>
                      <a:pPr algn="ctr" indent="0" marL="0">
                        <a:buNone/>
                      </a:pPr>
                      <a:r>
                        <a:rPr lang="en-US" sz="900" dirty="0">
                          <a:solidFill>
                            <a:srgbClr val="1E1E1E"/>
                          </a:solidFill>
                        </a:rPr>
                        <a:t>137,4</a:t>
                      </a:r>
                      <a:endParaRPr lang="en-US" sz="900" dirty="0"/>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0EFEC"/>
                    </a:solidFill>
                  </a:tcPr>
                </a:tc>
                <a:tc>
                  <a:txBody>
                    <a:bodyPr/>
                    <a:lstStyle/>
                    <a:p>
                      <a:pPr algn="ctr" indent="0" marL="0">
                        <a:buNone/>
                      </a:pPr>
                      <a:r>
                        <a:rPr lang="en-US" sz="900" dirty="0">
                          <a:solidFill>
                            <a:srgbClr val="1E1E1E"/>
                          </a:solidFill>
                        </a:rPr>
                        <a:t>—</a:t>
                      </a:r>
                      <a:endParaRPr lang="en-US" sz="900" dirty="0"/>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0EFEC"/>
                    </a:solidFill>
                  </a:tcPr>
                </a:tc>
              </a:tr>
              <a:tr h="509451">
                <a:tc>
                  <a:txBody>
                    <a:bodyPr/>
                    <a:lstStyle/>
                    <a:p>
                      <a:pPr algn="l" indent="0" marL="0">
                        <a:buNone/>
                      </a:pPr>
                      <a:r>
                        <a:rPr lang="en-US" sz="900" dirty="0">
                          <a:solidFill>
                            <a:srgbClr val="1E1E1E"/>
                          </a:solidFill>
                        </a:rPr>
                        <a:t>Alv. Conc. 14cm</a:t>
                      </a:r>
                      <a:endParaRPr lang="en-US" sz="900" dirty="0"/>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E1E1E"/>
                          </a:solidFill>
                        </a:rPr>
                        <a:t>275</a:t>
                      </a:r>
                      <a:endParaRPr lang="en-US" sz="900" dirty="0"/>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E1E1E"/>
                          </a:solidFill>
                        </a:rPr>
                        <a:t>148,2</a:t>
                      </a:r>
                      <a:endParaRPr lang="en-US" sz="900" dirty="0"/>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E1E1E"/>
                          </a:solidFill>
                        </a:rPr>
                        <a:t>—</a:t>
                      </a:r>
                      <a:endParaRPr lang="en-US" sz="900" dirty="0"/>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FFFFF"/>
                    </a:solidFill>
                  </a:tcPr>
                </a:tc>
              </a:tr>
              <a:tr h="509451">
                <a:tc>
                  <a:txBody>
                    <a:bodyPr/>
                    <a:lstStyle/>
                    <a:p>
                      <a:pPr algn="l" indent="0" marL="0">
                        <a:buNone/>
                      </a:pPr>
                      <a:r>
                        <a:rPr lang="en-US" sz="900" dirty="0">
                          <a:solidFill>
                            <a:srgbClr val="1E1E1E"/>
                          </a:solidFill>
                        </a:rPr>
                        <a:t>Drywall ST+Lã</a:t>
                      </a:r>
                      <a:endParaRPr lang="en-US" sz="900" dirty="0"/>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0EFEC"/>
                    </a:solidFill>
                  </a:tcPr>
                </a:tc>
                <a:tc>
                  <a:txBody>
                    <a:bodyPr/>
                    <a:lstStyle/>
                    <a:p>
                      <a:pPr algn="ctr" indent="0" marL="0">
                        <a:buNone/>
                      </a:pPr>
                      <a:r>
                        <a:rPr lang="en-US" sz="900" dirty="0">
                          <a:solidFill>
                            <a:srgbClr val="1E1E1E"/>
                          </a:solidFill>
                        </a:rPr>
                        <a:t>23</a:t>
                      </a:r>
                      <a:endParaRPr lang="en-US" sz="900" dirty="0"/>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0EFEC"/>
                    </a:solidFill>
                  </a:tcPr>
                </a:tc>
                <a:tc>
                  <a:txBody>
                    <a:bodyPr/>
                    <a:lstStyle/>
                    <a:p>
                      <a:pPr algn="ctr" indent="0" marL="0">
                        <a:buNone/>
                      </a:pPr>
                      <a:r>
                        <a:rPr lang="en-US" sz="900" dirty="0">
                          <a:solidFill>
                            <a:srgbClr val="1E1E1E"/>
                          </a:solidFill>
                        </a:rPr>
                        <a:t>12,4</a:t>
                      </a:r>
                      <a:endParaRPr lang="en-US" sz="900" dirty="0"/>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0EFEC"/>
                    </a:solidFill>
                  </a:tcPr>
                </a:tc>
                <a:tc>
                  <a:txBody>
                    <a:bodyPr/>
                    <a:lstStyle/>
                    <a:p>
                      <a:pPr algn="ctr" indent="0" marL="0">
                        <a:buNone/>
                      </a:pPr>
                      <a:r>
                        <a:rPr lang="en-US" sz="900" b="1" dirty="0">
                          <a:solidFill>
                            <a:srgbClr val="C8A84B"/>
                          </a:solidFill>
                        </a:rPr>
                        <a:t>−88%</a:t>
                      </a:r>
                      <a:endParaRPr lang="en-US" sz="900" dirty="0"/>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0EFEC"/>
                    </a:solidFill>
                  </a:tcPr>
                </a:tc>
              </a:tr>
              <a:tr h="509451">
                <a:tc>
                  <a:txBody>
                    <a:bodyPr/>
                    <a:lstStyle/>
                    <a:p>
                      <a:pPr algn="l" indent="0" marL="0">
                        <a:buNone/>
                      </a:pPr>
                      <a:r>
                        <a:rPr lang="en-US" sz="900" dirty="0">
                          <a:solidFill>
                            <a:srgbClr val="1E1E1E"/>
                          </a:solidFill>
                        </a:rPr>
                        <a:t>Drywall Dupla+Lã</a:t>
                      </a:r>
                      <a:endParaRPr lang="en-US" sz="900" dirty="0"/>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E1E1E"/>
                          </a:solidFill>
                        </a:rPr>
                        <a:t>43</a:t>
                      </a:r>
                      <a:endParaRPr lang="en-US" sz="900" dirty="0"/>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E1E1E"/>
                          </a:solidFill>
                        </a:rPr>
                        <a:t>23,1</a:t>
                      </a:r>
                      <a:endParaRPr lang="en-US" sz="900" dirty="0"/>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C8A84B"/>
                          </a:solidFill>
                        </a:rPr>
                        <a:t>−78%</a:t>
                      </a:r>
                      <a:endParaRPr lang="en-US" sz="900" dirty="0"/>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FFFFF"/>
                    </a:solidFill>
                  </a:tcPr>
                </a:tc>
              </a:tr>
              <a:tr h="509451">
                <a:tc>
                  <a:txBody>
                    <a:bodyPr/>
                    <a:lstStyle/>
                    <a:p>
                      <a:pPr algn="l" indent="0" marL="0">
                        <a:buNone/>
                      </a:pPr>
                      <a:r>
                        <a:rPr lang="en-US" sz="900" dirty="0">
                          <a:solidFill>
                            <a:srgbClr val="1E1E1E"/>
                          </a:solidFill>
                        </a:rPr>
                        <a:t>Drywall Alta Perf.</a:t>
                      </a:r>
                      <a:endParaRPr lang="en-US" sz="900" dirty="0"/>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0EFEC"/>
                    </a:solidFill>
                  </a:tcPr>
                </a:tc>
                <a:tc>
                  <a:txBody>
                    <a:bodyPr/>
                    <a:lstStyle/>
                    <a:p>
                      <a:pPr algn="ctr" indent="0" marL="0">
                        <a:buNone/>
                      </a:pPr>
                      <a:r>
                        <a:rPr lang="en-US" sz="900" dirty="0">
                          <a:solidFill>
                            <a:srgbClr val="1E1E1E"/>
                          </a:solidFill>
                        </a:rPr>
                        <a:t>45</a:t>
                      </a:r>
                      <a:endParaRPr lang="en-US" sz="900" dirty="0"/>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0EFEC"/>
                    </a:solidFill>
                  </a:tcPr>
                </a:tc>
                <a:tc>
                  <a:txBody>
                    <a:bodyPr/>
                    <a:lstStyle/>
                    <a:p>
                      <a:pPr algn="ctr" indent="0" marL="0">
                        <a:buNone/>
                      </a:pPr>
                      <a:r>
                        <a:rPr lang="en-US" sz="900" dirty="0">
                          <a:solidFill>
                            <a:srgbClr val="1E1E1E"/>
                          </a:solidFill>
                        </a:rPr>
                        <a:t>24,2</a:t>
                      </a:r>
                      <a:endParaRPr lang="en-US" sz="900" dirty="0"/>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0EFEC"/>
                    </a:solidFill>
                  </a:tcPr>
                </a:tc>
                <a:tc>
                  <a:txBody>
                    <a:bodyPr/>
                    <a:lstStyle/>
                    <a:p>
                      <a:pPr algn="ctr" indent="0" marL="0">
                        <a:buNone/>
                      </a:pPr>
                      <a:r>
                        <a:rPr lang="en-US" sz="900" b="1" dirty="0">
                          <a:solidFill>
                            <a:srgbClr val="C8A84B"/>
                          </a:solidFill>
                        </a:rPr>
                        <a:t>−77%</a:t>
                      </a:r>
                      <a:endParaRPr lang="en-US" sz="900" dirty="0"/>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0EFE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1E1E"/>
        </a:solidFill>
      </p:bgPr>
    </p:bg>
    <p:spTree>
      <p:nvGrpSpPr>
        <p:cNvPr id="1" name=""/>
        <p:cNvGrpSpPr/>
        <p:nvPr/>
      </p:nvGrpSpPr>
      <p:grpSpPr>
        <a:xfrm>
          <a:off x="0" y="0"/>
          <a:ext cx="0" cy="0"/>
          <a:chOff x="0" y="0"/>
          <a:chExt cx="0" cy="0"/>
        </a:xfrm>
      </p:grpSpPr>
      <p:sp>
        <p:nvSpPr>
          <p:cNvPr id="2" name="Text 0"/>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666666"/>
                </a:solidFill>
              </a:rPr>
              <a:t>5 / 12</a:t>
            </a:r>
            <a:endParaRPr lang="en-US" sz="900" dirty="0"/>
          </a:p>
        </p:txBody>
      </p:sp>
      <p:sp>
        <p:nvSpPr>
          <p:cNvPr id="3" name="Text 1"/>
          <p:cNvSpPr/>
          <p:nvPr/>
        </p:nvSpPr>
        <p:spPr>
          <a:xfrm>
            <a:off x="457200" y="201168"/>
            <a:ext cx="8229600" cy="438912"/>
          </a:xfrm>
          <a:prstGeom prst="rect">
            <a:avLst/>
          </a:prstGeom>
          <a:noFill/>
          <a:ln/>
        </p:spPr>
        <p:txBody>
          <a:bodyPr wrap="square" lIns="0" tIns="0" rIns="0" bIns="0" rtlCol="0" anchor="ctr"/>
          <a:lstStyle/>
          <a:p>
            <a:pPr indent="0" marL="0">
              <a:buNone/>
            </a:pPr>
            <a:r>
              <a:rPr lang="en-US" sz="2200" b="1" dirty="0">
                <a:solidFill>
                  <a:srgbClr val="C8A84B"/>
                </a:solidFill>
                <a:latin typeface="Cambria" pitchFamily="34" charset="0"/>
                <a:ea typeface="Cambria" pitchFamily="34" charset="-122"/>
                <a:cs typeface="Cambria" pitchFamily="34" charset="-120"/>
              </a:rPr>
              <a:t>ÁREA ÚTIL E DESEMPENHO ACÚSTICO</a:t>
            </a:r>
            <a:endParaRPr lang="en-US" sz="2200" dirty="0"/>
          </a:p>
        </p:txBody>
      </p:sp>
      <p:sp>
        <p:nvSpPr>
          <p:cNvPr id="4" name="Shape 2"/>
          <p:cNvSpPr/>
          <p:nvPr/>
        </p:nvSpPr>
        <p:spPr>
          <a:xfrm>
            <a:off x="320040" y="777240"/>
            <a:ext cx="4023360" cy="4114800"/>
          </a:xfrm>
          <a:prstGeom prst="roundRect">
            <a:avLst>
              <a:gd name="adj" fmla="val 2273"/>
            </a:avLst>
          </a:prstGeom>
          <a:solidFill>
            <a:srgbClr val="2A2A2A"/>
          </a:solidFill>
          <a:ln/>
          <a:effectLst>
            <a:outerShdw sx="100000" sy="100000" kx="0" ky="0" algn="bl" rotWithShape="0" blurRad="101600" dist="38100" dir="2700000">
              <a:srgbClr val="000000">
                <a:alpha val="18000"/>
              </a:srgbClr>
            </a:outerShdw>
          </a:effectLst>
        </p:spPr>
      </p:sp>
      <p:pic>
        <p:nvPicPr>
          <p:cNvPr id="5" name="Image 0" descr="preencoded.png">    </p:cNvPr>
          <p:cNvPicPr>
            <a:picLocks noChangeAspect="1"/>
          </p:cNvPicPr>
          <p:nvPr/>
        </p:nvPicPr>
        <p:blipFill>
          <a:blip r:embed="rId1"/>
          <a:stretch>
            <a:fillRect/>
          </a:stretch>
        </p:blipFill>
        <p:spPr>
          <a:xfrm>
            <a:off x="548640" y="914400"/>
            <a:ext cx="411480" cy="411480"/>
          </a:xfrm>
          <a:prstGeom prst="rect">
            <a:avLst/>
          </a:prstGeom>
        </p:spPr>
      </p:pic>
      <p:sp>
        <p:nvSpPr>
          <p:cNvPr id="6" name="Text 3"/>
          <p:cNvSpPr/>
          <p:nvPr/>
        </p:nvSpPr>
        <p:spPr>
          <a:xfrm>
            <a:off x="1024128" y="914400"/>
            <a:ext cx="3108960" cy="411480"/>
          </a:xfrm>
          <a:prstGeom prst="rect">
            <a:avLst/>
          </a:prstGeom>
          <a:noFill/>
          <a:ln/>
        </p:spPr>
        <p:txBody>
          <a:bodyPr wrap="square" lIns="0" tIns="0" rIns="0" bIns="0" rtlCol="0" anchor="ctr"/>
          <a:lstStyle/>
          <a:p>
            <a:pPr indent="0" marL="0">
              <a:buNone/>
            </a:pPr>
            <a:r>
              <a:rPr lang="en-US" sz="1100" b="1" dirty="0">
                <a:solidFill>
                  <a:srgbClr val="C8A84B"/>
                </a:solidFill>
                <a:latin typeface="Cambria" pitchFamily="34" charset="0"/>
                <a:ea typeface="Cambria" pitchFamily="34" charset="-122"/>
                <a:cs typeface="Cambria" pitchFamily="34" charset="-120"/>
              </a:rPr>
              <a:t>GANHO DE ÁREA ÚTIL</a:t>
            </a:r>
            <a:endParaRPr lang="en-US" sz="1100" dirty="0"/>
          </a:p>
        </p:txBody>
      </p:sp>
      <p:sp>
        <p:nvSpPr>
          <p:cNvPr id="7" name="Text 4"/>
          <p:cNvSpPr/>
          <p:nvPr/>
        </p:nvSpPr>
        <p:spPr>
          <a:xfrm>
            <a:off x="502920" y="1389888"/>
            <a:ext cx="3657600" cy="320040"/>
          </a:xfrm>
          <a:prstGeom prst="rect">
            <a:avLst/>
          </a:prstGeom>
          <a:noFill/>
          <a:ln/>
        </p:spPr>
        <p:txBody>
          <a:bodyPr wrap="square" lIns="0" tIns="0" rIns="0" bIns="0" rtlCol="0" anchor="ctr"/>
          <a:lstStyle/>
          <a:p>
            <a:pPr indent="0" marL="0">
              <a:buNone/>
            </a:pPr>
            <a:r>
              <a:rPr lang="en-US" sz="900" dirty="0">
                <a:solidFill>
                  <a:srgbClr val="BBBBBB"/>
                </a:solidFill>
                <a:latin typeface="Calibri" pitchFamily="34" charset="0"/>
                <a:ea typeface="Calibri" pitchFamily="34" charset="-122"/>
                <a:cs typeface="Calibri" pitchFamily="34" charset="-120"/>
              </a:rPr>
              <a:t>Por apartamento de 80 m² (32 m lineares de paredes):</a:t>
            </a:r>
            <a:endParaRPr lang="en-US" sz="900" dirty="0"/>
          </a:p>
        </p:txBody>
      </p:sp>
      <p:sp>
        <p:nvSpPr>
          <p:cNvPr id="8" name="Text 5"/>
          <p:cNvSpPr/>
          <p:nvPr/>
        </p:nvSpPr>
        <p:spPr>
          <a:xfrm>
            <a:off x="502920" y="1783080"/>
            <a:ext cx="2606040" cy="411480"/>
          </a:xfrm>
          <a:prstGeom prst="rect">
            <a:avLst/>
          </a:prstGeom>
          <a:noFill/>
          <a:ln/>
        </p:spPr>
        <p:txBody>
          <a:bodyPr wrap="square" lIns="0" tIns="0" rIns="0" bIns="0" rtlCol="0" anchor="ctr"/>
          <a:lstStyle/>
          <a:p>
            <a:pPr indent="0" marL="0">
              <a:buNone/>
            </a:pPr>
            <a:r>
              <a:rPr lang="en-US" sz="950" dirty="0">
                <a:solidFill>
                  <a:srgbClr val="F0EFEC"/>
                </a:solidFill>
                <a:latin typeface="Calibri" pitchFamily="34" charset="0"/>
                <a:ea typeface="Calibri" pitchFamily="34" charset="-122"/>
                <a:cs typeface="Calibri" pitchFamily="34" charset="-120"/>
              </a:rPr>
              <a:t>Drywall ST 95mm vs. Alv. 130mm:</a:t>
            </a:r>
            <a:endParaRPr lang="en-US" sz="950" dirty="0"/>
          </a:p>
        </p:txBody>
      </p:sp>
      <p:sp>
        <p:nvSpPr>
          <p:cNvPr id="9" name="Text 6"/>
          <p:cNvSpPr/>
          <p:nvPr/>
        </p:nvSpPr>
        <p:spPr>
          <a:xfrm>
            <a:off x="3127248" y="1783080"/>
            <a:ext cx="1097280" cy="411480"/>
          </a:xfrm>
          <a:prstGeom prst="rect">
            <a:avLst/>
          </a:prstGeom>
          <a:noFill/>
          <a:ln/>
        </p:spPr>
        <p:txBody>
          <a:bodyPr wrap="square" lIns="0" tIns="0" rIns="0" bIns="0" rtlCol="0" anchor="ctr"/>
          <a:lstStyle/>
          <a:p>
            <a:pPr algn="r" indent="0" marL="0">
              <a:buNone/>
            </a:pPr>
            <a:r>
              <a:rPr lang="en-US" sz="1000" b="1" dirty="0">
                <a:solidFill>
                  <a:srgbClr val="C8A84B"/>
                </a:solidFill>
                <a:latin typeface="Cambria" pitchFamily="34" charset="0"/>
                <a:ea typeface="Cambria" pitchFamily="34" charset="-122"/>
                <a:cs typeface="Cambria" pitchFamily="34" charset="-120"/>
              </a:rPr>
              <a:t>+3,20 m²</a:t>
            </a:r>
            <a:endParaRPr lang="en-US" sz="1000" dirty="0"/>
          </a:p>
        </p:txBody>
      </p:sp>
      <p:sp>
        <p:nvSpPr>
          <p:cNvPr id="10" name="Text 7"/>
          <p:cNvSpPr/>
          <p:nvPr/>
        </p:nvSpPr>
        <p:spPr>
          <a:xfrm>
            <a:off x="502920" y="2286000"/>
            <a:ext cx="2606040" cy="411480"/>
          </a:xfrm>
          <a:prstGeom prst="rect">
            <a:avLst/>
          </a:prstGeom>
          <a:noFill/>
          <a:ln/>
        </p:spPr>
        <p:txBody>
          <a:bodyPr wrap="square" lIns="0" tIns="0" rIns="0" bIns="0" rtlCol="0" anchor="ctr"/>
          <a:lstStyle/>
          <a:p>
            <a:pPr indent="0" marL="0">
              <a:buNone/>
            </a:pPr>
            <a:r>
              <a:rPr lang="en-US" sz="950" dirty="0">
                <a:solidFill>
                  <a:srgbClr val="F0EFEC"/>
                </a:solidFill>
                <a:latin typeface="Calibri" pitchFamily="34" charset="0"/>
                <a:ea typeface="Calibri" pitchFamily="34" charset="-122"/>
                <a:cs typeface="Calibri" pitchFamily="34" charset="-120"/>
              </a:rPr>
              <a:t>Drywall Dupla 120mm vs. Alv. 130mm:</a:t>
            </a:r>
            <a:endParaRPr lang="en-US" sz="950" dirty="0"/>
          </a:p>
        </p:txBody>
      </p:sp>
      <p:sp>
        <p:nvSpPr>
          <p:cNvPr id="11" name="Text 8"/>
          <p:cNvSpPr/>
          <p:nvPr/>
        </p:nvSpPr>
        <p:spPr>
          <a:xfrm>
            <a:off x="3127248" y="2286000"/>
            <a:ext cx="1097280" cy="411480"/>
          </a:xfrm>
          <a:prstGeom prst="rect">
            <a:avLst/>
          </a:prstGeom>
          <a:noFill/>
          <a:ln/>
        </p:spPr>
        <p:txBody>
          <a:bodyPr wrap="square" lIns="0" tIns="0" rIns="0" bIns="0" rtlCol="0" anchor="ctr"/>
          <a:lstStyle/>
          <a:p>
            <a:pPr algn="r" indent="0" marL="0">
              <a:buNone/>
            </a:pPr>
            <a:r>
              <a:rPr lang="en-US" sz="1000" b="1" dirty="0">
                <a:solidFill>
                  <a:srgbClr val="C8A84B"/>
                </a:solidFill>
                <a:latin typeface="Cambria" pitchFamily="34" charset="0"/>
                <a:ea typeface="Cambria" pitchFamily="34" charset="-122"/>
                <a:cs typeface="Cambria" pitchFamily="34" charset="-120"/>
              </a:rPr>
              <a:t>+0,90 m²</a:t>
            </a:r>
            <a:endParaRPr lang="en-US" sz="1000" dirty="0"/>
          </a:p>
        </p:txBody>
      </p:sp>
      <p:sp>
        <p:nvSpPr>
          <p:cNvPr id="12" name="Text 9"/>
          <p:cNvSpPr/>
          <p:nvPr/>
        </p:nvSpPr>
        <p:spPr>
          <a:xfrm>
            <a:off x="502920" y="2788920"/>
            <a:ext cx="2606040" cy="411480"/>
          </a:xfrm>
          <a:prstGeom prst="rect">
            <a:avLst/>
          </a:prstGeom>
          <a:noFill/>
          <a:ln/>
        </p:spPr>
        <p:txBody>
          <a:bodyPr wrap="square" lIns="0" tIns="0" rIns="0" bIns="0" rtlCol="0" anchor="ctr"/>
          <a:lstStyle/>
          <a:p>
            <a:pPr indent="0" marL="0">
              <a:buNone/>
            </a:pPr>
            <a:r>
              <a:rPr lang="en-US" sz="950" dirty="0">
                <a:solidFill>
                  <a:srgbClr val="F0EFEC"/>
                </a:solidFill>
                <a:latin typeface="Calibri" pitchFamily="34" charset="0"/>
                <a:ea typeface="Calibri" pitchFamily="34" charset="-122"/>
                <a:cs typeface="Calibri" pitchFamily="34" charset="-120"/>
              </a:rPr>
              <a:t>6 apt — ganho total (ST):</a:t>
            </a:r>
            <a:endParaRPr lang="en-US" sz="950" dirty="0"/>
          </a:p>
        </p:txBody>
      </p:sp>
      <p:sp>
        <p:nvSpPr>
          <p:cNvPr id="13" name="Text 10"/>
          <p:cNvSpPr/>
          <p:nvPr/>
        </p:nvSpPr>
        <p:spPr>
          <a:xfrm>
            <a:off x="3127248" y="2788920"/>
            <a:ext cx="1097280" cy="411480"/>
          </a:xfrm>
          <a:prstGeom prst="rect">
            <a:avLst/>
          </a:prstGeom>
          <a:noFill/>
          <a:ln/>
        </p:spPr>
        <p:txBody>
          <a:bodyPr wrap="square" lIns="0" tIns="0" rIns="0" bIns="0" rtlCol="0" anchor="ctr"/>
          <a:lstStyle/>
          <a:p>
            <a:pPr algn="r" indent="0" marL="0">
              <a:buNone/>
            </a:pPr>
            <a:r>
              <a:rPr lang="en-US" sz="1000" b="1" dirty="0">
                <a:solidFill>
                  <a:srgbClr val="C8A84B"/>
                </a:solidFill>
                <a:latin typeface="Cambria" pitchFamily="34" charset="0"/>
                <a:ea typeface="Cambria" pitchFamily="34" charset="-122"/>
                <a:cs typeface="Cambria" pitchFamily="34" charset="-120"/>
              </a:rPr>
              <a:t>+19,2 m²</a:t>
            </a:r>
            <a:endParaRPr lang="en-US" sz="1000" dirty="0"/>
          </a:p>
        </p:txBody>
      </p:sp>
      <p:sp>
        <p:nvSpPr>
          <p:cNvPr id="14" name="Text 11"/>
          <p:cNvSpPr/>
          <p:nvPr/>
        </p:nvSpPr>
        <p:spPr>
          <a:xfrm>
            <a:off x="502920" y="3291840"/>
            <a:ext cx="2606040" cy="411480"/>
          </a:xfrm>
          <a:prstGeom prst="rect">
            <a:avLst/>
          </a:prstGeom>
          <a:noFill/>
          <a:ln/>
        </p:spPr>
        <p:txBody>
          <a:bodyPr wrap="square" lIns="0" tIns="0" rIns="0" bIns="0" rtlCol="0" anchor="ctr"/>
          <a:lstStyle/>
          <a:p>
            <a:pPr indent="0" marL="0">
              <a:buNone/>
            </a:pPr>
            <a:r>
              <a:rPr lang="en-US" sz="950" dirty="0">
                <a:solidFill>
                  <a:srgbClr val="F0EFEC"/>
                </a:solidFill>
                <a:latin typeface="Calibri" pitchFamily="34" charset="0"/>
                <a:ea typeface="Calibri" pitchFamily="34" charset="-122"/>
                <a:cs typeface="Calibri" pitchFamily="34" charset="-120"/>
              </a:rPr>
              <a:t>Valor potencial por apt (SC):</a:t>
            </a:r>
            <a:endParaRPr lang="en-US" sz="950" dirty="0"/>
          </a:p>
        </p:txBody>
      </p:sp>
      <p:sp>
        <p:nvSpPr>
          <p:cNvPr id="15" name="Text 12"/>
          <p:cNvSpPr/>
          <p:nvPr/>
        </p:nvSpPr>
        <p:spPr>
          <a:xfrm>
            <a:off x="3127248" y="3291840"/>
            <a:ext cx="1097280" cy="411480"/>
          </a:xfrm>
          <a:prstGeom prst="rect">
            <a:avLst/>
          </a:prstGeom>
          <a:noFill/>
          <a:ln/>
        </p:spPr>
        <p:txBody>
          <a:bodyPr wrap="square" lIns="0" tIns="0" rIns="0" bIns="0" rtlCol="0" anchor="ctr"/>
          <a:lstStyle/>
          <a:p>
            <a:pPr algn="r" indent="0" marL="0">
              <a:buNone/>
            </a:pPr>
            <a:r>
              <a:rPr lang="en-US" sz="1000" b="1" dirty="0">
                <a:solidFill>
                  <a:srgbClr val="C8A84B"/>
                </a:solidFill>
                <a:latin typeface="Cambria" pitchFamily="34" charset="0"/>
                <a:ea typeface="Cambria" pitchFamily="34" charset="-122"/>
                <a:cs typeface="Cambria" pitchFamily="34" charset="-120"/>
              </a:rPr>
              <a:t>R$ 25.600–48.000</a:t>
            </a:r>
            <a:endParaRPr lang="en-US" sz="1000" dirty="0"/>
          </a:p>
        </p:txBody>
      </p:sp>
      <p:sp>
        <p:nvSpPr>
          <p:cNvPr id="16" name="Text 13"/>
          <p:cNvSpPr/>
          <p:nvPr/>
        </p:nvSpPr>
        <p:spPr>
          <a:xfrm>
            <a:off x="502920" y="3858768"/>
            <a:ext cx="3657600" cy="320040"/>
          </a:xfrm>
          <a:prstGeom prst="rect">
            <a:avLst/>
          </a:prstGeom>
          <a:noFill/>
          <a:ln/>
        </p:spPr>
        <p:txBody>
          <a:bodyPr wrap="square" lIns="0" tIns="0" rIns="0" bIns="0" rtlCol="0" anchor="ctr"/>
          <a:lstStyle/>
          <a:p>
            <a:pPr indent="0" marL="0">
              <a:buNone/>
            </a:pPr>
            <a:r>
              <a:rPr lang="en-US" sz="750" i="1" dirty="0">
                <a:solidFill>
                  <a:srgbClr val="666666"/>
                </a:solidFill>
                <a:latin typeface="Calibri" pitchFamily="34" charset="0"/>
                <a:ea typeface="Calibri" pitchFamily="34" charset="-122"/>
                <a:cs typeface="Calibri" pitchFamily="34" charset="-120"/>
              </a:rPr>
              <a:t>*R$ 8.000–15.000/m² imóveis médio-alto padrão, costa SC.</a:t>
            </a:r>
            <a:endParaRPr lang="en-US" sz="750" dirty="0"/>
          </a:p>
        </p:txBody>
      </p:sp>
      <p:sp>
        <p:nvSpPr>
          <p:cNvPr id="17" name="Shape 14"/>
          <p:cNvSpPr/>
          <p:nvPr/>
        </p:nvSpPr>
        <p:spPr>
          <a:xfrm>
            <a:off x="4800600" y="777240"/>
            <a:ext cx="4023360" cy="4114800"/>
          </a:xfrm>
          <a:prstGeom prst="roundRect">
            <a:avLst>
              <a:gd name="adj" fmla="val 2273"/>
            </a:avLst>
          </a:prstGeom>
          <a:solidFill>
            <a:srgbClr val="2A2A2A"/>
          </a:solidFill>
          <a:ln/>
          <a:effectLst>
            <a:outerShdw sx="100000" sy="100000" kx="0" ky="0" algn="bl" rotWithShape="0" blurRad="101600" dist="38100" dir="2700000">
              <a:srgbClr val="000000">
                <a:alpha val="18000"/>
              </a:srgbClr>
            </a:outerShdw>
          </a:effectLst>
        </p:spPr>
      </p:sp>
      <p:pic>
        <p:nvPicPr>
          <p:cNvPr id="18" name="Image 1" descr="preencoded.png">    </p:cNvPr>
          <p:cNvPicPr>
            <a:picLocks noChangeAspect="1"/>
          </p:cNvPicPr>
          <p:nvPr/>
        </p:nvPicPr>
        <p:blipFill>
          <a:blip r:embed="rId2"/>
          <a:stretch>
            <a:fillRect/>
          </a:stretch>
        </p:blipFill>
        <p:spPr>
          <a:xfrm>
            <a:off x="5029200" y="914400"/>
            <a:ext cx="411480" cy="411480"/>
          </a:xfrm>
          <a:prstGeom prst="rect">
            <a:avLst/>
          </a:prstGeom>
        </p:spPr>
      </p:pic>
      <p:sp>
        <p:nvSpPr>
          <p:cNvPr id="19" name="Text 15"/>
          <p:cNvSpPr/>
          <p:nvPr/>
        </p:nvSpPr>
        <p:spPr>
          <a:xfrm>
            <a:off x="5504688" y="914400"/>
            <a:ext cx="3108960" cy="411480"/>
          </a:xfrm>
          <a:prstGeom prst="rect">
            <a:avLst/>
          </a:prstGeom>
          <a:noFill/>
          <a:ln/>
        </p:spPr>
        <p:txBody>
          <a:bodyPr wrap="square" lIns="0" tIns="0" rIns="0" bIns="0" rtlCol="0" anchor="ctr"/>
          <a:lstStyle/>
          <a:p>
            <a:pPr indent="0" marL="0">
              <a:buNone/>
            </a:pPr>
            <a:r>
              <a:rPr lang="en-US" sz="1100" b="1" dirty="0">
                <a:solidFill>
                  <a:srgbClr val="C8A84B"/>
                </a:solidFill>
                <a:latin typeface="Cambria" pitchFamily="34" charset="0"/>
                <a:ea typeface="Cambria" pitchFamily="34" charset="-122"/>
                <a:cs typeface="Cambria" pitchFamily="34" charset="-120"/>
              </a:rPr>
              <a:t>DESEMPENHO ACÚSTICO (Rw)</a:t>
            </a:r>
            <a:endParaRPr lang="en-US" sz="1100" dirty="0"/>
          </a:p>
        </p:txBody>
      </p:sp>
      <p:sp>
        <p:nvSpPr>
          <p:cNvPr id="20" name="Text 16"/>
          <p:cNvSpPr/>
          <p:nvPr/>
        </p:nvSpPr>
        <p:spPr>
          <a:xfrm>
            <a:off x="4956048" y="1435608"/>
            <a:ext cx="2423160" cy="411480"/>
          </a:xfrm>
          <a:prstGeom prst="rect">
            <a:avLst/>
          </a:prstGeom>
          <a:noFill/>
          <a:ln/>
        </p:spPr>
        <p:txBody>
          <a:bodyPr wrap="square" lIns="0" tIns="0" rIns="0" bIns="0" rtlCol="0" anchor="ctr"/>
          <a:lstStyle/>
          <a:p>
            <a:pPr indent="0" marL="0">
              <a:buNone/>
            </a:pPr>
            <a:r>
              <a:rPr lang="en-US" sz="950" dirty="0">
                <a:solidFill>
                  <a:srgbClr val="F0EFEC"/>
                </a:solidFill>
                <a:latin typeface="Calibri" pitchFamily="34" charset="0"/>
                <a:ea typeface="Calibri" pitchFamily="34" charset="-122"/>
                <a:cs typeface="Calibri" pitchFamily="34" charset="-120"/>
              </a:rPr>
              <a:t>Alvenaria cer. 9cm rebocada</a:t>
            </a:r>
            <a:endParaRPr lang="en-US" sz="950" dirty="0"/>
          </a:p>
        </p:txBody>
      </p:sp>
      <p:sp>
        <p:nvSpPr>
          <p:cNvPr id="21" name="Text 17"/>
          <p:cNvSpPr/>
          <p:nvPr/>
        </p:nvSpPr>
        <p:spPr>
          <a:xfrm>
            <a:off x="7406640" y="1435608"/>
            <a:ext cx="1280160" cy="411480"/>
          </a:xfrm>
          <a:prstGeom prst="rect">
            <a:avLst/>
          </a:prstGeom>
          <a:noFill/>
          <a:ln/>
        </p:spPr>
        <p:txBody>
          <a:bodyPr wrap="square" lIns="0" tIns="0" rIns="0" bIns="0" rtlCol="0" anchor="ctr"/>
          <a:lstStyle/>
          <a:p>
            <a:pPr algn="r" indent="0" marL="0">
              <a:buNone/>
            </a:pPr>
            <a:r>
              <a:rPr lang="en-US" sz="1000" dirty="0">
                <a:solidFill>
                  <a:srgbClr val="BBBBBB"/>
                </a:solidFill>
                <a:latin typeface="Cambria" pitchFamily="34" charset="0"/>
                <a:ea typeface="Cambria" pitchFamily="34" charset="-122"/>
                <a:cs typeface="Cambria" pitchFamily="34" charset="-120"/>
              </a:rPr>
              <a:t>38–42 dB</a:t>
            </a:r>
            <a:endParaRPr lang="en-US" sz="1000" dirty="0"/>
          </a:p>
        </p:txBody>
      </p:sp>
      <p:sp>
        <p:nvSpPr>
          <p:cNvPr id="22" name="Text 18"/>
          <p:cNvSpPr/>
          <p:nvPr/>
        </p:nvSpPr>
        <p:spPr>
          <a:xfrm>
            <a:off x="4956048" y="1965960"/>
            <a:ext cx="2423160" cy="411480"/>
          </a:xfrm>
          <a:prstGeom prst="rect">
            <a:avLst/>
          </a:prstGeom>
          <a:noFill/>
          <a:ln/>
        </p:spPr>
        <p:txBody>
          <a:bodyPr wrap="square" lIns="0" tIns="0" rIns="0" bIns="0" rtlCol="0" anchor="ctr"/>
          <a:lstStyle/>
          <a:p>
            <a:pPr indent="0" marL="0">
              <a:buNone/>
            </a:pPr>
            <a:r>
              <a:rPr lang="en-US" sz="950" dirty="0">
                <a:solidFill>
                  <a:srgbClr val="F0EFEC"/>
                </a:solidFill>
                <a:latin typeface="Calibri" pitchFamily="34" charset="0"/>
                <a:ea typeface="Calibri" pitchFamily="34" charset="-122"/>
                <a:cs typeface="Calibri" pitchFamily="34" charset="-120"/>
              </a:rPr>
              <a:t>Drywall ST simples SEM lã ⚠️</a:t>
            </a:r>
            <a:endParaRPr lang="en-US" sz="950" dirty="0"/>
          </a:p>
        </p:txBody>
      </p:sp>
      <p:sp>
        <p:nvSpPr>
          <p:cNvPr id="23" name="Text 19"/>
          <p:cNvSpPr/>
          <p:nvPr/>
        </p:nvSpPr>
        <p:spPr>
          <a:xfrm>
            <a:off x="7406640" y="1965960"/>
            <a:ext cx="1280160" cy="411480"/>
          </a:xfrm>
          <a:prstGeom prst="rect">
            <a:avLst/>
          </a:prstGeom>
          <a:noFill/>
          <a:ln/>
        </p:spPr>
        <p:txBody>
          <a:bodyPr wrap="square" lIns="0" tIns="0" rIns="0" bIns="0" rtlCol="0" anchor="ctr"/>
          <a:lstStyle/>
          <a:p>
            <a:pPr algn="r" indent="0" marL="0">
              <a:buNone/>
            </a:pPr>
            <a:r>
              <a:rPr lang="en-US" sz="1000" dirty="0">
                <a:solidFill>
                  <a:srgbClr val="E8B84B"/>
                </a:solidFill>
                <a:latin typeface="Cambria" pitchFamily="34" charset="0"/>
                <a:ea typeface="Cambria" pitchFamily="34" charset="-122"/>
                <a:cs typeface="Cambria" pitchFamily="34" charset="-120"/>
              </a:rPr>
              <a:t>36–38 dB</a:t>
            </a:r>
            <a:endParaRPr lang="en-US" sz="1000" dirty="0"/>
          </a:p>
        </p:txBody>
      </p:sp>
      <p:sp>
        <p:nvSpPr>
          <p:cNvPr id="24" name="Text 20"/>
          <p:cNvSpPr/>
          <p:nvPr/>
        </p:nvSpPr>
        <p:spPr>
          <a:xfrm>
            <a:off x="4956048" y="2496312"/>
            <a:ext cx="2423160" cy="411480"/>
          </a:xfrm>
          <a:prstGeom prst="rect">
            <a:avLst/>
          </a:prstGeom>
          <a:noFill/>
          <a:ln/>
        </p:spPr>
        <p:txBody>
          <a:bodyPr wrap="square" lIns="0" tIns="0" rIns="0" bIns="0" rtlCol="0" anchor="ctr"/>
          <a:lstStyle/>
          <a:p>
            <a:pPr indent="0" marL="0">
              <a:buNone/>
            </a:pPr>
            <a:r>
              <a:rPr lang="en-US" sz="950" dirty="0">
                <a:solidFill>
                  <a:srgbClr val="F0EFEC"/>
                </a:solidFill>
                <a:latin typeface="Calibri" pitchFamily="34" charset="0"/>
                <a:ea typeface="Calibri" pitchFamily="34" charset="-122"/>
                <a:cs typeface="Calibri" pitchFamily="34" charset="-120"/>
              </a:rPr>
              <a:t>Drywall ST + lã PET 50mm</a:t>
            </a:r>
            <a:endParaRPr lang="en-US" sz="950" dirty="0"/>
          </a:p>
        </p:txBody>
      </p:sp>
      <p:sp>
        <p:nvSpPr>
          <p:cNvPr id="25" name="Text 21"/>
          <p:cNvSpPr/>
          <p:nvPr/>
        </p:nvSpPr>
        <p:spPr>
          <a:xfrm>
            <a:off x="7406640" y="2496312"/>
            <a:ext cx="1280160" cy="411480"/>
          </a:xfrm>
          <a:prstGeom prst="rect">
            <a:avLst/>
          </a:prstGeom>
          <a:noFill/>
          <a:ln/>
        </p:spPr>
        <p:txBody>
          <a:bodyPr wrap="square" lIns="0" tIns="0" rIns="0" bIns="0" rtlCol="0" anchor="ctr"/>
          <a:lstStyle/>
          <a:p>
            <a:pPr algn="r" indent="0" marL="0">
              <a:buNone/>
            </a:pPr>
            <a:r>
              <a:rPr lang="en-US" sz="1000" dirty="0">
                <a:solidFill>
                  <a:srgbClr val="F0EFEC"/>
                </a:solidFill>
                <a:latin typeface="Cambria" pitchFamily="34" charset="0"/>
                <a:ea typeface="Cambria" pitchFamily="34" charset="-122"/>
                <a:cs typeface="Cambria" pitchFamily="34" charset="-120"/>
              </a:rPr>
              <a:t>44–46 dB</a:t>
            </a:r>
            <a:endParaRPr lang="en-US" sz="1000" dirty="0"/>
          </a:p>
        </p:txBody>
      </p:sp>
      <p:sp>
        <p:nvSpPr>
          <p:cNvPr id="26" name="Text 22"/>
          <p:cNvSpPr/>
          <p:nvPr/>
        </p:nvSpPr>
        <p:spPr>
          <a:xfrm>
            <a:off x="4956048" y="3026664"/>
            <a:ext cx="2423160" cy="411480"/>
          </a:xfrm>
          <a:prstGeom prst="rect">
            <a:avLst/>
          </a:prstGeom>
          <a:noFill/>
          <a:ln/>
        </p:spPr>
        <p:txBody>
          <a:bodyPr wrap="square" lIns="0" tIns="0" rIns="0" bIns="0" rtlCol="0" anchor="ctr"/>
          <a:lstStyle/>
          <a:p>
            <a:pPr indent="0" marL="0">
              <a:buNone/>
            </a:pPr>
            <a:r>
              <a:rPr lang="en-US" sz="950" dirty="0">
                <a:solidFill>
                  <a:srgbClr val="F0EFEC"/>
                </a:solidFill>
                <a:latin typeface="Calibri" pitchFamily="34" charset="0"/>
                <a:ea typeface="Calibri" pitchFamily="34" charset="-122"/>
                <a:cs typeface="Calibri" pitchFamily="34" charset="-120"/>
              </a:rPr>
              <a:t>Drywall dupla chapa + lã</a:t>
            </a:r>
            <a:endParaRPr lang="en-US" sz="950" dirty="0"/>
          </a:p>
        </p:txBody>
      </p:sp>
      <p:sp>
        <p:nvSpPr>
          <p:cNvPr id="27" name="Text 23"/>
          <p:cNvSpPr/>
          <p:nvPr/>
        </p:nvSpPr>
        <p:spPr>
          <a:xfrm>
            <a:off x="7406640" y="3026664"/>
            <a:ext cx="1280160" cy="411480"/>
          </a:xfrm>
          <a:prstGeom prst="rect">
            <a:avLst/>
          </a:prstGeom>
          <a:noFill/>
          <a:ln/>
        </p:spPr>
        <p:txBody>
          <a:bodyPr wrap="square" lIns="0" tIns="0" rIns="0" bIns="0" rtlCol="0" anchor="ctr"/>
          <a:lstStyle/>
          <a:p>
            <a:pPr algn="r" indent="0" marL="0">
              <a:buNone/>
            </a:pPr>
            <a:r>
              <a:rPr lang="en-US" sz="1000" b="1" dirty="0">
                <a:solidFill>
                  <a:srgbClr val="C8A84B"/>
                </a:solidFill>
                <a:latin typeface="Cambria" pitchFamily="34" charset="0"/>
                <a:ea typeface="Cambria" pitchFamily="34" charset="-122"/>
                <a:cs typeface="Cambria" pitchFamily="34" charset="-120"/>
              </a:rPr>
              <a:t>50–52 dB</a:t>
            </a:r>
            <a:endParaRPr lang="en-US" sz="1000" dirty="0"/>
          </a:p>
        </p:txBody>
      </p:sp>
      <p:sp>
        <p:nvSpPr>
          <p:cNvPr id="28" name="Text 24"/>
          <p:cNvSpPr/>
          <p:nvPr/>
        </p:nvSpPr>
        <p:spPr>
          <a:xfrm>
            <a:off x="4956048" y="3557016"/>
            <a:ext cx="2423160" cy="411480"/>
          </a:xfrm>
          <a:prstGeom prst="rect">
            <a:avLst/>
          </a:prstGeom>
          <a:noFill/>
          <a:ln/>
        </p:spPr>
        <p:txBody>
          <a:bodyPr wrap="square" lIns="0" tIns="0" rIns="0" bIns="0" rtlCol="0" anchor="ctr"/>
          <a:lstStyle/>
          <a:p>
            <a:pPr indent="0" marL="0">
              <a:buNone/>
            </a:pPr>
            <a:r>
              <a:rPr lang="en-US" sz="950" dirty="0">
                <a:solidFill>
                  <a:srgbClr val="F0EFEC"/>
                </a:solidFill>
                <a:latin typeface="Calibri" pitchFamily="34" charset="0"/>
                <a:ea typeface="Calibri" pitchFamily="34" charset="-122"/>
                <a:cs typeface="Calibri" pitchFamily="34" charset="-120"/>
              </a:rPr>
              <a:t>Drywall dupla estrutura + lã</a:t>
            </a:r>
            <a:endParaRPr lang="en-US" sz="950" dirty="0"/>
          </a:p>
        </p:txBody>
      </p:sp>
      <p:sp>
        <p:nvSpPr>
          <p:cNvPr id="29" name="Text 25"/>
          <p:cNvSpPr/>
          <p:nvPr/>
        </p:nvSpPr>
        <p:spPr>
          <a:xfrm>
            <a:off x="7406640" y="3557016"/>
            <a:ext cx="1280160" cy="411480"/>
          </a:xfrm>
          <a:prstGeom prst="rect">
            <a:avLst/>
          </a:prstGeom>
          <a:noFill/>
          <a:ln/>
        </p:spPr>
        <p:txBody>
          <a:bodyPr wrap="square" lIns="0" tIns="0" rIns="0" bIns="0" rtlCol="0" anchor="ctr"/>
          <a:lstStyle/>
          <a:p>
            <a:pPr algn="r" indent="0" marL="0">
              <a:buNone/>
            </a:pPr>
            <a:r>
              <a:rPr lang="en-US" sz="1000" b="1" dirty="0">
                <a:solidFill>
                  <a:srgbClr val="C8A84B"/>
                </a:solidFill>
                <a:latin typeface="Cambria" pitchFamily="34" charset="0"/>
                <a:ea typeface="Cambria" pitchFamily="34" charset="-122"/>
                <a:cs typeface="Cambria" pitchFamily="34" charset="-120"/>
              </a:rPr>
              <a:t>59–61 dB</a:t>
            </a:r>
            <a:endParaRPr lang="en-US" sz="1000" dirty="0"/>
          </a:p>
        </p:txBody>
      </p:sp>
      <p:sp>
        <p:nvSpPr>
          <p:cNvPr id="30" name="Text 26"/>
          <p:cNvSpPr/>
          <p:nvPr/>
        </p:nvSpPr>
        <p:spPr>
          <a:xfrm>
            <a:off x="4956048" y="4114800"/>
            <a:ext cx="3749040" cy="548640"/>
          </a:xfrm>
          <a:prstGeom prst="rect">
            <a:avLst/>
          </a:prstGeom>
          <a:noFill/>
          <a:ln/>
        </p:spPr>
        <p:txBody>
          <a:bodyPr wrap="square" lIns="0" tIns="0" rIns="0" bIns="0" rtlCol="0" anchor="ctr"/>
          <a:lstStyle/>
          <a:p>
            <a:pPr indent="0" marL="0">
              <a:buNone/>
            </a:pPr>
            <a:r>
              <a:rPr lang="en-US" sz="800" b="1" dirty="0">
                <a:solidFill>
                  <a:srgbClr val="E8B84B"/>
                </a:solidFill>
                <a:latin typeface="Calibri" pitchFamily="34" charset="0"/>
                <a:ea typeface="Calibri" pitchFamily="34" charset="-122"/>
                <a:cs typeface="Calibri" pitchFamily="34" charset="-120"/>
              </a:rPr>
              <a:t>DnT,w mín. entre apt com dorm. (NBR 15575): ≥ 45 dB</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3"/>
        </a:solidFill>
      </p:bgPr>
    </p:bg>
    <p:spTree>
      <p:nvGrpSpPr>
        <p:cNvPr id="1" name=""/>
        <p:cNvGrpSpPr/>
        <p:nvPr/>
      </p:nvGrpSpPr>
      <p:grpSpPr>
        <a:xfrm>
          <a:off x="0" y="0"/>
          <a:ext cx="0" cy="0"/>
          <a:chOff x="0" y="0"/>
          <a:chExt cx="0" cy="0"/>
        </a:xfrm>
      </p:grpSpPr>
      <p:sp>
        <p:nvSpPr>
          <p:cNvPr id="2" name="Text 0"/>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666666"/>
                </a:solidFill>
              </a:rPr>
              <a:t>6 / 12</a:t>
            </a:r>
            <a:endParaRPr lang="en-US" sz="900" dirty="0"/>
          </a:p>
        </p:txBody>
      </p:sp>
      <p:sp>
        <p:nvSpPr>
          <p:cNvPr id="3" name="Text 1"/>
          <p:cNvSpPr/>
          <p:nvPr/>
        </p:nvSpPr>
        <p:spPr>
          <a:xfrm>
            <a:off x="457200" y="201168"/>
            <a:ext cx="8229600" cy="438912"/>
          </a:xfrm>
          <a:prstGeom prst="rect">
            <a:avLst/>
          </a:prstGeom>
          <a:noFill/>
          <a:ln/>
        </p:spPr>
        <p:txBody>
          <a:bodyPr wrap="square" lIns="0" tIns="0" rIns="0" bIns="0" rtlCol="0" anchor="ctr"/>
          <a:lstStyle/>
          <a:p>
            <a:pPr indent="0" marL="0">
              <a:buNone/>
            </a:pPr>
            <a:r>
              <a:rPr lang="en-US" sz="2200" b="1" dirty="0">
                <a:solidFill>
                  <a:srgbClr val="1E1E1E"/>
                </a:solidFill>
                <a:latin typeface="Cambria" pitchFamily="34" charset="0"/>
                <a:ea typeface="Cambria" pitchFamily="34" charset="-122"/>
                <a:cs typeface="Cambria" pitchFamily="34" charset="-120"/>
              </a:rPr>
              <a:t>COMPARATIVO TÉCNICO — MATRIZ DE CRITÉRIOS</a:t>
            </a:r>
            <a:endParaRPr lang="en-US" sz="2200" dirty="0"/>
          </a:p>
        </p:txBody>
      </p:sp>
      <p:sp>
        <p:nvSpPr>
          <p:cNvPr id="4" name="Shape 2"/>
          <p:cNvSpPr/>
          <p:nvPr/>
        </p:nvSpPr>
        <p:spPr>
          <a:xfrm>
            <a:off x="457200" y="749808"/>
            <a:ext cx="1010412" cy="256032"/>
          </a:xfrm>
          <a:prstGeom prst="roundRect">
            <a:avLst>
              <a:gd name="adj" fmla="val 14286"/>
            </a:avLst>
          </a:prstGeom>
          <a:solidFill>
            <a:srgbClr val="C8A84B"/>
          </a:solidFill>
          <a:ln/>
        </p:spPr>
      </p:sp>
      <p:sp>
        <p:nvSpPr>
          <p:cNvPr id="5" name="Text 3"/>
          <p:cNvSpPr/>
          <p:nvPr/>
        </p:nvSpPr>
        <p:spPr>
          <a:xfrm>
            <a:off x="457200" y="758952"/>
            <a:ext cx="1010412" cy="246888"/>
          </a:xfrm>
          <a:prstGeom prst="rect">
            <a:avLst/>
          </a:prstGeom>
          <a:noFill/>
          <a:ln/>
        </p:spPr>
        <p:txBody>
          <a:bodyPr wrap="square" lIns="0" tIns="0" rIns="0" bIns="0" rtlCol="0" anchor="ctr"/>
          <a:lstStyle/>
          <a:p>
            <a:pPr algn="ctr" indent="0" marL="0">
              <a:buNone/>
            </a:pPr>
            <a:r>
              <a:rPr lang="en-US" sz="900" b="1" dirty="0">
                <a:solidFill>
                  <a:srgbClr val="1E1E1E"/>
                </a:solidFill>
              </a:rPr>
              <a:t>DECISÃO</a:t>
            </a:r>
            <a:endParaRPr lang="en-US" sz="900" dirty="0"/>
          </a:p>
        </p:txBody>
      </p:sp>
      <p:graphicFrame>
        <p:nvGraphicFramePr>
          <p:cNvPr id="6" name="Chart 0" descr=""/>
          <p:cNvGraphicFramePr/>
          <p:nvPr/>
        </p:nvGraphicFramePr>
        <p:xfrm>
          <a:off x="320040" y="987552"/>
          <a:ext cx="4572000" cy="38404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120640" y="987552"/>
            <a:ext cx="3749040" cy="530352"/>
          </a:xfrm>
          <a:prstGeom prst="roundRect">
            <a:avLst>
              <a:gd name="adj" fmla="val 10345"/>
            </a:avLst>
          </a:prstGeom>
          <a:solidFill>
            <a:srgbClr val="FFFFFF"/>
          </a:solidFill>
          <a:ln/>
          <a:effectLst>
            <a:outerShdw sx="100000" sy="100000" kx="0" ky="0" algn="bl" rotWithShape="0" blurRad="50800" dist="25400" dir="2700000">
              <a:srgbClr val="000000">
                <a:alpha val="12000"/>
              </a:srgbClr>
            </a:outerShdw>
          </a:effectLst>
        </p:spPr>
      </p:sp>
      <p:sp>
        <p:nvSpPr>
          <p:cNvPr id="8" name="Text 5"/>
          <p:cNvSpPr/>
          <p:nvPr/>
        </p:nvSpPr>
        <p:spPr>
          <a:xfrm>
            <a:off x="5230368" y="1042416"/>
            <a:ext cx="1645920" cy="384048"/>
          </a:xfrm>
          <a:prstGeom prst="rect">
            <a:avLst/>
          </a:prstGeom>
          <a:noFill/>
          <a:ln/>
        </p:spPr>
        <p:txBody>
          <a:bodyPr wrap="square" lIns="0" tIns="0" rIns="0" bIns="0" rtlCol="0" anchor="ctr"/>
          <a:lstStyle/>
          <a:p>
            <a:pPr indent="0" marL="0">
              <a:buNone/>
            </a:pPr>
            <a:r>
              <a:rPr lang="en-US" sz="850" dirty="0">
                <a:solidFill>
                  <a:srgbClr val="3A3A3A"/>
                </a:solidFill>
                <a:latin typeface="Calibri" pitchFamily="34" charset="0"/>
                <a:ea typeface="Calibri" pitchFamily="34" charset="-122"/>
                <a:cs typeface="Calibri" pitchFamily="34" charset="-120"/>
              </a:rPr>
              <a:t>Peso e carga estrutural</a:t>
            </a:r>
            <a:endParaRPr lang="en-US" sz="850" dirty="0"/>
          </a:p>
        </p:txBody>
      </p:sp>
      <p:sp>
        <p:nvSpPr>
          <p:cNvPr id="9" name="Text 6"/>
          <p:cNvSpPr/>
          <p:nvPr/>
        </p:nvSpPr>
        <p:spPr>
          <a:xfrm>
            <a:off x="6903720" y="1042416"/>
            <a:ext cx="914400" cy="384048"/>
          </a:xfrm>
          <a:prstGeom prst="rect">
            <a:avLst/>
          </a:prstGeom>
          <a:noFill/>
          <a:ln/>
        </p:spPr>
        <p:txBody>
          <a:bodyPr wrap="square" lIns="0" tIns="0" rIns="0" bIns="0"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a:t>
            </a:r>
            <a:endParaRPr lang="en-US" sz="900" dirty="0"/>
          </a:p>
        </p:txBody>
      </p:sp>
      <p:sp>
        <p:nvSpPr>
          <p:cNvPr id="10" name="Text 7"/>
          <p:cNvSpPr/>
          <p:nvPr/>
        </p:nvSpPr>
        <p:spPr>
          <a:xfrm>
            <a:off x="7818120" y="1042416"/>
            <a:ext cx="960120" cy="384048"/>
          </a:xfrm>
          <a:prstGeom prst="rect">
            <a:avLst/>
          </a:prstGeom>
          <a:noFill/>
          <a:ln/>
        </p:spPr>
        <p:txBody>
          <a:bodyPr wrap="square" lIns="0" tIns="0" rIns="0" bIns="0" rtlCol="0" anchor="ctr"/>
          <a:lstStyle/>
          <a:p>
            <a:pPr algn="ctr" indent="0" marL="0">
              <a:buNone/>
            </a:pPr>
            <a:r>
              <a:rPr lang="en-US" sz="900" b="1" dirty="0">
                <a:solidFill>
                  <a:srgbClr val="C8A84B"/>
                </a:solidFill>
                <a:latin typeface="Cambria" pitchFamily="34" charset="0"/>
                <a:ea typeface="Cambria" pitchFamily="34" charset="-122"/>
                <a:cs typeface="Cambria" pitchFamily="34" charset="-120"/>
              </a:rPr>
              <a:t>★★★★★</a:t>
            </a:r>
            <a:endParaRPr lang="en-US" sz="900" dirty="0"/>
          </a:p>
        </p:txBody>
      </p:sp>
      <p:sp>
        <p:nvSpPr>
          <p:cNvPr id="11" name="Shape 8"/>
          <p:cNvSpPr/>
          <p:nvPr/>
        </p:nvSpPr>
        <p:spPr>
          <a:xfrm>
            <a:off x="5120640" y="1609344"/>
            <a:ext cx="3749040" cy="530352"/>
          </a:xfrm>
          <a:prstGeom prst="roundRect">
            <a:avLst>
              <a:gd name="adj" fmla="val 10345"/>
            </a:avLst>
          </a:prstGeom>
          <a:solidFill>
            <a:srgbClr val="F0EFEC"/>
          </a:solidFill>
          <a:ln/>
          <a:effectLst>
            <a:outerShdw sx="100000" sy="100000" kx="0" ky="0" algn="bl" rotWithShape="0" blurRad="50800" dist="25400" dir="2700000">
              <a:srgbClr val="000000">
                <a:alpha val="12000"/>
              </a:srgbClr>
            </a:outerShdw>
          </a:effectLst>
        </p:spPr>
      </p:sp>
      <p:sp>
        <p:nvSpPr>
          <p:cNvPr id="12" name="Text 9"/>
          <p:cNvSpPr/>
          <p:nvPr/>
        </p:nvSpPr>
        <p:spPr>
          <a:xfrm>
            <a:off x="5230368" y="1664208"/>
            <a:ext cx="1645920" cy="384048"/>
          </a:xfrm>
          <a:prstGeom prst="rect">
            <a:avLst/>
          </a:prstGeom>
          <a:noFill/>
          <a:ln/>
        </p:spPr>
        <p:txBody>
          <a:bodyPr wrap="square" lIns="0" tIns="0" rIns="0" bIns="0" rtlCol="0" anchor="ctr"/>
          <a:lstStyle/>
          <a:p>
            <a:pPr indent="0" marL="0">
              <a:buNone/>
            </a:pPr>
            <a:r>
              <a:rPr lang="en-US" sz="850" dirty="0">
                <a:solidFill>
                  <a:srgbClr val="3A3A3A"/>
                </a:solidFill>
                <a:latin typeface="Calibri" pitchFamily="34" charset="0"/>
                <a:ea typeface="Calibri" pitchFamily="34" charset="-122"/>
                <a:cs typeface="Calibri" pitchFamily="34" charset="-120"/>
              </a:rPr>
              <a:t>Área útil / espessura</a:t>
            </a:r>
            <a:endParaRPr lang="en-US" sz="850" dirty="0"/>
          </a:p>
        </p:txBody>
      </p:sp>
      <p:sp>
        <p:nvSpPr>
          <p:cNvPr id="13" name="Text 10"/>
          <p:cNvSpPr/>
          <p:nvPr/>
        </p:nvSpPr>
        <p:spPr>
          <a:xfrm>
            <a:off x="6903720" y="1664208"/>
            <a:ext cx="914400" cy="384048"/>
          </a:xfrm>
          <a:prstGeom prst="rect">
            <a:avLst/>
          </a:prstGeom>
          <a:noFill/>
          <a:ln/>
        </p:spPr>
        <p:txBody>
          <a:bodyPr wrap="square" lIns="0" tIns="0" rIns="0" bIns="0"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a:t>
            </a:r>
            <a:endParaRPr lang="en-US" sz="900" dirty="0"/>
          </a:p>
        </p:txBody>
      </p:sp>
      <p:sp>
        <p:nvSpPr>
          <p:cNvPr id="14" name="Text 11"/>
          <p:cNvSpPr/>
          <p:nvPr/>
        </p:nvSpPr>
        <p:spPr>
          <a:xfrm>
            <a:off x="7818120" y="1664208"/>
            <a:ext cx="960120" cy="384048"/>
          </a:xfrm>
          <a:prstGeom prst="rect">
            <a:avLst/>
          </a:prstGeom>
          <a:noFill/>
          <a:ln/>
        </p:spPr>
        <p:txBody>
          <a:bodyPr wrap="square" lIns="0" tIns="0" rIns="0" bIns="0" rtlCol="0" anchor="ctr"/>
          <a:lstStyle/>
          <a:p>
            <a:pPr algn="ctr" indent="0" marL="0">
              <a:buNone/>
            </a:pPr>
            <a:r>
              <a:rPr lang="en-US" sz="900" b="1" dirty="0">
                <a:solidFill>
                  <a:srgbClr val="C8A84B"/>
                </a:solidFill>
                <a:latin typeface="Cambria" pitchFamily="34" charset="0"/>
                <a:ea typeface="Cambria" pitchFamily="34" charset="-122"/>
                <a:cs typeface="Cambria" pitchFamily="34" charset="-120"/>
              </a:rPr>
              <a:t>★★★★★</a:t>
            </a:r>
            <a:endParaRPr lang="en-US" sz="900" dirty="0"/>
          </a:p>
        </p:txBody>
      </p:sp>
      <p:sp>
        <p:nvSpPr>
          <p:cNvPr id="15" name="Shape 12"/>
          <p:cNvSpPr/>
          <p:nvPr/>
        </p:nvSpPr>
        <p:spPr>
          <a:xfrm>
            <a:off x="5120640" y="2231136"/>
            <a:ext cx="3749040" cy="530352"/>
          </a:xfrm>
          <a:prstGeom prst="roundRect">
            <a:avLst>
              <a:gd name="adj" fmla="val 10345"/>
            </a:avLst>
          </a:prstGeom>
          <a:solidFill>
            <a:srgbClr val="FFFFFF"/>
          </a:solidFill>
          <a:ln/>
          <a:effectLst>
            <a:outerShdw sx="100000" sy="100000" kx="0" ky="0" algn="bl" rotWithShape="0" blurRad="50800" dist="25400" dir="2700000">
              <a:srgbClr val="000000">
                <a:alpha val="12000"/>
              </a:srgbClr>
            </a:outerShdw>
          </a:effectLst>
        </p:spPr>
      </p:sp>
      <p:sp>
        <p:nvSpPr>
          <p:cNvPr id="16" name="Text 13"/>
          <p:cNvSpPr/>
          <p:nvPr/>
        </p:nvSpPr>
        <p:spPr>
          <a:xfrm>
            <a:off x="5230368" y="2286000"/>
            <a:ext cx="1645920" cy="384048"/>
          </a:xfrm>
          <a:prstGeom prst="rect">
            <a:avLst/>
          </a:prstGeom>
          <a:noFill/>
          <a:ln/>
        </p:spPr>
        <p:txBody>
          <a:bodyPr wrap="square" lIns="0" tIns="0" rIns="0" bIns="0" rtlCol="0" anchor="ctr"/>
          <a:lstStyle/>
          <a:p>
            <a:pPr indent="0" marL="0">
              <a:buNone/>
            </a:pPr>
            <a:r>
              <a:rPr lang="en-US" sz="850" dirty="0">
                <a:solidFill>
                  <a:srgbClr val="3A3A3A"/>
                </a:solidFill>
                <a:latin typeface="Calibri" pitchFamily="34" charset="0"/>
                <a:ea typeface="Calibri" pitchFamily="34" charset="-122"/>
                <a:cs typeface="Calibri" pitchFamily="34" charset="-120"/>
              </a:rPr>
              <a:t>Velocidade de execução</a:t>
            </a:r>
            <a:endParaRPr lang="en-US" sz="850" dirty="0"/>
          </a:p>
        </p:txBody>
      </p:sp>
      <p:sp>
        <p:nvSpPr>
          <p:cNvPr id="17" name="Text 14"/>
          <p:cNvSpPr/>
          <p:nvPr/>
        </p:nvSpPr>
        <p:spPr>
          <a:xfrm>
            <a:off x="6903720" y="2286000"/>
            <a:ext cx="914400" cy="384048"/>
          </a:xfrm>
          <a:prstGeom prst="rect">
            <a:avLst/>
          </a:prstGeom>
          <a:noFill/>
          <a:ln/>
        </p:spPr>
        <p:txBody>
          <a:bodyPr wrap="square" lIns="0" tIns="0" rIns="0" bIns="0"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a:t>
            </a:r>
            <a:endParaRPr lang="en-US" sz="900" dirty="0"/>
          </a:p>
        </p:txBody>
      </p:sp>
      <p:sp>
        <p:nvSpPr>
          <p:cNvPr id="18" name="Text 15"/>
          <p:cNvSpPr/>
          <p:nvPr/>
        </p:nvSpPr>
        <p:spPr>
          <a:xfrm>
            <a:off x="7818120" y="2286000"/>
            <a:ext cx="960120" cy="384048"/>
          </a:xfrm>
          <a:prstGeom prst="rect">
            <a:avLst/>
          </a:prstGeom>
          <a:noFill/>
          <a:ln/>
        </p:spPr>
        <p:txBody>
          <a:bodyPr wrap="square" lIns="0" tIns="0" rIns="0" bIns="0" rtlCol="0" anchor="ctr"/>
          <a:lstStyle/>
          <a:p>
            <a:pPr algn="ctr" indent="0" marL="0">
              <a:buNone/>
            </a:pPr>
            <a:r>
              <a:rPr lang="en-US" sz="900" b="1" dirty="0">
                <a:solidFill>
                  <a:srgbClr val="C8A84B"/>
                </a:solidFill>
                <a:latin typeface="Cambria" pitchFamily="34" charset="0"/>
                <a:ea typeface="Cambria" pitchFamily="34" charset="-122"/>
                <a:cs typeface="Cambria" pitchFamily="34" charset="-120"/>
              </a:rPr>
              <a:t>★★★★★</a:t>
            </a:r>
            <a:endParaRPr lang="en-US" sz="900" dirty="0"/>
          </a:p>
        </p:txBody>
      </p:sp>
      <p:sp>
        <p:nvSpPr>
          <p:cNvPr id="19" name="Shape 16"/>
          <p:cNvSpPr/>
          <p:nvPr/>
        </p:nvSpPr>
        <p:spPr>
          <a:xfrm>
            <a:off x="5120640" y="2852928"/>
            <a:ext cx="3749040" cy="530352"/>
          </a:xfrm>
          <a:prstGeom prst="roundRect">
            <a:avLst>
              <a:gd name="adj" fmla="val 10345"/>
            </a:avLst>
          </a:prstGeom>
          <a:solidFill>
            <a:srgbClr val="F0EFEC"/>
          </a:solidFill>
          <a:ln/>
          <a:effectLst>
            <a:outerShdw sx="100000" sy="100000" kx="0" ky="0" algn="bl" rotWithShape="0" blurRad="50800" dist="25400" dir="2700000">
              <a:srgbClr val="000000">
                <a:alpha val="12000"/>
              </a:srgbClr>
            </a:outerShdw>
          </a:effectLst>
        </p:spPr>
      </p:sp>
      <p:sp>
        <p:nvSpPr>
          <p:cNvPr id="20" name="Text 17"/>
          <p:cNvSpPr/>
          <p:nvPr/>
        </p:nvSpPr>
        <p:spPr>
          <a:xfrm>
            <a:off x="5230368" y="2907792"/>
            <a:ext cx="1645920" cy="384048"/>
          </a:xfrm>
          <a:prstGeom prst="rect">
            <a:avLst/>
          </a:prstGeom>
          <a:noFill/>
          <a:ln/>
        </p:spPr>
        <p:txBody>
          <a:bodyPr wrap="square" lIns="0" tIns="0" rIns="0" bIns="0" rtlCol="0" anchor="ctr"/>
          <a:lstStyle/>
          <a:p>
            <a:pPr indent="0" marL="0">
              <a:buNone/>
            </a:pPr>
            <a:r>
              <a:rPr lang="en-US" sz="850" dirty="0">
                <a:solidFill>
                  <a:srgbClr val="3A3A3A"/>
                </a:solidFill>
                <a:latin typeface="Calibri" pitchFamily="34" charset="0"/>
                <a:ea typeface="Calibri" pitchFamily="34" charset="-122"/>
                <a:cs typeface="Calibri" pitchFamily="34" charset="-120"/>
              </a:rPr>
              <a:t>Desempenho acústico</a:t>
            </a:r>
            <a:endParaRPr lang="en-US" sz="850" dirty="0"/>
          </a:p>
        </p:txBody>
      </p:sp>
      <p:sp>
        <p:nvSpPr>
          <p:cNvPr id="21" name="Text 18"/>
          <p:cNvSpPr/>
          <p:nvPr/>
        </p:nvSpPr>
        <p:spPr>
          <a:xfrm>
            <a:off x="6903720" y="2907792"/>
            <a:ext cx="914400" cy="384048"/>
          </a:xfrm>
          <a:prstGeom prst="rect">
            <a:avLst/>
          </a:prstGeom>
          <a:noFill/>
          <a:ln/>
        </p:spPr>
        <p:txBody>
          <a:bodyPr wrap="square" lIns="0" tIns="0" rIns="0" bIns="0"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a:t>
            </a:r>
            <a:endParaRPr lang="en-US" sz="900" dirty="0"/>
          </a:p>
        </p:txBody>
      </p:sp>
      <p:sp>
        <p:nvSpPr>
          <p:cNvPr id="22" name="Text 19"/>
          <p:cNvSpPr/>
          <p:nvPr/>
        </p:nvSpPr>
        <p:spPr>
          <a:xfrm>
            <a:off x="7818120" y="2907792"/>
            <a:ext cx="960120" cy="384048"/>
          </a:xfrm>
          <a:prstGeom prst="rect">
            <a:avLst/>
          </a:prstGeom>
          <a:noFill/>
          <a:ln/>
        </p:spPr>
        <p:txBody>
          <a:bodyPr wrap="square" lIns="0" tIns="0" rIns="0" bIns="0" rtlCol="0" anchor="ctr"/>
          <a:lstStyle/>
          <a:p>
            <a:pPr algn="ctr" indent="0" marL="0">
              <a:buNone/>
            </a:pPr>
            <a:r>
              <a:rPr lang="en-US" sz="900" b="1" dirty="0">
                <a:solidFill>
                  <a:srgbClr val="C8A84B"/>
                </a:solidFill>
                <a:latin typeface="Cambria" pitchFamily="34" charset="0"/>
                <a:ea typeface="Cambria" pitchFamily="34" charset="-122"/>
                <a:cs typeface="Cambria" pitchFamily="34" charset="-120"/>
              </a:rPr>
              <a:t>★★★★☆</a:t>
            </a:r>
            <a:endParaRPr lang="en-US" sz="900" dirty="0"/>
          </a:p>
        </p:txBody>
      </p:sp>
      <p:sp>
        <p:nvSpPr>
          <p:cNvPr id="23" name="Shape 20"/>
          <p:cNvSpPr/>
          <p:nvPr/>
        </p:nvSpPr>
        <p:spPr>
          <a:xfrm>
            <a:off x="5120640" y="3474720"/>
            <a:ext cx="3749040" cy="530352"/>
          </a:xfrm>
          <a:prstGeom prst="roundRect">
            <a:avLst>
              <a:gd name="adj" fmla="val 10345"/>
            </a:avLst>
          </a:prstGeom>
          <a:solidFill>
            <a:srgbClr val="FFFFFF"/>
          </a:solidFill>
          <a:ln/>
          <a:effectLst>
            <a:outerShdw sx="100000" sy="100000" kx="0" ky="0" algn="bl" rotWithShape="0" blurRad="50800" dist="25400" dir="2700000">
              <a:srgbClr val="000000">
                <a:alpha val="12000"/>
              </a:srgbClr>
            </a:outerShdw>
          </a:effectLst>
        </p:spPr>
      </p:sp>
      <p:sp>
        <p:nvSpPr>
          <p:cNvPr id="24" name="Text 21"/>
          <p:cNvSpPr/>
          <p:nvPr/>
        </p:nvSpPr>
        <p:spPr>
          <a:xfrm>
            <a:off x="5230368" y="3529584"/>
            <a:ext cx="1645920" cy="384048"/>
          </a:xfrm>
          <a:prstGeom prst="rect">
            <a:avLst/>
          </a:prstGeom>
          <a:noFill/>
          <a:ln/>
        </p:spPr>
        <p:txBody>
          <a:bodyPr wrap="square" lIns="0" tIns="0" rIns="0" bIns="0" rtlCol="0" anchor="ctr"/>
          <a:lstStyle/>
          <a:p>
            <a:pPr indent="0" marL="0">
              <a:buNone/>
            </a:pPr>
            <a:r>
              <a:rPr lang="en-US" sz="850" dirty="0">
                <a:solidFill>
                  <a:srgbClr val="3A3A3A"/>
                </a:solidFill>
                <a:latin typeface="Calibri" pitchFamily="34" charset="0"/>
                <a:ea typeface="Calibri" pitchFamily="34" charset="-122"/>
                <a:cs typeface="Calibri" pitchFamily="34" charset="-120"/>
              </a:rPr>
              <a:t>Custo total (dir.+indir.)</a:t>
            </a:r>
            <a:endParaRPr lang="en-US" sz="850" dirty="0"/>
          </a:p>
        </p:txBody>
      </p:sp>
      <p:sp>
        <p:nvSpPr>
          <p:cNvPr id="25" name="Text 22"/>
          <p:cNvSpPr/>
          <p:nvPr/>
        </p:nvSpPr>
        <p:spPr>
          <a:xfrm>
            <a:off x="6903720" y="3529584"/>
            <a:ext cx="914400" cy="384048"/>
          </a:xfrm>
          <a:prstGeom prst="rect">
            <a:avLst/>
          </a:prstGeom>
          <a:noFill/>
          <a:ln/>
        </p:spPr>
        <p:txBody>
          <a:bodyPr wrap="square" lIns="0" tIns="0" rIns="0" bIns="0"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a:t>
            </a:r>
            <a:endParaRPr lang="en-US" sz="900" dirty="0"/>
          </a:p>
        </p:txBody>
      </p:sp>
      <p:sp>
        <p:nvSpPr>
          <p:cNvPr id="26" name="Text 23"/>
          <p:cNvSpPr/>
          <p:nvPr/>
        </p:nvSpPr>
        <p:spPr>
          <a:xfrm>
            <a:off x="7818120" y="3529584"/>
            <a:ext cx="960120" cy="384048"/>
          </a:xfrm>
          <a:prstGeom prst="rect">
            <a:avLst/>
          </a:prstGeom>
          <a:noFill/>
          <a:ln/>
        </p:spPr>
        <p:txBody>
          <a:bodyPr wrap="square" lIns="0" tIns="0" rIns="0" bIns="0" rtlCol="0" anchor="ctr"/>
          <a:lstStyle/>
          <a:p>
            <a:pPr algn="ctr" indent="0" marL="0">
              <a:buNone/>
            </a:pPr>
            <a:r>
              <a:rPr lang="en-US" sz="900" b="1" dirty="0">
                <a:solidFill>
                  <a:srgbClr val="C8A84B"/>
                </a:solidFill>
                <a:latin typeface="Cambria" pitchFamily="34" charset="0"/>
                <a:ea typeface="Cambria" pitchFamily="34" charset="-122"/>
                <a:cs typeface="Cambria" pitchFamily="34" charset="-120"/>
              </a:rPr>
              <a:t>★★★★★</a:t>
            </a:r>
            <a:endParaRPr lang="en-US" sz="900" dirty="0"/>
          </a:p>
        </p:txBody>
      </p:sp>
      <p:sp>
        <p:nvSpPr>
          <p:cNvPr id="27" name="Shape 24"/>
          <p:cNvSpPr/>
          <p:nvPr/>
        </p:nvSpPr>
        <p:spPr>
          <a:xfrm>
            <a:off x="5120640" y="4096512"/>
            <a:ext cx="3749040" cy="530352"/>
          </a:xfrm>
          <a:prstGeom prst="roundRect">
            <a:avLst>
              <a:gd name="adj" fmla="val 10345"/>
            </a:avLst>
          </a:prstGeom>
          <a:solidFill>
            <a:srgbClr val="F0EFEC"/>
          </a:solidFill>
          <a:ln/>
          <a:effectLst>
            <a:outerShdw sx="100000" sy="100000" kx="0" ky="0" algn="bl" rotWithShape="0" blurRad="50800" dist="25400" dir="2700000">
              <a:srgbClr val="000000">
                <a:alpha val="12000"/>
              </a:srgbClr>
            </a:outerShdw>
          </a:effectLst>
        </p:spPr>
      </p:sp>
      <p:sp>
        <p:nvSpPr>
          <p:cNvPr id="28" name="Text 25"/>
          <p:cNvSpPr/>
          <p:nvPr/>
        </p:nvSpPr>
        <p:spPr>
          <a:xfrm>
            <a:off x="5230368" y="4151376"/>
            <a:ext cx="1645920" cy="384048"/>
          </a:xfrm>
          <a:prstGeom prst="rect">
            <a:avLst/>
          </a:prstGeom>
          <a:noFill/>
          <a:ln/>
        </p:spPr>
        <p:txBody>
          <a:bodyPr wrap="square" lIns="0" tIns="0" rIns="0" bIns="0" rtlCol="0" anchor="ctr"/>
          <a:lstStyle/>
          <a:p>
            <a:pPr indent="0" marL="0">
              <a:buNone/>
            </a:pPr>
            <a:r>
              <a:rPr lang="en-US" sz="850" dirty="0">
                <a:solidFill>
                  <a:srgbClr val="3A3A3A"/>
                </a:solidFill>
                <a:latin typeface="Calibri" pitchFamily="34" charset="0"/>
                <a:ea typeface="Calibri" pitchFamily="34" charset="-122"/>
                <a:cs typeface="Calibri" pitchFamily="34" charset="-120"/>
              </a:rPr>
              <a:t>Sustentabilidade</a:t>
            </a:r>
            <a:endParaRPr lang="en-US" sz="850" dirty="0"/>
          </a:p>
        </p:txBody>
      </p:sp>
      <p:sp>
        <p:nvSpPr>
          <p:cNvPr id="29" name="Text 26"/>
          <p:cNvSpPr/>
          <p:nvPr/>
        </p:nvSpPr>
        <p:spPr>
          <a:xfrm>
            <a:off x="6903720" y="4151376"/>
            <a:ext cx="914400" cy="384048"/>
          </a:xfrm>
          <a:prstGeom prst="rect">
            <a:avLst/>
          </a:prstGeom>
          <a:noFill/>
          <a:ln/>
        </p:spPr>
        <p:txBody>
          <a:bodyPr wrap="square" lIns="0" tIns="0" rIns="0" bIns="0"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a:t>
            </a:r>
            <a:endParaRPr lang="en-US" sz="900" dirty="0"/>
          </a:p>
        </p:txBody>
      </p:sp>
      <p:sp>
        <p:nvSpPr>
          <p:cNvPr id="30" name="Text 27"/>
          <p:cNvSpPr/>
          <p:nvPr/>
        </p:nvSpPr>
        <p:spPr>
          <a:xfrm>
            <a:off x="7818120" y="4151376"/>
            <a:ext cx="960120" cy="384048"/>
          </a:xfrm>
          <a:prstGeom prst="rect">
            <a:avLst/>
          </a:prstGeom>
          <a:noFill/>
          <a:ln/>
        </p:spPr>
        <p:txBody>
          <a:bodyPr wrap="square" lIns="0" tIns="0" rIns="0" bIns="0" rtlCol="0" anchor="ctr"/>
          <a:lstStyle/>
          <a:p>
            <a:pPr algn="ctr" indent="0" marL="0">
              <a:buNone/>
            </a:pPr>
            <a:r>
              <a:rPr lang="en-US" sz="900" b="1" dirty="0">
                <a:solidFill>
                  <a:srgbClr val="C8A84B"/>
                </a:solidFill>
                <a:latin typeface="Cambria" pitchFamily="34" charset="0"/>
                <a:ea typeface="Cambria" pitchFamily="34" charset="-122"/>
                <a:cs typeface="Cambria" pitchFamily="34" charset="-120"/>
              </a:rPr>
              <a:t>★★★★☆</a:t>
            </a:r>
            <a:endParaRPr lang="en-US" sz="900" dirty="0"/>
          </a:p>
        </p:txBody>
      </p:sp>
      <p:sp>
        <p:nvSpPr>
          <p:cNvPr id="31" name="Text 28"/>
          <p:cNvSpPr/>
          <p:nvPr/>
        </p:nvSpPr>
        <p:spPr>
          <a:xfrm>
            <a:off x="6903720" y="786384"/>
            <a:ext cx="914400" cy="182880"/>
          </a:xfrm>
          <a:prstGeom prst="rect">
            <a:avLst/>
          </a:prstGeom>
          <a:noFill/>
          <a:ln/>
        </p:spPr>
        <p:txBody>
          <a:bodyPr wrap="square" lIns="0" tIns="0" rIns="0" bIns="0" rtlCol="0" anchor="ctr"/>
          <a:lstStyle/>
          <a:p>
            <a:pPr algn="ctr" indent="0" marL="0">
              <a:buNone/>
            </a:pPr>
            <a:r>
              <a:rPr lang="en-US" sz="700" b="1" dirty="0">
                <a:solidFill>
                  <a:srgbClr val="666666"/>
                </a:solidFill>
                <a:latin typeface="Calibri" pitchFamily="34" charset="0"/>
                <a:ea typeface="Calibri" pitchFamily="34" charset="-122"/>
                <a:cs typeface="Calibri" pitchFamily="34" charset="-120"/>
              </a:rPr>
              <a:t>ALVENARIA</a:t>
            </a:r>
            <a:endParaRPr lang="en-US" sz="700" dirty="0"/>
          </a:p>
        </p:txBody>
      </p:sp>
      <p:sp>
        <p:nvSpPr>
          <p:cNvPr id="32" name="Text 29"/>
          <p:cNvSpPr/>
          <p:nvPr/>
        </p:nvSpPr>
        <p:spPr>
          <a:xfrm>
            <a:off x="7818120" y="786384"/>
            <a:ext cx="960120" cy="182880"/>
          </a:xfrm>
          <a:prstGeom prst="rect">
            <a:avLst/>
          </a:prstGeom>
          <a:noFill/>
          <a:ln/>
        </p:spPr>
        <p:txBody>
          <a:bodyPr wrap="square" lIns="0" tIns="0" rIns="0" bIns="0" rtlCol="0" anchor="ctr"/>
          <a:lstStyle/>
          <a:p>
            <a:pPr algn="ctr" indent="0" marL="0">
              <a:buNone/>
            </a:pPr>
            <a:r>
              <a:rPr lang="en-US" sz="700" b="1" dirty="0">
                <a:solidFill>
                  <a:srgbClr val="C8A84B"/>
                </a:solidFill>
                <a:latin typeface="Calibri" pitchFamily="34" charset="0"/>
                <a:ea typeface="Calibri" pitchFamily="34" charset="-122"/>
                <a:cs typeface="Calibri" pitchFamily="34" charset="-120"/>
              </a:rPr>
              <a:t>DRYWALL</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1E1E"/>
        </a:solidFill>
      </p:bgPr>
    </p:bg>
    <p:spTree>
      <p:nvGrpSpPr>
        <p:cNvPr id="1" name=""/>
        <p:cNvGrpSpPr/>
        <p:nvPr/>
      </p:nvGrpSpPr>
      <p:grpSpPr>
        <a:xfrm>
          <a:off x="0" y="0"/>
          <a:ext cx="0" cy="0"/>
          <a:chOff x="0" y="0"/>
          <a:chExt cx="0" cy="0"/>
        </a:xfrm>
      </p:grpSpPr>
      <p:sp>
        <p:nvSpPr>
          <p:cNvPr id="2" name="Text 0"/>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666666"/>
                </a:solidFill>
              </a:rPr>
              <a:t>7 / 12</a:t>
            </a:r>
            <a:endParaRPr lang="en-US" sz="900" dirty="0"/>
          </a:p>
        </p:txBody>
      </p:sp>
      <p:sp>
        <p:nvSpPr>
          <p:cNvPr id="3" name="Text 1"/>
          <p:cNvSpPr/>
          <p:nvPr/>
        </p:nvSpPr>
        <p:spPr>
          <a:xfrm>
            <a:off x="457200" y="201168"/>
            <a:ext cx="8229600" cy="438912"/>
          </a:xfrm>
          <a:prstGeom prst="rect">
            <a:avLst/>
          </a:prstGeom>
          <a:noFill/>
          <a:ln/>
        </p:spPr>
        <p:txBody>
          <a:bodyPr wrap="square" lIns="0" tIns="0" rIns="0" bIns="0" rtlCol="0" anchor="ctr"/>
          <a:lstStyle/>
          <a:p>
            <a:pPr indent="0" marL="0">
              <a:buNone/>
            </a:pPr>
            <a:r>
              <a:rPr lang="en-US" sz="2200" b="1" dirty="0">
                <a:solidFill>
                  <a:srgbClr val="C8A84B"/>
                </a:solidFill>
                <a:latin typeface="Cambria" pitchFamily="34" charset="0"/>
                <a:ea typeface="Cambria" pitchFamily="34" charset="-122"/>
                <a:cs typeface="Cambria" pitchFamily="34" charset="-120"/>
              </a:rPr>
              <a:t>ESPECIFICAÇÃO TÉCNICA POR AMBIENTE</a:t>
            </a:r>
            <a:endParaRPr lang="en-US" sz="2200" dirty="0"/>
          </a:p>
        </p:txBody>
      </p:sp>
      <p:sp>
        <p:nvSpPr>
          <p:cNvPr id="4" name="Text 2"/>
          <p:cNvSpPr/>
          <p:nvPr/>
        </p:nvSpPr>
        <p:spPr>
          <a:xfrm>
            <a:off x="457200" y="658368"/>
            <a:ext cx="8229600" cy="256032"/>
          </a:xfrm>
          <a:prstGeom prst="rect">
            <a:avLst/>
          </a:prstGeom>
          <a:noFill/>
          <a:ln/>
        </p:spPr>
        <p:txBody>
          <a:bodyPr wrap="square" lIns="0" tIns="0" rIns="0" bIns="0" rtlCol="0" anchor="ctr"/>
          <a:lstStyle/>
          <a:p>
            <a:pPr indent="0" marL="0">
              <a:buNone/>
            </a:pPr>
            <a:r>
              <a:rPr lang="en-US" sz="1000" i="1" dirty="0">
                <a:solidFill>
                  <a:srgbClr val="BBBBBB"/>
                </a:solidFill>
                <a:latin typeface="Calibri" pitchFamily="34" charset="0"/>
                <a:ea typeface="Calibri" pitchFamily="34" charset="-122"/>
                <a:cs typeface="Calibri" pitchFamily="34" charset="-120"/>
              </a:rPr>
              <a:t>Sistema correto para cada função — definido antes da execução</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0040" y="987552"/>
          <a:ext cx="8503920" cy="3886200"/>
        </p:xfrm>
        <a:graphic>
          <a:graphicData uri="http://schemas.openxmlformats.org/drawingml/2006/table">
            <a:tbl>
              <a:tblPr/>
              <a:tblGrid>
                <a:gridCol w="1828800"/>
                <a:gridCol w="2103120"/>
                <a:gridCol w="822960"/>
                <a:gridCol w="1097280"/>
                <a:gridCol w="2651760"/>
              </a:tblGrid>
              <a:tr h="485775">
                <a:tc>
                  <a:txBody>
                    <a:bodyPr/>
                    <a:lstStyle/>
                    <a:p>
                      <a:pPr indent="0" marL="0">
                        <a:buNone/>
                      </a:pPr>
                      <a:r>
                        <a:rPr lang="en-US" sz="850" b="1" dirty="0">
                          <a:solidFill>
                            <a:srgbClr val="C8A84B"/>
                          </a:solidFill>
                        </a:rPr>
                        <a:t>AMBIENTE</a:t>
                      </a:r>
                      <a:endParaRPr lang="en-US" sz="85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2A2A2A"/>
                    </a:solidFill>
                  </a:tcPr>
                </a:tc>
                <a:tc>
                  <a:txBody>
                    <a:bodyPr/>
                    <a:lstStyle/>
                    <a:p>
                      <a:pPr indent="0" marL="0">
                        <a:buNone/>
                      </a:pPr>
                      <a:r>
                        <a:rPr lang="en-US" sz="850" b="1" dirty="0">
                          <a:solidFill>
                            <a:srgbClr val="C8A84B"/>
                          </a:solidFill>
                        </a:rPr>
                        <a:t>SISTEMA</a:t>
                      </a:r>
                      <a:endParaRPr lang="en-US" sz="85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2A2A2A"/>
                    </a:solidFill>
                  </a:tcPr>
                </a:tc>
                <a:tc>
                  <a:txBody>
                    <a:bodyPr/>
                    <a:lstStyle/>
                    <a:p>
                      <a:pPr algn="ctr" indent="0" marL="0">
                        <a:buNone/>
                      </a:pPr>
                      <a:r>
                        <a:rPr lang="en-US" sz="850" b="1" dirty="0">
                          <a:solidFill>
                            <a:srgbClr val="C8A84B"/>
                          </a:solidFill>
                        </a:rPr>
                        <a:t>CHAPA</a:t>
                      </a:r>
                      <a:endParaRPr lang="en-US" sz="85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2A2A2A"/>
                    </a:solidFill>
                  </a:tcPr>
                </a:tc>
                <a:tc>
                  <a:txBody>
                    <a:bodyPr/>
                    <a:lstStyle/>
                    <a:p>
                      <a:pPr algn="ctr" indent="0" marL="0">
                        <a:buNone/>
                      </a:pPr>
                      <a:r>
                        <a:rPr lang="en-US" sz="850" b="1" dirty="0">
                          <a:solidFill>
                            <a:srgbClr val="C8A84B"/>
                          </a:solidFill>
                        </a:rPr>
                        <a:t>EXIGÊNCIA</a:t>
                      </a:r>
                      <a:endParaRPr lang="en-US" sz="85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2A2A2A"/>
                    </a:solidFill>
                  </a:tcPr>
                </a:tc>
                <a:tc>
                  <a:txBody>
                    <a:bodyPr/>
                    <a:lstStyle/>
                    <a:p>
                      <a:pPr indent="0" marL="0">
                        <a:buNone/>
                      </a:pPr>
                      <a:r>
                        <a:rPr lang="en-US" sz="850" b="1" dirty="0">
                          <a:solidFill>
                            <a:srgbClr val="C8A84B"/>
                          </a:solidFill>
                        </a:rPr>
                        <a:t>ATENÇÃO</a:t>
                      </a:r>
                      <a:endParaRPr lang="en-US" sz="85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2A2A2A"/>
                    </a:solidFill>
                  </a:tcPr>
                </a:tc>
              </a:tr>
              <a:tr h="485775">
                <a:tc>
                  <a:txBody>
                    <a:bodyPr/>
                    <a:lstStyle/>
                    <a:p>
                      <a:pPr indent="0" marL="0">
                        <a:buNone/>
                      </a:pPr>
                      <a:r>
                        <a:rPr lang="en-US" sz="900" b="1" dirty="0">
                          <a:solidFill>
                            <a:srgbClr val="F0EFEC"/>
                          </a:solidFill>
                        </a:rPr>
                        <a:t>Quartos / Dormitórios</a:t>
                      </a:r>
                      <a:endParaRPr lang="en-US" sz="90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1A1A1A"/>
                    </a:solidFill>
                  </a:tcPr>
                </a:tc>
                <a:tc>
                  <a:txBody>
                    <a:bodyPr/>
                    <a:lstStyle/>
                    <a:p>
                      <a:pPr indent="0" marL="0">
                        <a:buNone/>
                      </a:pPr>
                      <a:r>
                        <a:rPr lang="en-US" sz="850" dirty="0">
                          <a:solidFill>
                            <a:srgbClr val="F0EFEC"/>
                          </a:solidFill>
                        </a:rPr>
                        <a:t>95mm ST + Lã PET 50mm</a:t>
                      </a:r>
                      <a:endParaRPr lang="en-US" sz="85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1A1A1A"/>
                    </a:solidFill>
                  </a:tcPr>
                </a:tc>
                <a:tc>
                  <a:txBody>
                    <a:bodyPr/>
                    <a:lstStyle/>
                    <a:p>
                      <a:pPr algn="ctr" indent="0" marL="0">
                        <a:buNone/>
                      </a:pPr>
                      <a:r>
                        <a:rPr lang="en-US" sz="900" b="1" dirty="0">
                          <a:solidFill>
                            <a:srgbClr val="C8A84B"/>
                          </a:solidFill>
                        </a:rPr>
                        <a:t>ST</a:t>
                      </a:r>
                      <a:endParaRPr lang="en-US" sz="90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1A1A1A"/>
                    </a:solidFill>
                  </a:tcPr>
                </a:tc>
                <a:tc>
                  <a:txBody>
                    <a:bodyPr/>
                    <a:lstStyle/>
                    <a:p>
                      <a:pPr algn="ctr" indent="0" marL="0">
                        <a:buNone/>
                      </a:pPr>
                      <a:r>
                        <a:rPr lang="en-US" sz="850" dirty="0">
                          <a:solidFill>
                            <a:srgbClr val="E8B84B"/>
                          </a:solidFill>
                        </a:rPr>
                        <a:t>Rw 44–46 dB</a:t>
                      </a:r>
                      <a:endParaRPr lang="en-US" sz="85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1A1A1A"/>
                    </a:solidFill>
                  </a:tcPr>
                </a:tc>
                <a:tc>
                  <a:txBody>
                    <a:bodyPr/>
                    <a:lstStyle/>
                    <a:p>
                      <a:pPr indent="0" marL="0">
                        <a:buNone/>
                      </a:pPr>
                      <a:r>
                        <a:rPr lang="en-US" sz="800" i="1" dirty="0">
                          <a:solidFill>
                            <a:srgbClr val="BBBBBB"/>
                          </a:solidFill>
                        </a:rPr>
                        <a:t>Reforço p/ TV e cabeceira</a:t>
                      </a:r>
                      <a:endParaRPr lang="en-US" sz="80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1A1A1A"/>
                    </a:solidFill>
                  </a:tcPr>
                </a:tc>
              </a:tr>
              <a:tr h="485775">
                <a:tc>
                  <a:txBody>
                    <a:bodyPr/>
                    <a:lstStyle/>
                    <a:p>
                      <a:pPr indent="0" marL="0">
                        <a:buNone/>
                      </a:pPr>
                      <a:r>
                        <a:rPr lang="en-US" sz="900" b="1" dirty="0">
                          <a:solidFill>
                            <a:srgbClr val="F0EFEC"/>
                          </a:solidFill>
                        </a:rPr>
                        <a:t>Suítes (face banheiro)</a:t>
                      </a:r>
                      <a:endParaRPr lang="en-US" sz="90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242424"/>
                    </a:solidFill>
                  </a:tcPr>
                </a:tc>
                <a:tc>
                  <a:txBody>
                    <a:bodyPr/>
                    <a:lstStyle/>
                    <a:p>
                      <a:pPr indent="0" marL="0">
                        <a:buNone/>
                      </a:pPr>
                      <a:r>
                        <a:rPr lang="en-US" sz="850" dirty="0">
                          <a:solidFill>
                            <a:srgbClr val="F0EFEC"/>
                          </a:solidFill>
                        </a:rPr>
                        <a:t>120mm Dupla Chapa + Lã</a:t>
                      </a:r>
                      <a:endParaRPr lang="en-US" sz="85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242424"/>
                    </a:solidFill>
                  </a:tcPr>
                </a:tc>
                <a:tc>
                  <a:txBody>
                    <a:bodyPr/>
                    <a:lstStyle/>
                    <a:p>
                      <a:pPr algn="ctr" indent="0" marL="0">
                        <a:buNone/>
                      </a:pPr>
                      <a:r>
                        <a:rPr lang="en-US" sz="900" b="1" dirty="0">
                          <a:solidFill>
                            <a:srgbClr val="C8A84B"/>
                          </a:solidFill>
                        </a:rPr>
                        <a:t>ST+RU</a:t>
                      </a:r>
                      <a:endParaRPr lang="en-US" sz="90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242424"/>
                    </a:solidFill>
                  </a:tcPr>
                </a:tc>
                <a:tc>
                  <a:txBody>
                    <a:bodyPr/>
                    <a:lstStyle/>
                    <a:p>
                      <a:pPr algn="ctr" indent="0" marL="0">
                        <a:buNone/>
                      </a:pPr>
                      <a:r>
                        <a:rPr lang="en-US" sz="850" dirty="0">
                          <a:solidFill>
                            <a:srgbClr val="E8B84B"/>
                          </a:solidFill>
                        </a:rPr>
                        <a:t>Rw 50–52 dB</a:t>
                      </a:r>
                      <a:endParaRPr lang="en-US" sz="85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242424"/>
                    </a:solidFill>
                  </a:tcPr>
                </a:tc>
                <a:tc>
                  <a:txBody>
                    <a:bodyPr/>
                    <a:lstStyle/>
                    <a:p>
                      <a:pPr indent="0" marL="0">
                        <a:buNone/>
                      </a:pPr>
                      <a:r>
                        <a:rPr lang="en-US" sz="800" i="1" dirty="0">
                          <a:solidFill>
                            <a:srgbClr val="BBBBBB"/>
                          </a:solidFill>
                        </a:rPr>
                        <a:t>RU obrigatório no banheiro</a:t>
                      </a:r>
                      <a:endParaRPr lang="en-US" sz="80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242424"/>
                    </a:solidFill>
                  </a:tcPr>
                </a:tc>
              </a:tr>
              <a:tr h="485775">
                <a:tc>
                  <a:txBody>
                    <a:bodyPr/>
                    <a:lstStyle/>
                    <a:p>
                      <a:pPr indent="0" marL="0">
                        <a:buNone/>
                      </a:pPr>
                      <a:r>
                        <a:rPr lang="en-US" sz="900" b="1" dirty="0">
                          <a:solidFill>
                            <a:srgbClr val="F0EFEC"/>
                          </a:solidFill>
                        </a:rPr>
                        <a:t>Sala de estar/jantar</a:t>
                      </a:r>
                      <a:endParaRPr lang="en-US" sz="90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1A1A1A"/>
                    </a:solidFill>
                  </a:tcPr>
                </a:tc>
                <a:tc>
                  <a:txBody>
                    <a:bodyPr/>
                    <a:lstStyle/>
                    <a:p>
                      <a:pPr indent="0" marL="0">
                        <a:buNone/>
                      </a:pPr>
                      <a:r>
                        <a:rPr lang="en-US" sz="850" dirty="0">
                          <a:solidFill>
                            <a:srgbClr val="F0EFEC"/>
                          </a:solidFill>
                        </a:rPr>
                        <a:t>95mm ST + Lã PET 50mm</a:t>
                      </a:r>
                      <a:endParaRPr lang="en-US" sz="85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1A1A1A"/>
                    </a:solidFill>
                  </a:tcPr>
                </a:tc>
                <a:tc>
                  <a:txBody>
                    <a:bodyPr/>
                    <a:lstStyle/>
                    <a:p>
                      <a:pPr algn="ctr" indent="0" marL="0">
                        <a:buNone/>
                      </a:pPr>
                      <a:r>
                        <a:rPr lang="en-US" sz="900" b="1" dirty="0">
                          <a:solidFill>
                            <a:srgbClr val="C8A84B"/>
                          </a:solidFill>
                        </a:rPr>
                        <a:t>ST</a:t>
                      </a:r>
                      <a:endParaRPr lang="en-US" sz="90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1A1A1A"/>
                    </a:solidFill>
                  </a:tcPr>
                </a:tc>
                <a:tc>
                  <a:txBody>
                    <a:bodyPr/>
                    <a:lstStyle/>
                    <a:p>
                      <a:pPr algn="ctr" indent="0" marL="0">
                        <a:buNone/>
                      </a:pPr>
                      <a:r>
                        <a:rPr lang="en-US" sz="850" dirty="0">
                          <a:solidFill>
                            <a:srgbClr val="E8B84B"/>
                          </a:solidFill>
                        </a:rPr>
                        <a:t>Conforto</a:t>
                      </a:r>
                      <a:endParaRPr lang="en-US" sz="85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1A1A1A"/>
                    </a:solidFill>
                  </a:tcPr>
                </a:tc>
                <a:tc>
                  <a:txBody>
                    <a:bodyPr/>
                    <a:lstStyle/>
                    <a:p>
                      <a:pPr indent="0" marL="0">
                        <a:buNone/>
                      </a:pPr>
                      <a:r>
                        <a:rPr lang="en-US" sz="800" i="1" dirty="0">
                          <a:solidFill>
                            <a:srgbClr val="BBBBBB"/>
                          </a:solidFill>
                        </a:rPr>
                        <a:t>Reforço p/ painel e TV</a:t>
                      </a:r>
                      <a:endParaRPr lang="en-US" sz="80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1A1A1A"/>
                    </a:solidFill>
                  </a:tcPr>
                </a:tc>
              </a:tr>
              <a:tr h="485775">
                <a:tc>
                  <a:txBody>
                    <a:bodyPr/>
                    <a:lstStyle/>
                    <a:p>
                      <a:pPr indent="0" marL="0">
                        <a:buNone/>
                      </a:pPr>
                      <a:r>
                        <a:rPr lang="en-US" sz="900" b="1" dirty="0">
                          <a:solidFill>
                            <a:srgbClr val="F0EFEC"/>
                          </a:solidFill>
                        </a:rPr>
                        <a:t>Banheiros</a:t>
                      </a:r>
                      <a:endParaRPr lang="en-US" sz="90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242424"/>
                    </a:solidFill>
                  </a:tcPr>
                </a:tc>
                <a:tc>
                  <a:txBody>
                    <a:bodyPr/>
                    <a:lstStyle/>
                    <a:p>
                      <a:pPr indent="0" marL="0">
                        <a:buNone/>
                      </a:pPr>
                      <a:r>
                        <a:rPr lang="en-US" sz="850" dirty="0">
                          <a:solidFill>
                            <a:srgbClr val="F0EFEC"/>
                          </a:solidFill>
                        </a:rPr>
                        <a:t>95mm RU + Lã PET 50mm</a:t>
                      </a:r>
                      <a:endParaRPr lang="en-US" sz="85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242424"/>
                    </a:solidFill>
                  </a:tcPr>
                </a:tc>
                <a:tc>
                  <a:txBody>
                    <a:bodyPr/>
                    <a:lstStyle/>
                    <a:p>
                      <a:pPr algn="ctr" indent="0" marL="0">
                        <a:buNone/>
                      </a:pPr>
                      <a:r>
                        <a:rPr lang="en-US" sz="900" b="1" dirty="0">
                          <a:solidFill>
                            <a:srgbClr val="C8A84B"/>
                          </a:solidFill>
                        </a:rPr>
                        <a:t>RU</a:t>
                      </a:r>
                      <a:endParaRPr lang="en-US" sz="90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242424"/>
                    </a:solidFill>
                  </a:tcPr>
                </a:tc>
                <a:tc>
                  <a:txBody>
                    <a:bodyPr/>
                    <a:lstStyle/>
                    <a:p>
                      <a:pPr algn="ctr" indent="0" marL="0">
                        <a:buNone/>
                      </a:pPr>
                      <a:r>
                        <a:rPr lang="en-US" sz="850" dirty="0">
                          <a:solidFill>
                            <a:srgbClr val="E8B84B"/>
                          </a:solidFill>
                        </a:rPr>
                        <a:t>Umidade</a:t>
                      </a:r>
                      <a:endParaRPr lang="en-US" sz="85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242424"/>
                    </a:solidFill>
                  </a:tcPr>
                </a:tc>
                <a:tc>
                  <a:txBody>
                    <a:bodyPr/>
                    <a:lstStyle/>
                    <a:p>
                      <a:pPr indent="0" marL="0">
                        <a:buNone/>
                      </a:pPr>
                      <a:r>
                        <a:rPr lang="en-US" sz="800" i="1" dirty="0">
                          <a:solidFill>
                            <a:srgbClr val="BBBBBB"/>
                          </a:solidFill>
                        </a:rPr>
                        <a:t>Impermeabilizar a base</a:t>
                      </a:r>
                      <a:endParaRPr lang="en-US" sz="80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242424"/>
                    </a:solidFill>
                  </a:tcPr>
                </a:tc>
              </a:tr>
              <a:tr h="485775">
                <a:tc>
                  <a:txBody>
                    <a:bodyPr/>
                    <a:lstStyle/>
                    <a:p>
                      <a:pPr indent="0" marL="0">
                        <a:buNone/>
                      </a:pPr>
                      <a:r>
                        <a:rPr lang="en-US" sz="900" b="1" dirty="0">
                          <a:solidFill>
                            <a:srgbClr val="F0EFEC"/>
                          </a:solidFill>
                        </a:rPr>
                        <a:t>Cozinha / Lavanderia</a:t>
                      </a:r>
                      <a:endParaRPr lang="en-US" sz="90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1A1A1A"/>
                    </a:solidFill>
                  </a:tcPr>
                </a:tc>
                <a:tc>
                  <a:txBody>
                    <a:bodyPr/>
                    <a:lstStyle/>
                    <a:p>
                      <a:pPr indent="0" marL="0">
                        <a:buNone/>
                      </a:pPr>
                      <a:r>
                        <a:rPr lang="en-US" sz="850" dirty="0">
                          <a:solidFill>
                            <a:srgbClr val="F0EFEC"/>
                          </a:solidFill>
                        </a:rPr>
                        <a:t>95mm RU + Lã PET 50mm</a:t>
                      </a:r>
                      <a:endParaRPr lang="en-US" sz="85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1A1A1A"/>
                    </a:solidFill>
                  </a:tcPr>
                </a:tc>
                <a:tc>
                  <a:txBody>
                    <a:bodyPr/>
                    <a:lstStyle/>
                    <a:p>
                      <a:pPr algn="ctr" indent="0" marL="0">
                        <a:buNone/>
                      </a:pPr>
                      <a:r>
                        <a:rPr lang="en-US" sz="900" b="1" dirty="0">
                          <a:solidFill>
                            <a:srgbClr val="C8A84B"/>
                          </a:solidFill>
                        </a:rPr>
                        <a:t>RU</a:t>
                      </a:r>
                      <a:endParaRPr lang="en-US" sz="90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1A1A1A"/>
                    </a:solidFill>
                  </a:tcPr>
                </a:tc>
                <a:tc>
                  <a:txBody>
                    <a:bodyPr/>
                    <a:lstStyle/>
                    <a:p>
                      <a:pPr algn="ctr" indent="0" marL="0">
                        <a:buNone/>
                      </a:pPr>
                      <a:r>
                        <a:rPr lang="en-US" sz="850" dirty="0">
                          <a:solidFill>
                            <a:srgbClr val="E8B84B"/>
                          </a:solidFill>
                        </a:rPr>
                        <a:t>Umidade</a:t>
                      </a:r>
                      <a:endParaRPr lang="en-US" sz="85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1A1A1A"/>
                    </a:solidFill>
                  </a:tcPr>
                </a:tc>
                <a:tc>
                  <a:txBody>
                    <a:bodyPr/>
                    <a:lstStyle/>
                    <a:p>
                      <a:pPr indent="0" marL="0">
                        <a:buNone/>
                      </a:pPr>
                      <a:r>
                        <a:rPr lang="en-US" sz="800" i="1" dirty="0">
                          <a:solidFill>
                            <a:srgbClr val="BBBBBB"/>
                          </a:solidFill>
                        </a:rPr>
                        <a:t>Reforço p/ armários sup.</a:t>
                      </a:r>
                      <a:endParaRPr lang="en-US" sz="80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1A1A1A"/>
                    </a:solidFill>
                  </a:tcPr>
                </a:tc>
              </a:tr>
              <a:tr h="485775">
                <a:tc>
                  <a:txBody>
                    <a:bodyPr/>
                    <a:lstStyle/>
                    <a:p>
                      <a:pPr indent="0" marL="0">
                        <a:buNone/>
                      </a:pPr>
                      <a:r>
                        <a:rPr lang="en-US" sz="900" b="1" dirty="0">
                          <a:solidFill>
                            <a:srgbClr val="F0EFEC"/>
                          </a:solidFill>
                        </a:rPr>
                        <a:t>Shaft / Prumada</a:t>
                      </a:r>
                      <a:endParaRPr lang="en-US" sz="90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242424"/>
                    </a:solidFill>
                  </a:tcPr>
                </a:tc>
                <a:tc>
                  <a:txBody>
                    <a:bodyPr/>
                    <a:lstStyle/>
                    <a:p>
                      <a:pPr indent="0" marL="0">
                        <a:buNone/>
                      </a:pPr>
                      <a:r>
                        <a:rPr lang="en-US" sz="850" dirty="0">
                          <a:solidFill>
                            <a:srgbClr val="F0EFEC"/>
                          </a:solidFill>
                        </a:rPr>
                        <a:t>95mm RF + Lã Mineral</a:t>
                      </a:r>
                      <a:endParaRPr lang="en-US" sz="85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242424"/>
                    </a:solidFill>
                  </a:tcPr>
                </a:tc>
                <a:tc>
                  <a:txBody>
                    <a:bodyPr/>
                    <a:lstStyle/>
                    <a:p>
                      <a:pPr algn="ctr" indent="0" marL="0">
                        <a:buNone/>
                      </a:pPr>
                      <a:r>
                        <a:rPr lang="en-US" sz="900" b="1" dirty="0">
                          <a:solidFill>
                            <a:srgbClr val="C8A84B"/>
                          </a:solidFill>
                        </a:rPr>
                        <a:t>RF</a:t>
                      </a:r>
                      <a:endParaRPr lang="en-US" sz="90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242424"/>
                    </a:solidFill>
                  </a:tcPr>
                </a:tc>
                <a:tc>
                  <a:txBody>
                    <a:bodyPr/>
                    <a:lstStyle/>
                    <a:p>
                      <a:pPr algn="ctr" indent="0" marL="0">
                        <a:buNone/>
                      </a:pPr>
                      <a:r>
                        <a:rPr lang="en-US" sz="850" dirty="0">
                          <a:solidFill>
                            <a:srgbClr val="E8B84B"/>
                          </a:solidFill>
                        </a:rPr>
                        <a:t>CF-60 mín.</a:t>
                      </a:r>
                      <a:endParaRPr lang="en-US" sz="85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242424"/>
                    </a:solidFill>
                  </a:tcPr>
                </a:tc>
                <a:tc>
                  <a:txBody>
                    <a:bodyPr/>
                    <a:lstStyle/>
                    <a:p>
                      <a:pPr indent="0" marL="0">
                        <a:buNone/>
                      </a:pPr>
                      <a:r>
                        <a:rPr lang="en-US" sz="800" i="1" dirty="0">
                          <a:solidFill>
                            <a:srgbClr val="BBBBBB"/>
                          </a:solidFill>
                        </a:rPr>
                        <a:t>Sistema com laudo IPT</a:t>
                      </a:r>
                      <a:endParaRPr lang="en-US" sz="80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242424"/>
                    </a:solidFill>
                  </a:tcPr>
                </a:tc>
              </a:tr>
              <a:tr h="485775">
                <a:tc>
                  <a:txBody>
                    <a:bodyPr/>
                    <a:lstStyle/>
                    <a:p>
                      <a:pPr indent="0" marL="0">
                        <a:buNone/>
                      </a:pPr>
                      <a:r>
                        <a:rPr lang="en-US" sz="900" b="1" dirty="0">
                          <a:solidFill>
                            <a:srgbClr val="F0EFEC"/>
                          </a:solidFill>
                        </a:rPr>
                        <a:t>Parede entre unidades</a:t>
                      </a:r>
                      <a:endParaRPr lang="en-US" sz="90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1A1A1A"/>
                    </a:solidFill>
                  </a:tcPr>
                </a:tc>
                <a:tc>
                  <a:txBody>
                    <a:bodyPr/>
                    <a:lstStyle/>
                    <a:p>
                      <a:pPr indent="0" marL="0">
                        <a:buNone/>
                      </a:pPr>
                      <a:r>
                        <a:rPr lang="en-US" sz="850" dirty="0">
                          <a:solidFill>
                            <a:srgbClr val="F0EFEC"/>
                          </a:solidFill>
                        </a:rPr>
                        <a:t>120mm Dupla + Lã PET</a:t>
                      </a:r>
                      <a:endParaRPr lang="en-US" sz="85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1A1A1A"/>
                    </a:solidFill>
                  </a:tcPr>
                </a:tc>
                <a:tc>
                  <a:txBody>
                    <a:bodyPr/>
                    <a:lstStyle/>
                    <a:p>
                      <a:pPr algn="ctr" indent="0" marL="0">
                        <a:buNone/>
                      </a:pPr>
                      <a:r>
                        <a:rPr lang="en-US" sz="900" b="1" dirty="0">
                          <a:solidFill>
                            <a:srgbClr val="C8A84B"/>
                          </a:solidFill>
                        </a:rPr>
                        <a:t>ST/RF</a:t>
                      </a:r>
                      <a:endParaRPr lang="en-US" sz="90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1A1A1A"/>
                    </a:solidFill>
                  </a:tcPr>
                </a:tc>
                <a:tc>
                  <a:txBody>
                    <a:bodyPr/>
                    <a:lstStyle/>
                    <a:p>
                      <a:pPr algn="ctr" indent="0" marL="0">
                        <a:buNone/>
                      </a:pPr>
                      <a:r>
                        <a:rPr lang="en-US" sz="850" dirty="0">
                          <a:solidFill>
                            <a:srgbClr val="E8B84B"/>
                          </a:solidFill>
                        </a:rPr>
                        <a:t>DnT,w ≥45 dB</a:t>
                      </a:r>
                      <a:endParaRPr lang="en-US" sz="85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1A1A1A"/>
                    </a:solidFill>
                  </a:tcPr>
                </a:tc>
                <a:tc>
                  <a:txBody>
                    <a:bodyPr/>
                    <a:lstStyle/>
                    <a:p>
                      <a:pPr indent="0" marL="0">
                        <a:buNone/>
                      </a:pPr>
                      <a:r>
                        <a:rPr lang="en-US" sz="800" i="1" dirty="0">
                          <a:solidFill>
                            <a:srgbClr val="BBBBBB"/>
                          </a:solidFill>
                        </a:rPr>
                        <a:t>NBR 15575 — obrigatório</a:t>
                      </a:r>
                      <a:endParaRPr lang="en-US" sz="800" dirty="0"/>
                    </a:p>
                  </a:txBody>
                  <a:tcPr marL="91440" marR="91440" marT="45720" marB="45720">
                    <a:lnL w="3810" cap="flat" cmpd="sng" algn="ctr">
                      <a:solidFill>
                        <a:srgbClr val="2A2A2A"/>
                      </a:solidFill>
                      <a:prstDash val="solid"/>
                      <a:round/>
                      <a:headEnd type="none" w="med" len="med"/>
                      <a:tailEnd type="none" w="med" len="med"/>
                    </a:lnL>
                    <a:lnR w="3810" cap="flat" cmpd="sng" algn="ctr">
                      <a:solidFill>
                        <a:srgbClr val="2A2A2A"/>
                      </a:solidFill>
                      <a:prstDash val="solid"/>
                      <a:round/>
                      <a:headEnd type="none" w="med" len="med"/>
                      <a:tailEnd type="none" w="med" len="med"/>
                    </a:lnR>
                    <a:lnT w="3810" cap="flat" cmpd="sng" algn="ctr">
                      <a:solidFill>
                        <a:srgbClr val="2A2A2A"/>
                      </a:solidFill>
                      <a:prstDash val="solid"/>
                      <a:round/>
                      <a:headEnd type="none" w="med" len="med"/>
                      <a:tailEnd type="none" w="med" len="med"/>
                    </a:lnT>
                    <a:lnB w="3810" cap="flat" cmpd="sng" algn="ctr">
                      <a:solidFill>
                        <a:srgbClr val="2A2A2A"/>
                      </a:solidFill>
                      <a:prstDash val="solid"/>
                      <a:round/>
                      <a:headEnd type="none" w="med" len="med"/>
                      <a:tailEnd type="none" w="med" len="med"/>
                    </a:lnB>
                    <a:solidFill>
                      <a:srgbClr val="1A1A1A"/>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3"/>
        </a:solidFill>
      </p:bgPr>
    </p:bg>
    <p:spTree>
      <p:nvGrpSpPr>
        <p:cNvPr id="1" name=""/>
        <p:cNvGrpSpPr/>
        <p:nvPr/>
      </p:nvGrpSpPr>
      <p:grpSpPr>
        <a:xfrm>
          <a:off x="0" y="0"/>
          <a:ext cx="0" cy="0"/>
          <a:chOff x="0" y="0"/>
          <a:chExt cx="0" cy="0"/>
        </a:xfrm>
      </p:grpSpPr>
      <p:sp>
        <p:nvSpPr>
          <p:cNvPr id="2" name="Text 0"/>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666666"/>
                </a:solidFill>
              </a:rPr>
              <a:t>8 / 12</a:t>
            </a:r>
            <a:endParaRPr lang="en-US" sz="900" dirty="0"/>
          </a:p>
        </p:txBody>
      </p:sp>
      <p:sp>
        <p:nvSpPr>
          <p:cNvPr id="3" name="Text 1"/>
          <p:cNvSpPr/>
          <p:nvPr/>
        </p:nvSpPr>
        <p:spPr>
          <a:xfrm>
            <a:off x="457200" y="201168"/>
            <a:ext cx="8229600" cy="438912"/>
          </a:xfrm>
          <a:prstGeom prst="rect">
            <a:avLst/>
          </a:prstGeom>
          <a:noFill/>
          <a:ln/>
        </p:spPr>
        <p:txBody>
          <a:bodyPr wrap="square" lIns="0" tIns="0" rIns="0" bIns="0" rtlCol="0" anchor="ctr"/>
          <a:lstStyle/>
          <a:p>
            <a:pPr indent="0" marL="0">
              <a:buNone/>
            </a:pPr>
            <a:r>
              <a:rPr lang="en-US" sz="2200" b="1" dirty="0">
                <a:solidFill>
                  <a:srgbClr val="1E1E1E"/>
                </a:solidFill>
                <a:latin typeface="Cambria" pitchFamily="34" charset="0"/>
                <a:ea typeface="Cambria" pitchFamily="34" charset="-122"/>
                <a:cs typeface="Cambria" pitchFamily="34" charset="-120"/>
              </a:rPr>
              <a:t>VIABILIDADE ECONÔMICA — 6 APARTAMENTOS</a:t>
            </a:r>
            <a:endParaRPr lang="en-US" sz="2200" dirty="0"/>
          </a:p>
        </p:txBody>
      </p:sp>
      <p:sp>
        <p:nvSpPr>
          <p:cNvPr id="4" name="Shape 2"/>
          <p:cNvSpPr/>
          <p:nvPr/>
        </p:nvSpPr>
        <p:spPr>
          <a:xfrm>
            <a:off x="457200" y="749808"/>
            <a:ext cx="589788" cy="256032"/>
          </a:xfrm>
          <a:prstGeom prst="roundRect">
            <a:avLst>
              <a:gd name="adj" fmla="val 14286"/>
            </a:avLst>
          </a:prstGeom>
          <a:solidFill>
            <a:srgbClr val="C8A84B"/>
          </a:solidFill>
          <a:ln/>
        </p:spPr>
      </p:sp>
      <p:sp>
        <p:nvSpPr>
          <p:cNvPr id="5" name="Text 3"/>
          <p:cNvSpPr/>
          <p:nvPr/>
        </p:nvSpPr>
        <p:spPr>
          <a:xfrm>
            <a:off x="457200" y="758952"/>
            <a:ext cx="589788" cy="246888"/>
          </a:xfrm>
          <a:prstGeom prst="rect">
            <a:avLst/>
          </a:prstGeom>
          <a:noFill/>
          <a:ln/>
        </p:spPr>
        <p:txBody>
          <a:bodyPr wrap="square" lIns="0" tIns="0" rIns="0" bIns="0" rtlCol="0" anchor="ctr"/>
          <a:lstStyle/>
          <a:p>
            <a:pPr algn="ctr" indent="0" marL="0">
              <a:buNone/>
            </a:pPr>
            <a:r>
              <a:rPr lang="en-US" sz="900" b="1" dirty="0">
                <a:solidFill>
                  <a:srgbClr val="1E1E1E"/>
                </a:solidFill>
              </a:rPr>
              <a:t>ROI</a:t>
            </a:r>
            <a:endParaRPr lang="en-US" sz="900" dirty="0"/>
          </a:p>
        </p:txBody>
      </p:sp>
      <p:graphicFrame>
        <p:nvGraphicFramePr>
          <p:cNvPr id="6" name="Chart 0" descr=""/>
          <p:cNvGraphicFramePr/>
          <p:nvPr/>
        </p:nvGraphicFramePr>
        <p:xfrm>
          <a:off x="320040" y="1024128"/>
          <a:ext cx="4023360" cy="34747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4663440" y="1024128"/>
            <a:ext cx="4206240" cy="749808"/>
          </a:xfrm>
          <a:prstGeom prst="roundRect">
            <a:avLst>
              <a:gd name="adj" fmla="val 9756"/>
            </a:avLst>
          </a:prstGeom>
          <a:solidFill>
            <a:srgbClr val="FFFFFF"/>
          </a:solidFill>
          <a:ln/>
          <a:effectLst>
            <a:outerShdw sx="100000" sy="100000" kx="0" ky="0" algn="bl" rotWithShape="0" blurRad="101600" dist="38100" dir="2700000">
              <a:srgbClr val="000000">
                <a:alpha val="18000"/>
              </a:srgbClr>
            </a:outerShdw>
          </a:effectLst>
        </p:spPr>
      </p:sp>
      <p:pic>
        <p:nvPicPr>
          <p:cNvPr id="8" name="Image 0" descr="preencoded.png">    </p:cNvPr>
          <p:cNvPicPr>
            <a:picLocks noChangeAspect="1"/>
          </p:cNvPicPr>
          <p:nvPr/>
        </p:nvPicPr>
        <p:blipFill>
          <a:blip r:embed="rId2"/>
          <a:stretch>
            <a:fillRect/>
          </a:stretch>
        </p:blipFill>
        <p:spPr>
          <a:xfrm>
            <a:off x="4828032" y="1188720"/>
            <a:ext cx="347472" cy="347472"/>
          </a:xfrm>
          <a:prstGeom prst="rect">
            <a:avLst/>
          </a:prstGeom>
        </p:spPr>
      </p:pic>
      <p:sp>
        <p:nvSpPr>
          <p:cNvPr id="9" name="Text 5"/>
          <p:cNvSpPr/>
          <p:nvPr/>
        </p:nvSpPr>
        <p:spPr>
          <a:xfrm>
            <a:off x="5257800" y="1078992"/>
            <a:ext cx="2286000" cy="347472"/>
          </a:xfrm>
          <a:prstGeom prst="rect">
            <a:avLst/>
          </a:prstGeom>
          <a:noFill/>
          <a:ln/>
        </p:spPr>
        <p:txBody>
          <a:bodyPr wrap="square" lIns="0" tIns="0" rIns="0" bIns="0" rtlCol="0" anchor="ctr"/>
          <a:lstStyle/>
          <a:p>
            <a:pPr indent="0" marL="0">
              <a:buNone/>
            </a:pPr>
            <a:r>
              <a:rPr lang="en-US" sz="900" dirty="0">
                <a:solidFill>
                  <a:srgbClr val="3A3A3A"/>
                </a:solidFill>
                <a:latin typeface="Calibri" pitchFamily="34" charset="0"/>
                <a:ea typeface="Calibri" pitchFamily="34" charset="-122"/>
                <a:cs typeface="Calibri" pitchFamily="34" charset="-120"/>
              </a:rPr>
              <a:t>Economia direta (custo/m²)</a:t>
            </a:r>
            <a:endParaRPr lang="en-US" sz="900" dirty="0"/>
          </a:p>
        </p:txBody>
      </p:sp>
      <p:sp>
        <p:nvSpPr>
          <p:cNvPr id="10" name="Text 6"/>
          <p:cNvSpPr/>
          <p:nvPr/>
        </p:nvSpPr>
        <p:spPr>
          <a:xfrm>
            <a:off x="5257800" y="1408176"/>
            <a:ext cx="3520440" cy="310896"/>
          </a:xfrm>
          <a:prstGeom prst="rect">
            <a:avLst/>
          </a:prstGeom>
          <a:noFill/>
          <a:ln/>
        </p:spPr>
        <p:txBody>
          <a:bodyPr wrap="square" lIns="0" tIns="0" rIns="0" bIns="0" rtlCol="0" anchor="ctr"/>
          <a:lstStyle/>
          <a:p>
            <a:pPr indent="0" marL="0">
              <a:buNone/>
            </a:pPr>
            <a:r>
              <a:rPr lang="en-US" sz="1300" b="1" dirty="0">
                <a:solidFill>
                  <a:srgbClr val="1E1E1E"/>
                </a:solidFill>
                <a:latin typeface="Cambria" pitchFamily="34" charset="0"/>
                <a:ea typeface="Cambria" pitchFamily="34" charset="-122"/>
                <a:cs typeface="Cambria" pitchFamily="34" charset="-120"/>
              </a:rPr>
              <a:t>R$ 9.600–10.800</a:t>
            </a:r>
            <a:endParaRPr lang="en-US" sz="1300" dirty="0"/>
          </a:p>
        </p:txBody>
      </p:sp>
      <p:sp>
        <p:nvSpPr>
          <p:cNvPr id="11" name="Shape 7"/>
          <p:cNvSpPr/>
          <p:nvPr/>
        </p:nvSpPr>
        <p:spPr>
          <a:xfrm>
            <a:off x="4663440" y="1920240"/>
            <a:ext cx="4206240" cy="749808"/>
          </a:xfrm>
          <a:prstGeom prst="roundRect">
            <a:avLst>
              <a:gd name="adj" fmla="val 9756"/>
            </a:avLst>
          </a:prstGeom>
          <a:solidFill>
            <a:srgbClr val="FFFFFF"/>
          </a:solidFill>
          <a:ln/>
          <a:effectLst>
            <a:outerShdw sx="100000" sy="100000" kx="0" ky="0" algn="bl" rotWithShape="0" blurRad="101600" dist="38100" dir="2700000">
              <a:srgbClr val="000000">
                <a:alpha val="18000"/>
              </a:srgbClr>
            </a:outerShdw>
          </a:effectLst>
        </p:spPr>
      </p:sp>
      <p:pic>
        <p:nvPicPr>
          <p:cNvPr id="12" name="Image 1" descr="preencoded.png">    </p:cNvPr>
          <p:cNvPicPr>
            <a:picLocks noChangeAspect="1"/>
          </p:cNvPicPr>
          <p:nvPr/>
        </p:nvPicPr>
        <p:blipFill>
          <a:blip r:embed="rId3"/>
          <a:stretch>
            <a:fillRect/>
          </a:stretch>
        </p:blipFill>
        <p:spPr>
          <a:xfrm>
            <a:off x="4828032" y="2084832"/>
            <a:ext cx="347472" cy="347472"/>
          </a:xfrm>
          <a:prstGeom prst="rect">
            <a:avLst/>
          </a:prstGeom>
        </p:spPr>
      </p:pic>
      <p:sp>
        <p:nvSpPr>
          <p:cNvPr id="13" name="Text 8"/>
          <p:cNvSpPr/>
          <p:nvPr/>
        </p:nvSpPr>
        <p:spPr>
          <a:xfrm>
            <a:off x="5257800" y="1975104"/>
            <a:ext cx="2286000" cy="347472"/>
          </a:xfrm>
          <a:prstGeom prst="rect">
            <a:avLst/>
          </a:prstGeom>
          <a:noFill/>
          <a:ln/>
        </p:spPr>
        <p:txBody>
          <a:bodyPr wrap="square" lIns="0" tIns="0" rIns="0" bIns="0" rtlCol="0" anchor="ctr"/>
          <a:lstStyle/>
          <a:p>
            <a:pPr indent="0" marL="0">
              <a:buNone/>
            </a:pPr>
            <a:r>
              <a:rPr lang="en-US" sz="900" dirty="0">
                <a:solidFill>
                  <a:srgbClr val="3A3A3A"/>
                </a:solidFill>
                <a:latin typeface="Calibri" pitchFamily="34" charset="0"/>
                <a:ea typeface="Calibri" pitchFamily="34" charset="-122"/>
                <a:cs typeface="Calibri" pitchFamily="34" charset="-120"/>
              </a:rPr>
              <a:t>Valor área útil recuperada</a:t>
            </a:r>
            <a:endParaRPr lang="en-US" sz="900" dirty="0"/>
          </a:p>
        </p:txBody>
      </p:sp>
      <p:sp>
        <p:nvSpPr>
          <p:cNvPr id="14" name="Text 9"/>
          <p:cNvSpPr/>
          <p:nvPr/>
        </p:nvSpPr>
        <p:spPr>
          <a:xfrm>
            <a:off x="5257800" y="2304288"/>
            <a:ext cx="3520440" cy="310896"/>
          </a:xfrm>
          <a:prstGeom prst="rect">
            <a:avLst/>
          </a:prstGeom>
          <a:noFill/>
          <a:ln/>
        </p:spPr>
        <p:txBody>
          <a:bodyPr wrap="square" lIns="0" tIns="0" rIns="0" bIns="0" rtlCol="0" anchor="ctr"/>
          <a:lstStyle/>
          <a:p>
            <a:pPr indent="0" marL="0">
              <a:buNone/>
            </a:pPr>
            <a:r>
              <a:rPr lang="en-US" sz="1300" b="1" dirty="0">
                <a:solidFill>
                  <a:srgbClr val="1E1E1E"/>
                </a:solidFill>
                <a:latin typeface="Cambria" pitchFamily="34" charset="0"/>
                <a:ea typeface="Cambria" pitchFamily="34" charset="-122"/>
                <a:cs typeface="Cambria" pitchFamily="34" charset="-120"/>
              </a:rPr>
              <a:t>R$ 144.000–315.000</a:t>
            </a:r>
            <a:endParaRPr lang="en-US" sz="1300" dirty="0"/>
          </a:p>
        </p:txBody>
      </p:sp>
      <p:sp>
        <p:nvSpPr>
          <p:cNvPr id="15" name="Shape 10"/>
          <p:cNvSpPr/>
          <p:nvPr/>
        </p:nvSpPr>
        <p:spPr>
          <a:xfrm>
            <a:off x="4663440" y="2816352"/>
            <a:ext cx="4206240" cy="749808"/>
          </a:xfrm>
          <a:prstGeom prst="roundRect">
            <a:avLst>
              <a:gd name="adj" fmla="val 9756"/>
            </a:avLst>
          </a:prstGeom>
          <a:solidFill>
            <a:srgbClr val="FFFFFF"/>
          </a:solidFill>
          <a:ln/>
          <a:effectLst>
            <a:outerShdw sx="100000" sy="100000" kx="0" ky="0" algn="bl" rotWithShape="0" blurRad="101600" dist="38100" dir="2700000">
              <a:srgbClr val="000000">
                <a:alpha val="18000"/>
              </a:srgbClr>
            </a:outerShdw>
          </a:effectLst>
        </p:spPr>
      </p:sp>
      <p:pic>
        <p:nvPicPr>
          <p:cNvPr id="16" name="Image 2" descr="preencoded.png">    </p:cNvPr>
          <p:cNvPicPr>
            <a:picLocks noChangeAspect="1"/>
          </p:cNvPicPr>
          <p:nvPr/>
        </p:nvPicPr>
        <p:blipFill>
          <a:blip r:embed="rId4"/>
          <a:stretch>
            <a:fillRect/>
          </a:stretch>
        </p:blipFill>
        <p:spPr>
          <a:xfrm>
            <a:off x="4828032" y="2980944"/>
            <a:ext cx="347472" cy="347472"/>
          </a:xfrm>
          <a:prstGeom prst="rect">
            <a:avLst/>
          </a:prstGeom>
        </p:spPr>
      </p:pic>
      <p:sp>
        <p:nvSpPr>
          <p:cNvPr id="17" name="Text 11"/>
          <p:cNvSpPr/>
          <p:nvPr/>
        </p:nvSpPr>
        <p:spPr>
          <a:xfrm>
            <a:off x="5257800" y="2871216"/>
            <a:ext cx="2286000" cy="347472"/>
          </a:xfrm>
          <a:prstGeom prst="rect">
            <a:avLst/>
          </a:prstGeom>
          <a:noFill/>
          <a:ln/>
        </p:spPr>
        <p:txBody>
          <a:bodyPr wrap="square" lIns="0" tIns="0" rIns="0" bIns="0" rtlCol="0" anchor="ctr"/>
          <a:lstStyle/>
          <a:p>
            <a:pPr indent="0" marL="0">
              <a:buNone/>
            </a:pPr>
            <a:r>
              <a:rPr lang="en-US" sz="900" dirty="0">
                <a:solidFill>
                  <a:srgbClr val="3A3A3A"/>
                </a:solidFill>
                <a:latin typeface="Calibri" pitchFamily="34" charset="0"/>
                <a:ea typeface="Calibri" pitchFamily="34" charset="-122"/>
                <a:cs typeface="Calibri" pitchFamily="34" charset="-120"/>
              </a:rPr>
              <a:t>Redução entulho e logística</a:t>
            </a:r>
            <a:endParaRPr lang="en-US" sz="900" dirty="0"/>
          </a:p>
        </p:txBody>
      </p:sp>
      <p:sp>
        <p:nvSpPr>
          <p:cNvPr id="18" name="Text 12"/>
          <p:cNvSpPr/>
          <p:nvPr/>
        </p:nvSpPr>
        <p:spPr>
          <a:xfrm>
            <a:off x="5257800" y="3200400"/>
            <a:ext cx="3520440" cy="310896"/>
          </a:xfrm>
          <a:prstGeom prst="rect">
            <a:avLst/>
          </a:prstGeom>
          <a:noFill/>
          <a:ln/>
        </p:spPr>
        <p:txBody>
          <a:bodyPr wrap="square" lIns="0" tIns="0" rIns="0" bIns="0" rtlCol="0" anchor="ctr"/>
          <a:lstStyle/>
          <a:p>
            <a:pPr indent="0" marL="0">
              <a:buNone/>
            </a:pPr>
            <a:r>
              <a:rPr lang="en-US" sz="1300" b="1" dirty="0">
                <a:solidFill>
                  <a:srgbClr val="1E1E1E"/>
                </a:solidFill>
                <a:latin typeface="Cambria" pitchFamily="34" charset="0"/>
                <a:ea typeface="Cambria" pitchFamily="34" charset="-122"/>
                <a:cs typeface="Cambria" pitchFamily="34" charset="-120"/>
              </a:rPr>
              <a:t>R$ 3.000–8.000</a:t>
            </a:r>
            <a:endParaRPr lang="en-US" sz="1300" dirty="0"/>
          </a:p>
        </p:txBody>
      </p:sp>
      <p:sp>
        <p:nvSpPr>
          <p:cNvPr id="19" name="Shape 13"/>
          <p:cNvSpPr/>
          <p:nvPr/>
        </p:nvSpPr>
        <p:spPr>
          <a:xfrm>
            <a:off x="4663440" y="3712464"/>
            <a:ext cx="4206240" cy="749808"/>
          </a:xfrm>
          <a:prstGeom prst="roundRect">
            <a:avLst>
              <a:gd name="adj" fmla="val 9756"/>
            </a:avLst>
          </a:prstGeom>
          <a:solidFill>
            <a:srgbClr val="1E1E1E"/>
          </a:solidFill>
          <a:ln/>
          <a:effectLst>
            <a:outerShdw sx="100000" sy="100000" kx="0" ky="0" algn="bl" rotWithShape="0" blurRad="101600" dist="38100" dir="2700000">
              <a:srgbClr val="000000">
                <a:alpha val="18000"/>
              </a:srgbClr>
            </a:outerShdw>
          </a:effectLst>
        </p:spPr>
      </p:sp>
      <p:pic>
        <p:nvPicPr>
          <p:cNvPr id="20" name="Image 3" descr="preencoded.png">    </p:cNvPr>
          <p:cNvPicPr>
            <a:picLocks noChangeAspect="1"/>
          </p:cNvPicPr>
          <p:nvPr/>
        </p:nvPicPr>
        <p:blipFill>
          <a:blip r:embed="rId5"/>
          <a:stretch>
            <a:fillRect/>
          </a:stretch>
        </p:blipFill>
        <p:spPr>
          <a:xfrm>
            <a:off x="4828032" y="3877056"/>
            <a:ext cx="347472" cy="347472"/>
          </a:xfrm>
          <a:prstGeom prst="rect">
            <a:avLst/>
          </a:prstGeom>
        </p:spPr>
      </p:pic>
      <p:sp>
        <p:nvSpPr>
          <p:cNvPr id="21" name="Text 14"/>
          <p:cNvSpPr/>
          <p:nvPr/>
        </p:nvSpPr>
        <p:spPr>
          <a:xfrm>
            <a:off x="5257800" y="3767328"/>
            <a:ext cx="2286000" cy="347472"/>
          </a:xfrm>
          <a:prstGeom prst="rect">
            <a:avLst/>
          </a:prstGeom>
          <a:noFill/>
          <a:ln/>
        </p:spPr>
        <p:txBody>
          <a:bodyPr wrap="square" lIns="0" tIns="0" rIns="0" bIns="0" rtlCol="0" anchor="ctr"/>
          <a:lstStyle/>
          <a:p>
            <a:pPr indent="0" marL="0">
              <a:buNone/>
            </a:pPr>
            <a:r>
              <a:rPr lang="en-US" sz="900" b="1" dirty="0">
                <a:solidFill>
                  <a:srgbClr val="C8A84B"/>
                </a:solidFill>
                <a:latin typeface="Calibri" pitchFamily="34" charset="0"/>
                <a:ea typeface="Calibri" pitchFamily="34" charset="-122"/>
                <a:cs typeface="Calibri" pitchFamily="34" charset="-120"/>
              </a:rPr>
              <a:t>ECONOMIA TOTAL ESTIMADA</a:t>
            </a:r>
            <a:endParaRPr lang="en-US" sz="900" dirty="0"/>
          </a:p>
        </p:txBody>
      </p:sp>
      <p:sp>
        <p:nvSpPr>
          <p:cNvPr id="22" name="Text 15"/>
          <p:cNvSpPr/>
          <p:nvPr/>
        </p:nvSpPr>
        <p:spPr>
          <a:xfrm>
            <a:off x="5257800" y="4096512"/>
            <a:ext cx="3520440" cy="310896"/>
          </a:xfrm>
          <a:prstGeom prst="rect">
            <a:avLst/>
          </a:prstGeom>
          <a:noFill/>
          <a:ln/>
        </p:spPr>
        <p:txBody>
          <a:bodyPr wrap="square" lIns="0" tIns="0" rIns="0" bIns="0" rtlCol="0" anchor="ctr"/>
          <a:lstStyle/>
          <a:p>
            <a:pPr indent="0" marL="0">
              <a:buNone/>
            </a:pPr>
            <a:r>
              <a:rPr lang="en-US" sz="1300" b="1" dirty="0">
                <a:solidFill>
                  <a:srgbClr val="C8A84B"/>
                </a:solidFill>
                <a:latin typeface="Cambria" pitchFamily="34" charset="0"/>
                <a:ea typeface="Cambria" pitchFamily="34" charset="-122"/>
                <a:cs typeface="Cambria" pitchFamily="34" charset="-120"/>
              </a:rPr>
              <a:t>R$ 156–333 mil</a:t>
            </a:r>
            <a:endParaRPr lang="en-US" sz="1300" dirty="0"/>
          </a:p>
        </p:txBody>
      </p:sp>
      <p:sp>
        <p:nvSpPr>
          <p:cNvPr id="23" name="Text 16"/>
          <p:cNvSpPr/>
          <p:nvPr/>
        </p:nvSpPr>
        <p:spPr>
          <a:xfrm>
            <a:off x="4663440" y="4663440"/>
            <a:ext cx="4206240" cy="274320"/>
          </a:xfrm>
          <a:prstGeom prst="rect">
            <a:avLst/>
          </a:prstGeom>
          <a:noFill/>
          <a:ln/>
        </p:spPr>
        <p:txBody>
          <a:bodyPr wrap="square" lIns="0" tIns="0" rIns="0" bIns="0" rtlCol="0" anchor="ctr"/>
          <a:lstStyle/>
          <a:p>
            <a:pPr indent="0" marL="0">
              <a:buNone/>
            </a:pPr>
            <a:r>
              <a:rPr lang="en-US" sz="750" i="1" dirty="0">
                <a:solidFill>
                  <a:srgbClr val="666666"/>
                </a:solidFill>
                <a:latin typeface="Calibri" pitchFamily="34" charset="0"/>
                <a:ea typeface="Calibri" pitchFamily="34" charset="-122"/>
                <a:cs typeface="Calibri" pitchFamily="34" charset="-120"/>
              </a:rPr>
              <a:t>Valores ilustrativos para tomada de decisão. Orçamento definitivo requer projeto executivo.</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1E1E"/>
        </a:solidFill>
      </p:bgPr>
    </p:bg>
    <p:spTree>
      <p:nvGrpSpPr>
        <p:cNvPr id="1" name=""/>
        <p:cNvGrpSpPr/>
        <p:nvPr/>
      </p:nvGrpSpPr>
      <p:grpSpPr>
        <a:xfrm>
          <a:off x="0" y="0"/>
          <a:ext cx="0" cy="0"/>
          <a:chOff x="0" y="0"/>
          <a:chExt cx="0" cy="0"/>
        </a:xfrm>
      </p:grpSpPr>
      <p:sp>
        <p:nvSpPr>
          <p:cNvPr id="2" name="Text 0"/>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666666"/>
                </a:solidFill>
              </a:rPr>
              <a:t>9 / 12</a:t>
            </a:r>
            <a:endParaRPr lang="en-US" sz="900" dirty="0"/>
          </a:p>
        </p:txBody>
      </p:sp>
      <p:sp>
        <p:nvSpPr>
          <p:cNvPr id="3" name="Text 1"/>
          <p:cNvSpPr/>
          <p:nvPr/>
        </p:nvSpPr>
        <p:spPr>
          <a:xfrm>
            <a:off x="457200" y="201168"/>
            <a:ext cx="8229600" cy="438912"/>
          </a:xfrm>
          <a:prstGeom prst="rect">
            <a:avLst/>
          </a:prstGeom>
          <a:noFill/>
          <a:ln/>
        </p:spPr>
        <p:txBody>
          <a:bodyPr wrap="square" lIns="0" tIns="0" rIns="0" bIns="0" rtlCol="0" anchor="ctr"/>
          <a:lstStyle/>
          <a:p>
            <a:pPr indent="0" marL="0">
              <a:buNone/>
            </a:pPr>
            <a:r>
              <a:rPr lang="en-US" sz="2200" b="1" dirty="0">
                <a:solidFill>
                  <a:srgbClr val="C8A84B"/>
                </a:solidFill>
                <a:latin typeface="Cambria" pitchFamily="34" charset="0"/>
                <a:ea typeface="Cambria" pitchFamily="34" charset="-122"/>
                <a:cs typeface="Cambria" pitchFamily="34" charset="-120"/>
              </a:rPr>
              <a:t>RISCOS, LIMITAÇÕES E SOLUÇÕES TÉCNICAS</a:t>
            </a:r>
            <a:endParaRPr lang="en-US" sz="2200" dirty="0"/>
          </a:p>
        </p:txBody>
      </p:sp>
      <p:sp>
        <p:nvSpPr>
          <p:cNvPr id="4" name="Shape 2"/>
          <p:cNvSpPr/>
          <p:nvPr/>
        </p:nvSpPr>
        <p:spPr>
          <a:xfrm>
            <a:off x="320040" y="822960"/>
            <a:ext cx="4114800" cy="1280160"/>
          </a:xfrm>
          <a:prstGeom prst="roundRect">
            <a:avLst>
              <a:gd name="adj" fmla="val 5714"/>
            </a:avLst>
          </a:prstGeom>
          <a:solidFill>
            <a:srgbClr val="2A2A2A"/>
          </a:solidFill>
          <a:ln/>
          <a:effectLst>
            <a:outerShdw sx="100000" sy="100000" kx="0" ky="0" algn="bl" rotWithShape="0" blurRad="101600" dist="38100" dir="2700000">
              <a:srgbClr val="000000">
                <a:alpha val="18000"/>
              </a:srgbClr>
            </a:outerShdw>
          </a:effectLst>
        </p:spPr>
      </p:sp>
      <p:pic>
        <p:nvPicPr>
          <p:cNvPr id="5" name="Image 0" descr="preencoded.png">    </p:cNvPr>
          <p:cNvPicPr>
            <a:picLocks noChangeAspect="1"/>
          </p:cNvPicPr>
          <p:nvPr/>
        </p:nvPicPr>
        <p:blipFill>
          <a:blip r:embed="rId1"/>
          <a:stretch>
            <a:fillRect/>
          </a:stretch>
        </p:blipFill>
        <p:spPr>
          <a:xfrm>
            <a:off x="457200" y="932688"/>
            <a:ext cx="320040" cy="320040"/>
          </a:xfrm>
          <a:prstGeom prst="rect">
            <a:avLst/>
          </a:prstGeom>
        </p:spPr>
      </p:pic>
      <p:sp>
        <p:nvSpPr>
          <p:cNvPr id="6" name="Text 3"/>
          <p:cNvSpPr/>
          <p:nvPr/>
        </p:nvSpPr>
        <p:spPr>
          <a:xfrm>
            <a:off x="850392" y="914400"/>
            <a:ext cx="2926080" cy="310896"/>
          </a:xfrm>
          <a:prstGeom prst="rect">
            <a:avLst/>
          </a:prstGeom>
          <a:noFill/>
          <a:ln/>
        </p:spPr>
        <p:txBody>
          <a:bodyPr wrap="square" lIns="0" tIns="0" rIns="0" bIns="0" rtlCol="0" anchor="ctr"/>
          <a:lstStyle/>
          <a:p>
            <a:pPr indent="0" marL="0">
              <a:buNone/>
            </a:pPr>
            <a:r>
              <a:rPr lang="en-US" sz="1000" b="1" dirty="0">
                <a:solidFill>
                  <a:srgbClr val="C8A84B"/>
                </a:solidFill>
                <a:latin typeface="Cambria" pitchFamily="34" charset="0"/>
                <a:ea typeface="Cambria" pitchFamily="34" charset="-122"/>
                <a:cs typeface="Cambria" pitchFamily="34" charset="-120"/>
              </a:rPr>
              <a:t>Acústica insuficiente</a:t>
            </a:r>
            <a:endParaRPr lang="en-US" sz="1000" dirty="0"/>
          </a:p>
        </p:txBody>
      </p:sp>
      <p:sp>
        <p:nvSpPr>
          <p:cNvPr id="7" name="Text 4"/>
          <p:cNvSpPr/>
          <p:nvPr/>
        </p:nvSpPr>
        <p:spPr>
          <a:xfrm>
            <a:off x="3813048" y="914400"/>
            <a:ext cx="530352" cy="256032"/>
          </a:xfrm>
          <a:prstGeom prst="rect">
            <a:avLst>
              <a:gd name="adj" fmla="val 10714"/>
            </a:avLst>
          </a:prstGeom>
          <a:solidFill>
            <a:srgbClr val="C62828"/>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ALTO</a:t>
            </a:r>
            <a:endParaRPr lang="en-US" sz="800" dirty="0"/>
          </a:p>
        </p:txBody>
      </p:sp>
      <p:sp>
        <p:nvSpPr>
          <p:cNvPr id="8" name="Shape 5"/>
          <p:cNvSpPr/>
          <p:nvPr/>
        </p:nvSpPr>
        <p:spPr>
          <a:xfrm>
            <a:off x="3813048" y="914400"/>
            <a:ext cx="530352" cy="256032"/>
          </a:xfrm>
          <a:prstGeom prst="roundRect">
            <a:avLst>
              <a:gd name="adj" fmla="val 10714"/>
            </a:avLst>
          </a:prstGeom>
          <a:solidFill>
            <a:srgbClr val="C62828"/>
          </a:solidFill>
          <a:ln/>
        </p:spPr>
      </p:sp>
      <p:sp>
        <p:nvSpPr>
          <p:cNvPr id="9" name="Text 6"/>
          <p:cNvSpPr/>
          <p:nvPr/>
        </p:nvSpPr>
        <p:spPr>
          <a:xfrm>
            <a:off x="3813048" y="914400"/>
            <a:ext cx="530352"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ALTO</a:t>
            </a:r>
            <a:endParaRPr lang="en-US" sz="750" dirty="0"/>
          </a:p>
        </p:txBody>
      </p:sp>
      <p:sp>
        <p:nvSpPr>
          <p:cNvPr id="10" name="Text 7"/>
          <p:cNvSpPr/>
          <p:nvPr/>
        </p:nvSpPr>
        <p:spPr>
          <a:xfrm>
            <a:off x="457200" y="1280160"/>
            <a:ext cx="3840480" cy="274320"/>
          </a:xfrm>
          <a:prstGeom prst="rect">
            <a:avLst/>
          </a:prstGeom>
          <a:noFill/>
          <a:ln/>
        </p:spPr>
        <p:txBody>
          <a:bodyPr wrap="square" lIns="0" tIns="0" rIns="0" bIns="0" rtlCol="0" anchor="ctr"/>
          <a:lstStyle/>
          <a:p>
            <a:pPr indent="0" marL="0">
              <a:buNone/>
            </a:pPr>
            <a:r>
              <a:rPr lang="en-US" sz="850" dirty="0">
                <a:solidFill>
                  <a:srgbClr val="E8B84B"/>
                </a:solidFill>
                <a:latin typeface="Calibri" pitchFamily="34" charset="0"/>
                <a:ea typeface="Calibri" pitchFamily="34" charset="-122"/>
                <a:cs typeface="Calibri" pitchFamily="34" charset="-120"/>
              </a:rPr>
              <a:t>⚠ Drywall simples SEM lã tem Rw INFERIOR à alvenaria</a:t>
            </a:r>
            <a:endParaRPr lang="en-US" sz="850" dirty="0"/>
          </a:p>
        </p:txBody>
      </p:sp>
      <p:sp>
        <p:nvSpPr>
          <p:cNvPr id="11" name="Text 8"/>
          <p:cNvSpPr/>
          <p:nvPr/>
        </p:nvSpPr>
        <p:spPr>
          <a:xfrm>
            <a:off x="457200" y="1572768"/>
            <a:ext cx="3840480" cy="384048"/>
          </a:xfrm>
          <a:prstGeom prst="rect">
            <a:avLst/>
          </a:prstGeom>
          <a:noFill/>
          <a:ln/>
        </p:spPr>
        <p:txBody>
          <a:bodyPr wrap="square" lIns="0" tIns="0" rIns="0" bIns="0" rtlCol="0" anchor="ctr"/>
          <a:lstStyle/>
          <a:p>
            <a:pPr indent="0" marL="0">
              <a:buNone/>
            </a:pPr>
            <a:r>
              <a:rPr lang="en-US" sz="850" dirty="0">
                <a:solidFill>
                  <a:srgbClr val="F0EFEC"/>
                </a:solidFill>
                <a:latin typeface="Calibri" pitchFamily="34" charset="0"/>
                <a:ea typeface="Calibri" pitchFamily="34" charset="-122"/>
                <a:cs typeface="Calibri" pitchFamily="34" charset="-120"/>
              </a:rPr>
              <a:t>✓ Lã PET obrigatória. Entre unidades: dupla chapa (120mm ou 193mm)</a:t>
            </a:r>
            <a:endParaRPr lang="en-US" sz="850" dirty="0"/>
          </a:p>
        </p:txBody>
      </p:sp>
      <p:sp>
        <p:nvSpPr>
          <p:cNvPr id="12" name="Shape 9"/>
          <p:cNvSpPr/>
          <p:nvPr/>
        </p:nvSpPr>
        <p:spPr>
          <a:xfrm>
            <a:off x="4727448" y="822960"/>
            <a:ext cx="4114800" cy="1280160"/>
          </a:xfrm>
          <a:prstGeom prst="roundRect">
            <a:avLst>
              <a:gd name="adj" fmla="val 5714"/>
            </a:avLst>
          </a:prstGeom>
          <a:solidFill>
            <a:srgbClr val="2A2A2A"/>
          </a:solidFill>
          <a:ln/>
          <a:effectLst>
            <a:outerShdw sx="100000" sy="100000" kx="0" ky="0" algn="bl" rotWithShape="0" blurRad="101600" dist="38100" dir="2700000">
              <a:srgbClr val="000000">
                <a:alpha val="18000"/>
              </a:srgbClr>
            </a:outerShdw>
          </a:effectLst>
        </p:spPr>
      </p:sp>
      <p:pic>
        <p:nvPicPr>
          <p:cNvPr id="13" name="Image 1" descr="preencoded.png">    </p:cNvPr>
          <p:cNvPicPr>
            <a:picLocks noChangeAspect="1"/>
          </p:cNvPicPr>
          <p:nvPr/>
        </p:nvPicPr>
        <p:blipFill>
          <a:blip r:embed="rId2"/>
          <a:stretch>
            <a:fillRect/>
          </a:stretch>
        </p:blipFill>
        <p:spPr>
          <a:xfrm>
            <a:off x="4864608" y="932688"/>
            <a:ext cx="320040" cy="320040"/>
          </a:xfrm>
          <a:prstGeom prst="rect">
            <a:avLst/>
          </a:prstGeom>
        </p:spPr>
      </p:pic>
      <p:sp>
        <p:nvSpPr>
          <p:cNvPr id="14" name="Text 10"/>
          <p:cNvSpPr/>
          <p:nvPr/>
        </p:nvSpPr>
        <p:spPr>
          <a:xfrm>
            <a:off x="5257800" y="914400"/>
            <a:ext cx="2926080" cy="310896"/>
          </a:xfrm>
          <a:prstGeom prst="rect">
            <a:avLst/>
          </a:prstGeom>
          <a:noFill/>
          <a:ln/>
        </p:spPr>
        <p:txBody>
          <a:bodyPr wrap="square" lIns="0" tIns="0" rIns="0" bIns="0" rtlCol="0" anchor="ctr"/>
          <a:lstStyle/>
          <a:p>
            <a:pPr indent="0" marL="0">
              <a:buNone/>
            </a:pPr>
            <a:r>
              <a:rPr lang="en-US" sz="1000" b="1" dirty="0">
                <a:solidFill>
                  <a:srgbClr val="C8A84B"/>
                </a:solidFill>
                <a:latin typeface="Cambria" pitchFamily="34" charset="0"/>
                <a:ea typeface="Cambria" pitchFamily="34" charset="-122"/>
                <a:cs typeface="Cambria" pitchFamily="34" charset="-120"/>
              </a:rPr>
              <a:t>Resistência ao fogo</a:t>
            </a:r>
            <a:endParaRPr lang="en-US" sz="1000" dirty="0"/>
          </a:p>
        </p:txBody>
      </p:sp>
      <p:sp>
        <p:nvSpPr>
          <p:cNvPr id="15" name="Text 11"/>
          <p:cNvSpPr/>
          <p:nvPr/>
        </p:nvSpPr>
        <p:spPr>
          <a:xfrm>
            <a:off x="8220456" y="914400"/>
            <a:ext cx="530352" cy="256032"/>
          </a:xfrm>
          <a:prstGeom prst="rect">
            <a:avLst>
              <a:gd name="adj" fmla="val 10714"/>
            </a:avLst>
          </a:prstGeom>
          <a:solidFill>
            <a:srgbClr val="C62828"/>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ALTO</a:t>
            </a:r>
            <a:endParaRPr lang="en-US" sz="800" dirty="0"/>
          </a:p>
        </p:txBody>
      </p:sp>
      <p:sp>
        <p:nvSpPr>
          <p:cNvPr id="16" name="Shape 12"/>
          <p:cNvSpPr/>
          <p:nvPr/>
        </p:nvSpPr>
        <p:spPr>
          <a:xfrm>
            <a:off x="8220456" y="914400"/>
            <a:ext cx="530352" cy="256032"/>
          </a:xfrm>
          <a:prstGeom prst="roundRect">
            <a:avLst>
              <a:gd name="adj" fmla="val 10714"/>
            </a:avLst>
          </a:prstGeom>
          <a:solidFill>
            <a:srgbClr val="C62828"/>
          </a:solidFill>
          <a:ln/>
        </p:spPr>
      </p:sp>
      <p:sp>
        <p:nvSpPr>
          <p:cNvPr id="17" name="Text 13"/>
          <p:cNvSpPr/>
          <p:nvPr/>
        </p:nvSpPr>
        <p:spPr>
          <a:xfrm>
            <a:off x="8220456" y="914400"/>
            <a:ext cx="530352"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ALTO</a:t>
            </a:r>
            <a:endParaRPr lang="en-US" sz="750" dirty="0"/>
          </a:p>
        </p:txBody>
      </p:sp>
      <p:sp>
        <p:nvSpPr>
          <p:cNvPr id="18" name="Text 14"/>
          <p:cNvSpPr/>
          <p:nvPr/>
        </p:nvSpPr>
        <p:spPr>
          <a:xfrm>
            <a:off x="4864608" y="1280160"/>
            <a:ext cx="3840480" cy="274320"/>
          </a:xfrm>
          <a:prstGeom prst="rect">
            <a:avLst/>
          </a:prstGeom>
          <a:noFill/>
          <a:ln/>
        </p:spPr>
        <p:txBody>
          <a:bodyPr wrap="square" lIns="0" tIns="0" rIns="0" bIns="0" rtlCol="0" anchor="ctr"/>
          <a:lstStyle/>
          <a:p>
            <a:pPr indent="0" marL="0">
              <a:buNone/>
            </a:pPr>
            <a:r>
              <a:rPr lang="en-US" sz="850" dirty="0">
                <a:solidFill>
                  <a:srgbClr val="E8B84B"/>
                </a:solidFill>
                <a:latin typeface="Calibri" pitchFamily="34" charset="0"/>
                <a:ea typeface="Calibri" pitchFamily="34" charset="-122"/>
                <a:cs typeface="Calibri" pitchFamily="34" charset="-120"/>
              </a:rPr>
              <a:t>⚠ TRRF é do sistema completo — a chapa RF isolada não garante</a:t>
            </a:r>
            <a:endParaRPr lang="en-US" sz="850" dirty="0"/>
          </a:p>
        </p:txBody>
      </p:sp>
      <p:sp>
        <p:nvSpPr>
          <p:cNvPr id="19" name="Text 15"/>
          <p:cNvSpPr/>
          <p:nvPr/>
        </p:nvSpPr>
        <p:spPr>
          <a:xfrm>
            <a:off x="4864608" y="1572768"/>
            <a:ext cx="3840480" cy="384048"/>
          </a:xfrm>
          <a:prstGeom prst="rect">
            <a:avLst/>
          </a:prstGeom>
          <a:noFill/>
          <a:ln/>
        </p:spPr>
        <p:txBody>
          <a:bodyPr wrap="square" lIns="0" tIns="0" rIns="0" bIns="0" rtlCol="0" anchor="ctr"/>
          <a:lstStyle/>
          <a:p>
            <a:pPr indent="0" marL="0">
              <a:buNone/>
            </a:pPr>
            <a:r>
              <a:rPr lang="en-US" sz="850" dirty="0">
                <a:solidFill>
                  <a:srgbClr val="F0EFEC"/>
                </a:solidFill>
                <a:latin typeface="Calibri" pitchFamily="34" charset="0"/>
                <a:ea typeface="Calibri" pitchFamily="34" charset="-122"/>
                <a:cs typeface="Calibri" pitchFamily="34" charset="-120"/>
              </a:rPr>
              <a:t>✓ Usar sistemas com laudo IPT/IBAPE. Confirmar com projeto PPCI</a:t>
            </a:r>
            <a:endParaRPr lang="en-US" sz="850" dirty="0"/>
          </a:p>
        </p:txBody>
      </p:sp>
      <p:sp>
        <p:nvSpPr>
          <p:cNvPr id="20" name="Shape 16"/>
          <p:cNvSpPr/>
          <p:nvPr/>
        </p:nvSpPr>
        <p:spPr>
          <a:xfrm>
            <a:off x="320040" y="2240280"/>
            <a:ext cx="4114800" cy="1280160"/>
          </a:xfrm>
          <a:prstGeom prst="roundRect">
            <a:avLst>
              <a:gd name="adj" fmla="val 5714"/>
            </a:avLst>
          </a:prstGeom>
          <a:solidFill>
            <a:srgbClr val="2A2A2A"/>
          </a:solidFill>
          <a:ln/>
          <a:effectLst>
            <a:outerShdw sx="100000" sy="100000" kx="0" ky="0" algn="bl" rotWithShape="0" blurRad="101600" dist="38100" dir="2700000">
              <a:srgbClr val="000000">
                <a:alpha val="18000"/>
              </a:srgbClr>
            </a:outerShdw>
          </a:effectLst>
        </p:spPr>
      </p:sp>
      <p:pic>
        <p:nvPicPr>
          <p:cNvPr id="21" name="Image 2" descr="preencoded.png">    </p:cNvPr>
          <p:cNvPicPr>
            <a:picLocks noChangeAspect="1"/>
          </p:cNvPicPr>
          <p:nvPr/>
        </p:nvPicPr>
        <p:blipFill>
          <a:blip r:embed="rId3"/>
          <a:stretch>
            <a:fillRect/>
          </a:stretch>
        </p:blipFill>
        <p:spPr>
          <a:xfrm>
            <a:off x="457200" y="2350008"/>
            <a:ext cx="320040" cy="320040"/>
          </a:xfrm>
          <a:prstGeom prst="rect">
            <a:avLst/>
          </a:prstGeom>
        </p:spPr>
      </p:pic>
      <p:sp>
        <p:nvSpPr>
          <p:cNvPr id="22" name="Text 17"/>
          <p:cNvSpPr/>
          <p:nvPr/>
        </p:nvSpPr>
        <p:spPr>
          <a:xfrm>
            <a:off x="850392" y="2331720"/>
            <a:ext cx="2926080" cy="310896"/>
          </a:xfrm>
          <a:prstGeom prst="rect">
            <a:avLst/>
          </a:prstGeom>
          <a:noFill/>
          <a:ln/>
        </p:spPr>
        <p:txBody>
          <a:bodyPr wrap="square" lIns="0" tIns="0" rIns="0" bIns="0" rtlCol="0" anchor="ctr"/>
          <a:lstStyle/>
          <a:p>
            <a:pPr indent="0" marL="0">
              <a:buNone/>
            </a:pPr>
            <a:r>
              <a:rPr lang="en-US" sz="1000" b="1" dirty="0">
                <a:solidFill>
                  <a:srgbClr val="C8A84B"/>
                </a:solidFill>
                <a:latin typeface="Cambria" pitchFamily="34" charset="0"/>
                <a:ea typeface="Cambria" pitchFamily="34" charset="-122"/>
                <a:cs typeface="Cambria" pitchFamily="34" charset="-120"/>
              </a:rPr>
              <a:t>Execução sem qualificação</a:t>
            </a:r>
            <a:endParaRPr lang="en-US" sz="1000" dirty="0"/>
          </a:p>
        </p:txBody>
      </p:sp>
      <p:sp>
        <p:nvSpPr>
          <p:cNvPr id="23" name="Text 18"/>
          <p:cNvSpPr/>
          <p:nvPr/>
        </p:nvSpPr>
        <p:spPr>
          <a:xfrm>
            <a:off x="3813048" y="2331720"/>
            <a:ext cx="530352" cy="256032"/>
          </a:xfrm>
          <a:prstGeom prst="rect">
            <a:avLst>
              <a:gd name="adj" fmla="val 10714"/>
            </a:avLst>
          </a:prstGeom>
          <a:solidFill>
            <a:srgbClr val="C62828"/>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ALTO</a:t>
            </a:r>
            <a:endParaRPr lang="en-US" sz="800" dirty="0"/>
          </a:p>
        </p:txBody>
      </p:sp>
      <p:sp>
        <p:nvSpPr>
          <p:cNvPr id="24" name="Shape 19"/>
          <p:cNvSpPr/>
          <p:nvPr/>
        </p:nvSpPr>
        <p:spPr>
          <a:xfrm>
            <a:off x="3813048" y="2331720"/>
            <a:ext cx="530352" cy="256032"/>
          </a:xfrm>
          <a:prstGeom prst="roundRect">
            <a:avLst>
              <a:gd name="adj" fmla="val 10714"/>
            </a:avLst>
          </a:prstGeom>
          <a:solidFill>
            <a:srgbClr val="C62828"/>
          </a:solidFill>
          <a:ln/>
        </p:spPr>
      </p:sp>
      <p:sp>
        <p:nvSpPr>
          <p:cNvPr id="25" name="Text 20"/>
          <p:cNvSpPr/>
          <p:nvPr/>
        </p:nvSpPr>
        <p:spPr>
          <a:xfrm>
            <a:off x="3813048" y="2331720"/>
            <a:ext cx="530352"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ALTO</a:t>
            </a:r>
            <a:endParaRPr lang="en-US" sz="750" dirty="0"/>
          </a:p>
        </p:txBody>
      </p:sp>
      <p:sp>
        <p:nvSpPr>
          <p:cNvPr id="26" name="Text 21"/>
          <p:cNvSpPr/>
          <p:nvPr/>
        </p:nvSpPr>
        <p:spPr>
          <a:xfrm>
            <a:off x="457200" y="2697480"/>
            <a:ext cx="3840480" cy="274320"/>
          </a:xfrm>
          <a:prstGeom prst="rect">
            <a:avLst/>
          </a:prstGeom>
          <a:noFill/>
          <a:ln/>
        </p:spPr>
        <p:txBody>
          <a:bodyPr wrap="square" lIns="0" tIns="0" rIns="0" bIns="0" rtlCol="0" anchor="ctr"/>
          <a:lstStyle/>
          <a:p>
            <a:pPr indent="0" marL="0">
              <a:buNone/>
            </a:pPr>
            <a:r>
              <a:rPr lang="en-US" sz="850" dirty="0">
                <a:solidFill>
                  <a:srgbClr val="E8B84B"/>
                </a:solidFill>
                <a:latin typeface="Calibri" pitchFamily="34" charset="0"/>
                <a:ea typeface="Calibri" pitchFamily="34" charset="-122"/>
                <a:cs typeface="Calibri" pitchFamily="34" charset="-120"/>
              </a:rPr>
              <a:t>⚠ Profissional não habilitado invalida o desempenho do sistema</a:t>
            </a:r>
            <a:endParaRPr lang="en-US" sz="850" dirty="0"/>
          </a:p>
        </p:txBody>
      </p:sp>
      <p:sp>
        <p:nvSpPr>
          <p:cNvPr id="27" name="Text 22"/>
          <p:cNvSpPr/>
          <p:nvPr/>
        </p:nvSpPr>
        <p:spPr>
          <a:xfrm>
            <a:off x="457200" y="2990088"/>
            <a:ext cx="3840480" cy="384048"/>
          </a:xfrm>
          <a:prstGeom prst="rect">
            <a:avLst/>
          </a:prstGeom>
          <a:noFill/>
          <a:ln/>
        </p:spPr>
        <p:txBody>
          <a:bodyPr wrap="square" lIns="0" tIns="0" rIns="0" bIns="0" rtlCol="0" anchor="ctr"/>
          <a:lstStyle/>
          <a:p>
            <a:pPr indent="0" marL="0">
              <a:buNone/>
            </a:pPr>
            <a:r>
              <a:rPr lang="en-US" sz="850" dirty="0">
                <a:solidFill>
                  <a:srgbClr val="F0EFEC"/>
                </a:solidFill>
                <a:latin typeface="Calibri" pitchFamily="34" charset="0"/>
                <a:ea typeface="Calibri" pitchFamily="34" charset="-122"/>
                <a:cs typeface="Calibri" pitchFamily="34" charset="-120"/>
              </a:rPr>
              <a:t>✓ Contratar empresa especializada. Checklist de liberação assinado</a:t>
            </a:r>
            <a:endParaRPr lang="en-US" sz="850" dirty="0"/>
          </a:p>
        </p:txBody>
      </p:sp>
      <p:sp>
        <p:nvSpPr>
          <p:cNvPr id="28" name="Shape 23"/>
          <p:cNvSpPr/>
          <p:nvPr/>
        </p:nvSpPr>
        <p:spPr>
          <a:xfrm>
            <a:off x="4727448" y="2240280"/>
            <a:ext cx="4114800" cy="1280160"/>
          </a:xfrm>
          <a:prstGeom prst="roundRect">
            <a:avLst>
              <a:gd name="adj" fmla="val 5714"/>
            </a:avLst>
          </a:prstGeom>
          <a:solidFill>
            <a:srgbClr val="2A2A2A"/>
          </a:solidFill>
          <a:ln/>
          <a:effectLst>
            <a:outerShdw sx="100000" sy="100000" kx="0" ky="0" algn="bl" rotWithShape="0" blurRad="101600" dist="38100" dir="2700000">
              <a:srgbClr val="000000">
                <a:alpha val="18000"/>
              </a:srgbClr>
            </a:outerShdw>
          </a:effectLst>
        </p:spPr>
      </p:sp>
      <p:pic>
        <p:nvPicPr>
          <p:cNvPr id="29" name="Image 3" descr="preencoded.png">    </p:cNvPr>
          <p:cNvPicPr>
            <a:picLocks noChangeAspect="1"/>
          </p:cNvPicPr>
          <p:nvPr/>
        </p:nvPicPr>
        <p:blipFill>
          <a:blip r:embed="rId4"/>
          <a:stretch>
            <a:fillRect/>
          </a:stretch>
        </p:blipFill>
        <p:spPr>
          <a:xfrm>
            <a:off x="4864608" y="2350008"/>
            <a:ext cx="320040" cy="320040"/>
          </a:xfrm>
          <a:prstGeom prst="rect">
            <a:avLst/>
          </a:prstGeom>
        </p:spPr>
      </p:pic>
      <p:sp>
        <p:nvSpPr>
          <p:cNvPr id="30" name="Text 24"/>
          <p:cNvSpPr/>
          <p:nvPr/>
        </p:nvSpPr>
        <p:spPr>
          <a:xfrm>
            <a:off x="5257800" y="2331720"/>
            <a:ext cx="2926080" cy="310896"/>
          </a:xfrm>
          <a:prstGeom prst="rect">
            <a:avLst/>
          </a:prstGeom>
          <a:noFill/>
          <a:ln/>
        </p:spPr>
        <p:txBody>
          <a:bodyPr wrap="square" lIns="0" tIns="0" rIns="0" bIns="0" rtlCol="0" anchor="ctr"/>
          <a:lstStyle/>
          <a:p>
            <a:pPr indent="0" marL="0">
              <a:buNone/>
            </a:pPr>
            <a:r>
              <a:rPr lang="en-US" sz="1000" b="1" dirty="0">
                <a:solidFill>
                  <a:srgbClr val="C8A84B"/>
                </a:solidFill>
                <a:latin typeface="Cambria" pitchFamily="34" charset="0"/>
                <a:ea typeface="Cambria" pitchFamily="34" charset="-122"/>
                <a:cs typeface="Cambria" pitchFamily="34" charset="-120"/>
              </a:rPr>
              <a:t>Umidade em áreas molhadas</a:t>
            </a:r>
            <a:endParaRPr lang="en-US" sz="1000" dirty="0"/>
          </a:p>
        </p:txBody>
      </p:sp>
      <p:sp>
        <p:nvSpPr>
          <p:cNvPr id="31" name="Text 25"/>
          <p:cNvSpPr/>
          <p:nvPr/>
        </p:nvSpPr>
        <p:spPr>
          <a:xfrm>
            <a:off x="8220456" y="2331720"/>
            <a:ext cx="530352" cy="256032"/>
          </a:xfrm>
          <a:prstGeom prst="rect">
            <a:avLst>
              <a:gd name="adj" fmla="val 10714"/>
            </a:avLst>
          </a:prstGeom>
          <a:solidFill>
            <a:srgbClr val="E8B84B"/>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MÉD.</a:t>
            </a:r>
            <a:endParaRPr lang="en-US" sz="800" dirty="0"/>
          </a:p>
        </p:txBody>
      </p:sp>
      <p:sp>
        <p:nvSpPr>
          <p:cNvPr id="32" name="Shape 26"/>
          <p:cNvSpPr/>
          <p:nvPr/>
        </p:nvSpPr>
        <p:spPr>
          <a:xfrm>
            <a:off x="8220456" y="2331720"/>
            <a:ext cx="530352" cy="256032"/>
          </a:xfrm>
          <a:prstGeom prst="roundRect">
            <a:avLst>
              <a:gd name="adj" fmla="val 10714"/>
            </a:avLst>
          </a:prstGeom>
          <a:solidFill>
            <a:srgbClr val="E8B84B"/>
          </a:solidFill>
          <a:ln/>
        </p:spPr>
      </p:sp>
      <p:sp>
        <p:nvSpPr>
          <p:cNvPr id="33" name="Text 27"/>
          <p:cNvSpPr/>
          <p:nvPr/>
        </p:nvSpPr>
        <p:spPr>
          <a:xfrm>
            <a:off x="8220456" y="2331720"/>
            <a:ext cx="530352"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MÉD.</a:t>
            </a:r>
            <a:endParaRPr lang="en-US" sz="750" dirty="0"/>
          </a:p>
        </p:txBody>
      </p:sp>
      <p:sp>
        <p:nvSpPr>
          <p:cNvPr id="34" name="Text 28"/>
          <p:cNvSpPr/>
          <p:nvPr/>
        </p:nvSpPr>
        <p:spPr>
          <a:xfrm>
            <a:off x="4864608" y="2697480"/>
            <a:ext cx="3840480" cy="274320"/>
          </a:xfrm>
          <a:prstGeom prst="rect">
            <a:avLst/>
          </a:prstGeom>
          <a:noFill/>
          <a:ln/>
        </p:spPr>
        <p:txBody>
          <a:bodyPr wrap="square" lIns="0" tIns="0" rIns="0" bIns="0" rtlCol="0" anchor="ctr"/>
          <a:lstStyle/>
          <a:p>
            <a:pPr indent="0" marL="0">
              <a:buNone/>
            </a:pPr>
            <a:r>
              <a:rPr lang="en-US" sz="850" dirty="0">
                <a:solidFill>
                  <a:srgbClr val="E8B84B"/>
                </a:solidFill>
                <a:latin typeface="Calibri" pitchFamily="34" charset="0"/>
                <a:ea typeface="Calibri" pitchFamily="34" charset="-122"/>
                <a:cs typeface="Calibri" pitchFamily="34" charset="-120"/>
              </a:rPr>
              <a:t>⚠ Chapa RU resiste à umidade controlada — não é impermeável</a:t>
            </a:r>
            <a:endParaRPr lang="en-US" sz="850" dirty="0"/>
          </a:p>
        </p:txBody>
      </p:sp>
      <p:sp>
        <p:nvSpPr>
          <p:cNvPr id="35" name="Text 29"/>
          <p:cNvSpPr/>
          <p:nvPr/>
        </p:nvSpPr>
        <p:spPr>
          <a:xfrm>
            <a:off x="4864608" y="2990088"/>
            <a:ext cx="3840480" cy="384048"/>
          </a:xfrm>
          <a:prstGeom prst="rect">
            <a:avLst/>
          </a:prstGeom>
          <a:noFill/>
          <a:ln/>
        </p:spPr>
        <p:txBody>
          <a:bodyPr wrap="square" lIns="0" tIns="0" rIns="0" bIns="0" rtlCol="0" anchor="ctr"/>
          <a:lstStyle/>
          <a:p>
            <a:pPr indent="0" marL="0">
              <a:buNone/>
            </a:pPr>
            <a:r>
              <a:rPr lang="en-US" sz="850" dirty="0">
                <a:solidFill>
                  <a:srgbClr val="F0EFEC"/>
                </a:solidFill>
                <a:latin typeface="Calibri" pitchFamily="34" charset="0"/>
                <a:ea typeface="Calibri" pitchFamily="34" charset="-122"/>
                <a:cs typeface="Calibri" pitchFamily="34" charset="-120"/>
              </a:rPr>
              <a:t>✓ Impermeabilização da base obrigatória antes do revestimento</a:t>
            </a:r>
            <a:endParaRPr lang="en-US" sz="850" dirty="0"/>
          </a:p>
        </p:txBody>
      </p:sp>
      <p:sp>
        <p:nvSpPr>
          <p:cNvPr id="36" name="Shape 30"/>
          <p:cNvSpPr/>
          <p:nvPr/>
        </p:nvSpPr>
        <p:spPr>
          <a:xfrm>
            <a:off x="320040" y="3657600"/>
            <a:ext cx="4114800" cy="1280160"/>
          </a:xfrm>
          <a:prstGeom prst="roundRect">
            <a:avLst>
              <a:gd name="adj" fmla="val 5714"/>
            </a:avLst>
          </a:prstGeom>
          <a:solidFill>
            <a:srgbClr val="2A2A2A"/>
          </a:solidFill>
          <a:ln/>
          <a:effectLst>
            <a:outerShdw sx="100000" sy="100000" kx="0" ky="0" algn="bl" rotWithShape="0" blurRad="101600" dist="38100" dir="2700000">
              <a:srgbClr val="000000">
                <a:alpha val="18000"/>
              </a:srgbClr>
            </a:outerShdw>
          </a:effectLst>
        </p:spPr>
      </p:sp>
      <p:pic>
        <p:nvPicPr>
          <p:cNvPr id="37" name="Image 4" descr="preencoded.png">    </p:cNvPr>
          <p:cNvPicPr>
            <a:picLocks noChangeAspect="1"/>
          </p:cNvPicPr>
          <p:nvPr/>
        </p:nvPicPr>
        <p:blipFill>
          <a:blip r:embed="rId5"/>
          <a:stretch>
            <a:fillRect/>
          </a:stretch>
        </p:blipFill>
        <p:spPr>
          <a:xfrm>
            <a:off x="457200" y="3767328"/>
            <a:ext cx="320040" cy="320040"/>
          </a:xfrm>
          <a:prstGeom prst="rect">
            <a:avLst/>
          </a:prstGeom>
        </p:spPr>
      </p:pic>
      <p:sp>
        <p:nvSpPr>
          <p:cNvPr id="38" name="Text 31"/>
          <p:cNvSpPr/>
          <p:nvPr/>
        </p:nvSpPr>
        <p:spPr>
          <a:xfrm>
            <a:off x="850392" y="3749040"/>
            <a:ext cx="2926080" cy="310896"/>
          </a:xfrm>
          <a:prstGeom prst="rect">
            <a:avLst/>
          </a:prstGeom>
          <a:noFill/>
          <a:ln/>
        </p:spPr>
        <p:txBody>
          <a:bodyPr wrap="square" lIns="0" tIns="0" rIns="0" bIns="0" rtlCol="0" anchor="ctr"/>
          <a:lstStyle/>
          <a:p>
            <a:pPr indent="0" marL="0">
              <a:buNone/>
            </a:pPr>
            <a:r>
              <a:rPr lang="en-US" sz="1000" b="1" dirty="0">
                <a:solidFill>
                  <a:srgbClr val="C8A84B"/>
                </a:solidFill>
                <a:latin typeface="Cambria" pitchFamily="34" charset="0"/>
                <a:ea typeface="Cambria" pitchFamily="34" charset="-122"/>
                <a:cs typeface="Cambria" pitchFamily="34" charset="-120"/>
              </a:rPr>
              <a:t>Cargas suspensas</a:t>
            </a:r>
            <a:endParaRPr lang="en-US" sz="1000" dirty="0"/>
          </a:p>
        </p:txBody>
      </p:sp>
      <p:sp>
        <p:nvSpPr>
          <p:cNvPr id="39" name="Text 32"/>
          <p:cNvSpPr/>
          <p:nvPr/>
        </p:nvSpPr>
        <p:spPr>
          <a:xfrm>
            <a:off x="3813048" y="3749040"/>
            <a:ext cx="530352" cy="256032"/>
          </a:xfrm>
          <a:prstGeom prst="rect">
            <a:avLst>
              <a:gd name="adj" fmla="val 10714"/>
            </a:avLst>
          </a:prstGeom>
          <a:solidFill>
            <a:srgbClr val="E8B84B"/>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MÉD.</a:t>
            </a:r>
            <a:endParaRPr lang="en-US" sz="800" dirty="0"/>
          </a:p>
        </p:txBody>
      </p:sp>
      <p:sp>
        <p:nvSpPr>
          <p:cNvPr id="40" name="Shape 33"/>
          <p:cNvSpPr/>
          <p:nvPr/>
        </p:nvSpPr>
        <p:spPr>
          <a:xfrm>
            <a:off x="3813048" y="3749040"/>
            <a:ext cx="530352" cy="256032"/>
          </a:xfrm>
          <a:prstGeom prst="roundRect">
            <a:avLst>
              <a:gd name="adj" fmla="val 10714"/>
            </a:avLst>
          </a:prstGeom>
          <a:solidFill>
            <a:srgbClr val="E8B84B"/>
          </a:solidFill>
          <a:ln/>
        </p:spPr>
      </p:sp>
      <p:sp>
        <p:nvSpPr>
          <p:cNvPr id="41" name="Text 34"/>
          <p:cNvSpPr/>
          <p:nvPr/>
        </p:nvSpPr>
        <p:spPr>
          <a:xfrm>
            <a:off x="3813048" y="3749040"/>
            <a:ext cx="530352"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MÉD.</a:t>
            </a:r>
            <a:endParaRPr lang="en-US" sz="750" dirty="0"/>
          </a:p>
        </p:txBody>
      </p:sp>
      <p:sp>
        <p:nvSpPr>
          <p:cNvPr id="42" name="Text 35"/>
          <p:cNvSpPr/>
          <p:nvPr/>
        </p:nvSpPr>
        <p:spPr>
          <a:xfrm>
            <a:off x="457200" y="4114800"/>
            <a:ext cx="3840480" cy="274320"/>
          </a:xfrm>
          <a:prstGeom prst="rect">
            <a:avLst/>
          </a:prstGeom>
          <a:noFill/>
          <a:ln/>
        </p:spPr>
        <p:txBody>
          <a:bodyPr wrap="square" lIns="0" tIns="0" rIns="0" bIns="0" rtlCol="0" anchor="ctr"/>
          <a:lstStyle/>
          <a:p>
            <a:pPr indent="0" marL="0">
              <a:buNone/>
            </a:pPr>
            <a:r>
              <a:rPr lang="en-US" sz="850" dirty="0">
                <a:solidFill>
                  <a:srgbClr val="E8B84B"/>
                </a:solidFill>
                <a:latin typeface="Calibri" pitchFamily="34" charset="0"/>
                <a:ea typeface="Calibri" pitchFamily="34" charset="-122"/>
                <a:cs typeface="Calibri" pitchFamily="34" charset="-120"/>
              </a:rPr>
              <a:t>⚠ Parede sem reforço não suporta bancadas, TVs e armários pesados</a:t>
            </a:r>
            <a:endParaRPr lang="en-US" sz="850" dirty="0"/>
          </a:p>
        </p:txBody>
      </p:sp>
      <p:sp>
        <p:nvSpPr>
          <p:cNvPr id="43" name="Text 36"/>
          <p:cNvSpPr/>
          <p:nvPr/>
        </p:nvSpPr>
        <p:spPr>
          <a:xfrm>
            <a:off x="457200" y="4407408"/>
            <a:ext cx="3840480" cy="384048"/>
          </a:xfrm>
          <a:prstGeom prst="rect">
            <a:avLst/>
          </a:prstGeom>
          <a:noFill/>
          <a:ln/>
        </p:spPr>
        <p:txBody>
          <a:bodyPr wrap="square" lIns="0" tIns="0" rIns="0" bIns="0" rtlCol="0" anchor="ctr"/>
          <a:lstStyle/>
          <a:p>
            <a:pPr indent="0" marL="0">
              <a:buNone/>
            </a:pPr>
            <a:r>
              <a:rPr lang="en-US" sz="850" dirty="0">
                <a:solidFill>
                  <a:srgbClr val="F0EFEC"/>
                </a:solidFill>
                <a:latin typeface="Calibri" pitchFamily="34" charset="0"/>
                <a:ea typeface="Calibri" pitchFamily="34" charset="-122"/>
                <a:cs typeface="Calibri" pitchFamily="34" charset="-120"/>
              </a:rPr>
              <a:t>✓ Reforços metálicos ou de madeira previstos no projeto executivo</a:t>
            </a:r>
            <a:endParaRPr lang="en-US" sz="850" dirty="0"/>
          </a:p>
        </p:txBody>
      </p:sp>
      <p:sp>
        <p:nvSpPr>
          <p:cNvPr id="44" name="Shape 37"/>
          <p:cNvSpPr/>
          <p:nvPr/>
        </p:nvSpPr>
        <p:spPr>
          <a:xfrm>
            <a:off x="4727448" y="3657600"/>
            <a:ext cx="4114800" cy="1280160"/>
          </a:xfrm>
          <a:prstGeom prst="roundRect">
            <a:avLst>
              <a:gd name="adj" fmla="val 5714"/>
            </a:avLst>
          </a:prstGeom>
          <a:solidFill>
            <a:srgbClr val="2A2A2A"/>
          </a:solidFill>
          <a:ln/>
          <a:effectLst>
            <a:outerShdw sx="100000" sy="100000" kx="0" ky="0" algn="bl" rotWithShape="0" blurRad="101600" dist="38100" dir="2700000">
              <a:srgbClr val="000000">
                <a:alpha val="18000"/>
              </a:srgbClr>
            </a:outerShdw>
          </a:effectLst>
        </p:spPr>
      </p:sp>
      <p:pic>
        <p:nvPicPr>
          <p:cNvPr id="45" name="Image 5" descr="preencoded.png">    </p:cNvPr>
          <p:cNvPicPr>
            <a:picLocks noChangeAspect="1"/>
          </p:cNvPicPr>
          <p:nvPr/>
        </p:nvPicPr>
        <p:blipFill>
          <a:blip r:embed="rId6"/>
          <a:stretch>
            <a:fillRect/>
          </a:stretch>
        </p:blipFill>
        <p:spPr>
          <a:xfrm>
            <a:off x="4864608" y="3767328"/>
            <a:ext cx="320040" cy="320040"/>
          </a:xfrm>
          <a:prstGeom prst="rect">
            <a:avLst/>
          </a:prstGeom>
        </p:spPr>
      </p:pic>
      <p:sp>
        <p:nvSpPr>
          <p:cNvPr id="46" name="Text 38"/>
          <p:cNvSpPr/>
          <p:nvPr/>
        </p:nvSpPr>
        <p:spPr>
          <a:xfrm>
            <a:off x="5257800" y="3749040"/>
            <a:ext cx="2926080" cy="310896"/>
          </a:xfrm>
          <a:prstGeom prst="rect">
            <a:avLst/>
          </a:prstGeom>
          <a:noFill/>
          <a:ln/>
        </p:spPr>
        <p:txBody>
          <a:bodyPr wrap="square" lIns="0" tIns="0" rIns="0" bIns="0" rtlCol="0" anchor="ctr"/>
          <a:lstStyle/>
          <a:p>
            <a:pPr indent="0" marL="0">
              <a:buNone/>
            </a:pPr>
            <a:r>
              <a:rPr lang="en-US" sz="1000" b="1" dirty="0">
                <a:solidFill>
                  <a:srgbClr val="C8A84B"/>
                </a:solidFill>
                <a:latin typeface="Cambria" pitchFamily="34" charset="0"/>
                <a:ea typeface="Cambria" pitchFamily="34" charset="-122"/>
                <a:cs typeface="Cambria" pitchFamily="34" charset="-120"/>
              </a:rPr>
              <a:t>Percepção do cliente</a:t>
            </a:r>
            <a:endParaRPr lang="en-US" sz="1000" dirty="0"/>
          </a:p>
        </p:txBody>
      </p:sp>
      <p:sp>
        <p:nvSpPr>
          <p:cNvPr id="47" name="Text 39"/>
          <p:cNvSpPr/>
          <p:nvPr/>
        </p:nvSpPr>
        <p:spPr>
          <a:xfrm>
            <a:off x="8220456" y="3749040"/>
            <a:ext cx="530352" cy="256032"/>
          </a:xfrm>
          <a:prstGeom prst="rect">
            <a:avLst>
              <a:gd name="adj" fmla="val 10714"/>
            </a:avLst>
          </a:prstGeom>
          <a:solidFill>
            <a:srgbClr val="2E7D32"/>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BAIXO</a:t>
            </a:r>
            <a:endParaRPr lang="en-US" sz="800" dirty="0"/>
          </a:p>
        </p:txBody>
      </p:sp>
      <p:sp>
        <p:nvSpPr>
          <p:cNvPr id="48" name="Shape 40"/>
          <p:cNvSpPr/>
          <p:nvPr/>
        </p:nvSpPr>
        <p:spPr>
          <a:xfrm>
            <a:off x="8220456" y="3749040"/>
            <a:ext cx="530352" cy="256032"/>
          </a:xfrm>
          <a:prstGeom prst="roundRect">
            <a:avLst>
              <a:gd name="adj" fmla="val 10714"/>
            </a:avLst>
          </a:prstGeom>
          <a:solidFill>
            <a:srgbClr val="2E7D32"/>
          </a:solidFill>
          <a:ln/>
        </p:spPr>
      </p:sp>
      <p:sp>
        <p:nvSpPr>
          <p:cNvPr id="49" name="Text 41"/>
          <p:cNvSpPr/>
          <p:nvPr/>
        </p:nvSpPr>
        <p:spPr>
          <a:xfrm>
            <a:off x="8220456" y="3749040"/>
            <a:ext cx="530352"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BAIXO</a:t>
            </a:r>
            <a:endParaRPr lang="en-US" sz="750" dirty="0"/>
          </a:p>
        </p:txBody>
      </p:sp>
      <p:sp>
        <p:nvSpPr>
          <p:cNvPr id="50" name="Text 42"/>
          <p:cNvSpPr/>
          <p:nvPr/>
        </p:nvSpPr>
        <p:spPr>
          <a:xfrm>
            <a:off x="4864608" y="4114800"/>
            <a:ext cx="3840480" cy="274320"/>
          </a:xfrm>
          <a:prstGeom prst="rect">
            <a:avLst/>
          </a:prstGeom>
          <a:noFill/>
          <a:ln/>
        </p:spPr>
        <p:txBody>
          <a:bodyPr wrap="square" lIns="0" tIns="0" rIns="0" bIns="0" rtlCol="0" anchor="ctr"/>
          <a:lstStyle/>
          <a:p>
            <a:pPr indent="0" marL="0">
              <a:buNone/>
            </a:pPr>
            <a:r>
              <a:rPr lang="en-US" sz="850" dirty="0">
                <a:solidFill>
                  <a:srgbClr val="E8B84B"/>
                </a:solidFill>
                <a:latin typeface="Calibri" pitchFamily="34" charset="0"/>
                <a:ea typeface="Calibri" pitchFamily="34" charset="-122"/>
                <a:cs typeface="Calibri" pitchFamily="34" charset="-120"/>
              </a:rPr>
              <a:t>⚠ Resistência cultural — associação entre espessura e solidez</a:t>
            </a:r>
            <a:endParaRPr lang="en-US" sz="850" dirty="0"/>
          </a:p>
        </p:txBody>
      </p:sp>
      <p:sp>
        <p:nvSpPr>
          <p:cNvPr id="51" name="Text 43"/>
          <p:cNvSpPr/>
          <p:nvPr/>
        </p:nvSpPr>
        <p:spPr>
          <a:xfrm>
            <a:off x="4864608" y="4407408"/>
            <a:ext cx="3840480" cy="384048"/>
          </a:xfrm>
          <a:prstGeom prst="rect">
            <a:avLst/>
          </a:prstGeom>
          <a:noFill/>
          <a:ln/>
        </p:spPr>
        <p:txBody>
          <a:bodyPr wrap="square" lIns="0" tIns="0" rIns="0" bIns="0" rtlCol="0" anchor="ctr"/>
          <a:lstStyle/>
          <a:p>
            <a:pPr indent="0" marL="0">
              <a:buNone/>
            </a:pPr>
            <a:r>
              <a:rPr lang="en-US" sz="850" dirty="0">
                <a:solidFill>
                  <a:srgbClr val="F0EFEC"/>
                </a:solidFill>
                <a:latin typeface="Calibri" pitchFamily="34" charset="0"/>
                <a:ea typeface="Calibri" pitchFamily="34" charset="-122"/>
                <a:cs typeface="Calibri" pitchFamily="34" charset="-120"/>
              </a:rPr>
              <a:t>✓ Manual de uso e treinamento da equipe de vendas do empreendimento</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3"/>
        </a:solidFill>
      </p:bgPr>
    </p:bg>
    <p:spTree>
      <p:nvGrpSpPr>
        <p:cNvPr id="1" name=""/>
        <p:cNvGrpSpPr/>
        <p:nvPr/>
      </p:nvGrpSpPr>
      <p:grpSpPr>
        <a:xfrm>
          <a:off x="0" y="0"/>
          <a:ext cx="0" cy="0"/>
          <a:chOff x="0" y="0"/>
          <a:chExt cx="0" cy="0"/>
        </a:xfrm>
      </p:grpSpPr>
      <p:sp>
        <p:nvSpPr>
          <p:cNvPr id="2" name="Text 0"/>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666666"/>
                </a:solidFill>
              </a:rPr>
              <a:t>10 / 12</a:t>
            </a:r>
            <a:endParaRPr lang="en-US" sz="900" dirty="0"/>
          </a:p>
        </p:txBody>
      </p:sp>
      <p:sp>
        <p:nvSpPr>
          <p:cNvPr id="3" name="Text 1"/>
          <p:cNvSpPr/>
          <p:nvPr/>
        </p:nvSpPr>
        <p:spPr>
          <a:xfrm>
            <a:off x="457200" y="201168"/>
            <a:ext cx="8229600" cy="438912"/>
          </a:xfrm>
          <a:prstGeom prst="rect">
            <a:avLst/>
          </a:prstGeom>
          <a:noFill/>
          <a:ln/>
        </p:spPr>
        <p:txBody>
          <a:bodyPr wrap="square" lIns="0" tIns="0" rIns="0" bIns="0" rtlCol="0" anchor="ctr"/>
          <a:lstStyle/>
          <a:p>
            <a:pPr indent="0" marL="0">
              <a:buNone/>
            </a:pPr>
            <a:r>
              <a:rPr lang="en-US" sz="2200" b="1" dirty="0">
                <a:solidFill>
                  <a:srgbClr val="1E1E1E"/>
                </a:solidFill>
                <a:latin typeface="Cambria" pitchFamily="34" charset="0"/>
                <a:ea typeface="Cambria" pitchFamily="34" charset="-122"/>
                <a:cs typeface="Cambria" pitchFamily="34" charset="-120"/>
              </a:rPr>
              <a:t>EMBASAMENTO TÉCNICO E NORMATIVO</a:t>
            </a:r>
            <a:endParaRPr lang="en-US" sz="2200" dirty="0"/>
          </a:p>
        </p:txBody>
      </p:sp>
      <p:sp>
        <p:nvSpPr>
          <p:cNvPr id="4" name="Shape 2"/>
          <p:cNvSpPr/>
          <p:nvPr/>
        </p:nvSpPr>
        <p:spPr>
          <a:xfrm>
            <a:off x="457200" y="749808"/>
            <a:ext cx="1431036" cy="256032"/>
          </a:xfrm>
          <a:prstGeom prst="roundRect">
            <a:avLst>
              <a:gd name="adj" fmla="val 14286"/>
            </a:avLst>
          </a:prstGeom>
          <a:solidFill>
            <a:srgbClr val="C8A84B"/>
          </a:solidFill>
          <a:ln/>
        </p:spPr>
      </p:sp>
      <p:sp>
        <p:nvSpPr>
          <p:cNvPr id="5" name="Text 3"/>
          <p:cNvSpPr/>
          <p:nvPr/>
        </p:nvSpPr>
        <p:spPr>
          <a:xfrm>
            <a:off x="457200" y="758952"/>
            <a:ext cx="1431036" cy="246888"/>
          </a:xfrm>
          <a:prstGeom prst="rect">
            <a:avLst/>
          </a:prstGeom>
          <a:noFill/>
          <a:ln/>
        </p:spPr>
        <p:txBody>
          <a:bodyPr wrap="square" lIns="0" tIns="0" rIns="0" bIns="0" rtlCol="0" anchor="ctr"/>
          <a:lstStyle/>
          <a:p>
            <a:pPr algn="ctr" indent="0" marL="0">
              <a:buNone/>
            </a:pPr>
            <a:r>
              <a:rPr lang="en-US" sz="900" b="1" dirty="0">
                <a:solidFill>
                  <a:srgbClr val="1E1E1E"/>
                </a:solidFill>
              </a:rPr>
              <a:t>NORMAS ABNT</a:t>
            </a:r>
            <a:endParaRPr lang="en-US" sz="900" dirty="0"/>
          </a:p>
        </p:txBody>
      </p:sp>
      <p:sp>
        <p:nvSpPr>
          <p:cNvPr id="6" name="Shape 4"/>
          <p:cNvSpPr/>
          <p:nvPr/>
        </p:nvSpPr>
        <p:spPr>
          <a:xfrm>
            <a:off x="320040" y="987552"/>
            <a:ext cx="4160520" cy="877824"/>
          </a:xfrm>
          <a:prstGeom prst="roundRect">
            <a:avLst>
              <a:gd name="adj" fmla="val 7292"/>
            </a:avLst>
          </a:prstGeom>
          <a:solidFill>
            <a:srgbClr val="FFFFFF"/>
          </a:solidFill>
          <a:ln/>
          <a:effectLst>
            <a:outerShdw sx="100000" sy="100000" kx="0" ky="0" algn="bl" rotWithShape="0" blurRad="50800" dist="25400" dir="2700000">
              <a:srgbClr val="000000">
                <a:alpha val="12000"/>
              </a:srgbClr>
            </a:outerShdw>
          </a:effectLst>
        </p:spPr>
      </p:sp>
      <p:pic>
        <p:nvPicPr>
          <p:cNvPr id="7" name="Image 0" descr="preencoded.png">    </p:cNvPr>
          <p:cNvPicPr>
            <a:picLocks noChangeAspect="1"/>
          </p:cNvPicPr>
          <p:nvPr/>
        </p:nvPicPr>
        <p:blipFill>
          <a:blip r:embed="rId1"/>
          <a:stretch>
            <a:fillRect/>
          </a:stretch>
        </p:blipFill>
        <p:spPr>
          <a:xfrm>
            <a:off x="429768" y="1078992"/>
            <a:ext cx="292608" cy="292608"/>
          </a:xfrm>
          <a:prstGeom prst="rect">
            <a:avLst/>
          </a:prstGeom>
        </p:spPr>
      </p:pic>
      <p:sp>
        <p:nvSpPr>
          <p:cNvPr id="8" name="Text 5"/>
          <p:cNvSpPr/>
          <p:nvPr/>
        </p:nvSpPr>
        <p:spPr>
          <a:xfrm>
            <a:off x="795528" y="1060704"/>
            <a:ext cx="3566160" cy="310896"/>
          </a:xfrm>
          <a:prstGeom prst="rect">
            <a:avLst/>
          </a:prstGeom>
          <a:noFill/>
          <a:ln/>
        </p:spPr>
        <p:txBody>
          <a:bodyPr wrap="square" lIns="0" tIns="0" rIns="0" bIns="0" rtlCol="0" anchor="ctr"/>
          <a:lstStyle/>
          <a:p>
            <a:pPr indent="0" marL="0">
              <a:buNone/>
            </a:pPr>
            <a:r>
              <a:rPr lang="en-US" sz="950" b="1" dirty="0">
                <a:solidFill>
                  <a:srgbClr val="1E1E1E"/>
                </a:solidFill>
                <a:latin typeface="Cambria" pitchFamily="34" charset="0"/>
                <a:ea typeface="Cambria" pitchFamily="34" charset="-122"/>
                <a:cs typeface="Cambria" pitchFamily="34" charset="-120"/>
              </a:rPr>
              <a:t>NBR 15575:2013 (rev. 2021)</a:t>
            </a:r>
            <a:endParaRPr lang="en-US" sz="950" dirty="0"/>
          </a:p>
        </p:txBody>
      </p:sp>
      <p:sp>
        <p:nvSpPr>
          <p:cNvPr id="9" name="Text 6"/>
          <p:cNvSpPr/>
          <p:nvPr/>
        </p:nvSpPr>
        <p:spPr>
          <a:xfrm>
            <a:off x="429768" y="1399032"/>
            <a:ext cx="3931920" cy="384048"/>
          </a:xfrm>
          <a:prstGeom prst="rect">
            <a:avLst/>
          </a:prstGeom>
          <a:noFill/>
          <a:ln/>
        </p:spPr>
        <p:txBody>
          <a:bodyPr wrap="square" lIns="0" tIns="0" rIns="0" bIns="0" rtlCol="0" anchor="ctr"/>
          <a:lstStyle/>
          <a:p>
            <a:pPr indent="0" marL="0">
              <a:buNone/>
            </a:pPr>
            <a:r>
              <a:rPr lang="en-US" sz="850" dirty="0">
                <a:solidFill>
                  <a:srgbClr val="3A3A3A"/>
                </a:solidFill>
                <a:latin typeface="Calibri" pitchFamily="34" charset="0"/>
                <a:ea typeface="Calibri" pitchFamily="34" charset="-122"/>
                <a:cs typeface="Calibri" pitchFamily="34" charset="-120"/>
              </a:rPr>
              <a:t>Edificações habitacionais — Desempenho. Define DnT,w mínimo de isolamento acústico entre unidades habitacionais.</a:t>
            </a:r>
            <a:endParaRPr lang="en-US" sz="850" dirty="0"/>
          </a:p>
        </p:txBody>
      </p:sp>
      <p:sp>
        <p:nvSpPr>
          <p:cNvPr id="10" name="Shape 7"/>
          <p:cNvSpPr/>
          <p:nvPr/>
        </p:nvSpPr>
        <p:spPr>
          <a:xfrm>
            <a:off x="4727448" y="987552"/>
            <a:ext cx="4160520" cy="877824"/>
          </a:xfrm>
          <a:prstGeom prst="roundRect">
            <a:avLst>
              <a:gd name="adj" fmla="val 7292"/>
            </a:avLst>
          </a:prstGeom>
          <a:solidFill>
            <a:srgbClr val="F0EFEC"/>
          </a:solidFill>
          <a:ln/>
          <a:effectLst>
            <a:outerShdw sx="100000" sy="100000" kx="0" ky="0" algn="bl" rotWithShape="0" blurRad="50800" dist="25400" dir="2700000">
              <a:srgbClr val="000000">
                <a:alpha val="12000"/>
              </a:srgbClr>
            </a:outerShdw>
          </a:effectLst>
        </p:spPr>
      </p:sp>
      <p:pic>
        <p:nvPicPr>
          <p:cNvPr id="11" name="Image 1" descr="preencoded.png">    </p:cNvPr>
          <p:cNvPicPr>
            <a:picLocks noChangeAspect="1"/>
          </p:cNvPicPr>
          <p:nvPr/>
        </p:nvPicPr>
        <p:blipFill>
          <a:blip r:embed="rId2"/>
          <a:stretch>
            <a:fillRect/>
          </a:stretch>
        </p:blipFill>
        <p:spPr>
          <a:xfrm>
            <a:off x="4837176" y="1078992"/>
            <a:ext cx="292608" cy="292608"/>
          </a:xfrm>
          <a:prstGeom prst="rect">
            <a:avLst/>
          </a:prstGeom>
        </p:spPr>
      </p:pic>
      <p:sp>
        <p:nvSpPr>
          <p:cNvPr id="12" name="Text 8"/>
          <p:cNvSpPr/>
          <p:nvPr/>
        </p:nvSpPr>
        <p:spPr>
          <a:xfrm>
            <a:off x="5202936" y="1060704"/>
            <a:ext cx="3566160" cy="310896"/>
          </a:xfrm>
          <a:prstGeom prst="rect">
            <a:avLst/>
          </a:prstGeom>
          <a:noFill/>
          <a:ln/>
        </p:spPr>
        <p:txBody>
          <a:bodyPr wrap="square" lIns="0" tIns="0" rIns="0" bIns="0" rtlCol="0" anchor="ctr"/>
          <a:lstStyle/>
          <a:p>
            <a:pPr indent="0" marL="0">
              <a:buNone/>
            </a:pPr>
            <a:r>
              <a:rPr lang="en-US" sz="950" b="1" dirty="0">
                <a:solidFill>
                  <a:srgbClr val="1E1E1E"/>
                </a:solidFill>
                <a:latin typeface="Cambria" pitchFamily="34" charset="0"/>
                <a:ea typeface="Cambria" pitchFamily="34" charset="-122"/>
                <a:cs typeface="Cambria" pitchFamily="34" charset="-120"/>
              </a:rPr>
              <a:t>NBR 15758:2025  ★ NOVA</a:t>
            </a:r>
            <a:endParaRPr lang="en-US" sz="950" dirty="0"/>
          </a:p>
        </p:txBody>
      </p:sp>
      <p:sp>
        <p:nvSpPr>
          <p:cNvPr id="13" name="Text 9"/>
          <p:cNvSpPr/>
          <p:nvPr/>
        </p:nvSpPr>
        <p:spPr>
          <a:xfrm>
            <a:off x="4837176" y="1399032"/>
            <a:ext cx="3931920" cy="384048"/>
          </a:xfrm>
          <a:prstGeom prst="rect">
            <a:avLst/>
          </a:prstGeom>
          <a:noFill/>
          <a:ln/>
        </p:spPr>
        <p:txBody>
          <a:bodyPr wrap="square" lIns="0" tIns="0" rIns="0" bIns="0" rtlCol="0" anchor="ctr"/>
          <a:lstStyle/>
          <a:p>
            <a:pPr indent="0" marL="0">
              <a:buNone/>
            </a:pPr>
            <a:r>
              <a:rPr lang="en-US" sz="850" dirty="0">
                <a:solidFill>
                  <a:srgbClr val="3A3A3A"/>
                </a:solidFill>
                <a:latin typeface="Calibri" pitchFamily="34" charset="0"/>
                <a:ea typeface="Calibri" pitchFamily="34" charset="-122"/>
                <a:cs typeface="Calibri" pitchFamily="34" charset="-120"/>
              </a:rPr>
              <a:t>Sistemas em chapas de gesso — Projeto, desempenho e execução. Publicada 24/09/2025. Cancela e substitui as versões de 2009.</a:t>
            </a:r>
            <a:endParaRPr lang="en-US" sz="850" dirty="0"/>
          </a:p>
        </p:txBody>
      </p:sp>
      <p:sp>
        <p:nvSpPr>
          <p:cNvPr id="14" name="Shape 10"/>
          <p:cNvSpPr/>
          <p:nvPr/>
        </p:nvSpPr>
        <p:spPr>
          <a:xfrm>
            <a:off x="320040" y="1993392"/>
            <a:ext cx="4160520" cy="877824"/>
          </a:xfrm>
          <a:prstGeom prst="roundRect">
            <a:avLst>
              <a:gd name="adj" fmla="val 7292"/>
            </a:avLst>
          </a:prstGeom>
          <a:solidFill>
            <a:srgbClr val="FFFFFF"/>
          </a:solidFill>
          <a:ln/>
          <a:effectLst>
            <a:outerShdw sx="100000" sy="100000" kx="0" ky="0" algn="bl" rotWithShape="0" blurRad="50800" dist="25400" dir="2700000">
              <a:srgbClr val="000000">
                <a:alpha val="12000"/>
              </a:srgbClr>
            </a:outerShdw>
          </a:effectLst>
        </p:spPr>
      </p:sp>
      <p:pic>
        <p:nvPicPr>
          <p:cNvPr id="15" name="Image 2" descr="preencoded.png">    </p:cNvPr>
          <p:cNvPicPr>
            <a:picLocks noChangeAspect="1"/>
          </p:cNvPicPr>
          <p:nvPr/>
        </p:nvPicPr>
        <p:blipFill>
          <a:blip r:embed="rId3"/>
          <a:stretch>
            <a:fillRect/>
          </a:stretch>
        </p:blipFill>
        <p:spPr>
          <a:xfrm>
            <a:off x="429768" y="2084832"/>
            <a:ext cx="292608" cy="292608"/>
          </a:xfrm>
          <a:prstGeom prst="rect">
            <a:avLst/>
          </a:prstGeom>
        </p:spPr>
      </p:pic>
      <p:sp>
        <p:nvSpPr>
          <p:cNvPr id="16" name="Text 11"/>
          <p:cNvSpPr/>
          <p:nvPr/>
        </p:nvSpPr>
        <p:spPr>
          <a:xfrm>
            <a:off x="795528" y="2066544"/>
            <a:ext cx="3566160" cy="310896"/>
          </a:xfrm>
          <a:prstGeom prst="rect">
            <a:avLst/>
          </a:prstGeom>
          <a:noFill/>
          <a:ln/>
        </p:spPr>
        <p:txBody>
          <a:bodyPr wrap="square" lIns="0" tIns="0" rIns="0" bIns="0" rtlCol="0" anchor="ctr"/>
          <a:lstStyle/>
          <a:p>
            <a:pPr indent="0" marL="0">
              <a:buNone/>
            </a:pPr>
            <a:r>
              <a:rPr lang="en-US" sz="950" b="1" dirty="0">
                <a:solidFill>
                  <a:srgbClr val="1E1E1E"/>
                </a:solidFill>
                <a:latin typeface="Cambria" pitchFamily="34" charset="0"/>
                <a:ea typeface="Cambria" pitchFamily="34" charset="-122"/>
                <a:cs typeface="Cambria" pitchFamily="34" charset="-120"/>
              </a:rPr>
              <a:t>NBR 14715-1 e -2:2021</a:t>
            </a:r>
            <a:endParaRPr lang="en-US" sz="950" dirty="0"/>
          </a:p>
        </p:txBody>
      </p:sp>
      <p:sp>
        <p:nvSpPr>
          <p:cNvPr id="17" name="Text 12"/>
          <p:cNvSpPr/>
          <p:nvPr/>
        </p:nvSpPr>
        <p:spPr>
          <a:xfrm>
            <a:off x="429768" y="2404872"/>
            <a:ext cx="3931920" cy="384048"/>
          </a:xfrm>
          <a:prstGeom prst="rect">
            <a:avLst/>
          </a:prstGeom>
          <a:noFill/>
          <a:ln/>
        </p:spPr>
        <p:txBody>
          <a:bodyPr wrap="square" lIns="0" tIns="0" rIns="0" bIns="0" rtlCol="0" anchor="ctr"/>
          <a:lstStyle/>
          <a:p>
            <a:pPr indent="0" marL="0">
              <a:buNone/>
            </a:pPr>
            <a:r>
              <a:rPr lang="en-US" sz="850" dirty="0">
                <a:solidFill>
                  <a:srgbClr val="3A3A3A"/>
                </a:solidFill>
                <a:latin typeface="Calibri" pitchFamily="34" charset="0"/>
                <a:ea typeface="Calibri" pitchFamily="34" charset="-122"/>
                <a:cs typeface="Calibri" pitchFamily="34" charset="-120"/>
              </a:rPr>
              <a:t>Chapas de gesso — Requisitos e ensaios. Define ST, RU e RF; absorção máx. da chapa RU ≤ 5%.</a:t>
            </a:r>
            <a:endParaRPr lang="en-US" sz="850" dirty="0"/>
          </a:p>
        </p:txBody>
      </p:sp>
      <p:sp>
        <p:nvSpPr>
          <p:cNvPr id="18" name="Shape 13"/>
          <p:cNvSpPr/>
          <p:nvPr/>
        </p:nvSpPr>
        <p:spPr>
          <a:xfrm>
            <a:off x="4727448" y="1993392"/>
            <a:ext cx="4160520" cy="877824"/>
          </a:xfrm>
          <a:prstGeom prst="roundRect">
            <a:avLst>
              <a:gd name="adj" fmla="val 7292"/>
            </a:avLst>
          </a:prstGeom>
          <a:solidFill>
            <a:srgbClr val="F0EFEC"/>
          </a:solidFill>
          <a:ln/>
          <a:effectLst>
            <a:outerShdw sx="100000" sy="100000" kx="0" ky="0" algn="bl" rotWithShape="0" blurRad="50800" dist="25400" dir="2700000">
              <a:srgbClr val="000000">
                <a:alpha val="12000"/>
              </a:srgbClr>
            </a:outerShdw>
          </a:effectLst>
        </p:spPr>
      </p:sp>
      <p:pic>
        <p:nvPicPr>
          <p:cNvPr id="19" name="Image 3" descr="preencoded.png">    </p:cNvPr>
          <p:cNvPicPr>
            <a:picLocks noChangeAspect="1"/>
          </p:cNvPicPr>
          <p:nvPr/>
        </p:nvPicPr>
        <p:blipFill>
          <a:blip r:embed="rId4"/>
          <a:stretch>
            <a:fillRect/>
          </a:stretch>
        </p:blipFill>
        <p:spPr>
          <a:xfrm>
            <a:off x="4837176" y="2084832"/>
            <a:ext cx="292608" cy="292608"/>
          </a:xfrm>
          <a:prstGeom prst="rect">
            <a:avLst/>
          </a:prstGeom>
        </p:spPr>
      </p:pic>
      <p:sp>
        <p:nvSpPr>
          <p:cNvPr id="20" name="Text 14"/>
          <p:cNvSpPr/>
          <p:nvPr/>
        </p:nvSpPr>
        <p:spPr>
          <a:xfrm>
            <a:off x="5202936" y="2066544"/>
            <a:ext cx="3566160" cy="310896"/>
          </a:xfrm>
          <a:prstGeom prst="rect">
            <a:avLst/>
          </a:prstGeom>
          <a:noFill/>
          <a:ln/>
        </p:spPr>
        <p:txBody>
          <a:bodyPr wrap="square" lIns="0" tIns="0" rIns="0" bIns="0" rtlCol="0" anchor="ctr"/>
          <a:lstStyle/>
          <a:p>
            <a:pPr indent="0" marL="0">
              <a:buNone/>
            </a:pPr>
            <a:r>
              <a:rPr lang="en-US" sz="950" b="1" dirty="0">
                <a:solidFill>
                  <a:srgbClr val="1E1E1E"/>
                </a:solidFill>
                <a:latin typeface="Cambria" pitchFamily="34" charset="0"/>
                <a:ea typeface="Cambria" pitchFamily="34" charset="-122"/>
                <a:cs typeface="Cambria" pitchFamily="34" charset="-120"/>
              </a:rPr>
              <a:t>NBR 16831:2020</a:t>
            </a:r>
            <a:endParaRPr lang="en-US" sz="950" dirty="0"/>
          </a:p>
        </p:txBody>
      </p:sp>
      <p:sp>
        <p:nvSpPr>
          <p:cNvPr id="21" name="Text 15"/>
          <p:cNvSpPr/>
          <p:nvPr/>
        </p:nvSpPr>
        <p:spPr>
          <a:xfrm>
            <a:off x="4837176" y="2404872"/>
            <a:ext cx="3931920" cy="384048"/>
          </a:xfrm>
          <a:prstGeom prst="rect">
            <a:avLst/>
          </a:prstGeom>
          <a:noFill/>
          <a:ln/>
        </p:spPr>
        <p:txBody>
          <a:bodyPr wrap="square" lIns="0" tIns="0" rIns="0" bIns="0" rtlCol="0" anchor="ctr"/>
          <a:lstStyle/>
          <a:p>
            <a:pPr indent="0" marL="0">
              <a:buNone/>
            </a:pPr>
            <a:r>
              <a:rPr lang="en-US" sz="850" dirty="0">
                <a:solidFill>
                  <a:srgbClr val="3A3A3A"/>
                </a:solidFill>
                <a:latin typeface="Calibri" pitchFamily="34" charset="0"/>
                <a:ea typeface="Calibri" pitchFamily="34" charset="-122"/>
                <a:cs typeface="Calibri" pitchFamily="34" charset="-120"/>
              </a:rPr>
              <a:t>Chapas diferenciadas — Classificação e requisitos. Regula Alta Performance (Habito, Performa e similares).</a:t>
            </a:r>
            <a:endParaRPr lang="en-US" sz="850" dirty="0"/>
          </a:p>
        </p:txBody>
      </p:sp>
      <p:sp>
        <p:nvSpPr>
          <p:cNvPr id="22" name="Shape 16"/>
          <p:cNvSpPr/>
          <p:nvPr/>
        </p:nvSpPr>
        <p:spPr>
          <a:xfrm>
            <a:off x="320040" y="2999232"/>
            <a:ext cx="4160520" cy="877824"/>
          </a:xfrm>
          <a:prstGeom prst="roundRect">
            <a:avLst>
              <a:gd name="adj" fmla="val 7292"/>
            </a:avLst>
          </a:prstGeom>
          <a:solidFill>
            <a:srgbClr val="FFFFFF"/>
          </a:solidFill>
          <a:ln/>
          <a:effectLst>
            <a:outerShdw sx="100000" sy="100000" kx="0" ky="0" algn="bl" rotWithShape="0" blurRad="50800" dist="25400" dir="2700000">
              <a:srgbClr val="000000">
                <a:alpha val="12000"/>
              </a:srgbClr>
            </a:outerShdw>
          </a:effectLst>
        </p:spPr>
      </p:sp>
      <p:pic>
        <p:nvPicPr>
          <p:cNvPr id="23" name="Image 4" descr="preencoded.png">    </p:cNvPr>
          <p:cNvPicPr>
            <a:picLocks noChangeAspect="1"/>
          </p:cNvPicPr>
          <p:nvPr/>
        </p:nvPicPr>
        <p:blipFill>
          <a:blip r:embed="rId5"/>
          <a:stretch>
            <a:fillRect/>
          </a:stretch>
        </p:blipFill>
        <p:spPr>
          <a:xfrm>
            <a:off x="429768" y="3090672"/>
            <a:ext cx="292608" cy="292608"/>
          </a:xfrm>
          <a:prstGeom prst="rect">
            <a:avLst/>
          </a:prstGeom>
        </p:spPr>
      </p:pic>
      <p:sp>
        <p:nvSpPr>
          <p:cNvPr id="24" name="Text 17"/>
          <p:cNvSpPr/>
          <p:nvPr/>
        </p:nvSpPr>
        <p:spPr>
          <a:xfrm>
            <a:off x="795528" y="3072384"/>
            <a:ext cx="3566160" cy="310896"/>
          </a:xfrm>
          <a:prstGeom prst="rect">
            <a:avLst/>
          </a:prstGeom>
          <a:noFill/>
          <a:ln/>
        </p:spPr>
        <p:txBody>
          <a:bodyPr wrap="square" lIns="0" tIns="0" rIns="0" bIns="0" rtlCol="0" anchor="ctr"/>
          <a:lstStyle/>
          <a:p>
            <a:pPr indent="0" marL="0">
              <a:buNone/>
            </a:pPr>
            <a:r>
              <a:rPr lang="en-US" sz="950" b="1" dirty="0">
                <a:solidFill>
                  <a:srgbClr val="1E1E1E"/>
                </a:solidFill>
                <a:latin typeface="Cambria" pitchFamily="34" charset="0"/>
                <a:ea typeface="Cambria" pitchFamily="34" charset="-122"/>
                <a:cs typeface="Cambria" pitchFamily="34" charset="-120"/>
              </a:rPr>
              <a:t>NBR 15217:2025</a:t>
            </a:r>
            <a:endParaRPr lang="en-US" sz="950" dirty="0"/>
          </a:p>
        </p:txBody>
      </p:sp>
      <p:sp>
        <p:nvSpPr>
          <p:cNvPr id="25" name="Text 18"/>
          <p:cNvSpPr/>
          <p:nvPr/>
        </p:nvSpPr>
        <p:spPr>
          <a:xfrm>
            <a:off x="429768" y="3410712"/>
            <a:ext cx="3931920" cy="384048"/>
          </a:xfrm>
          <a:prstGeom prst="rect">
            <a:avLst/>
          </a:prstGeom>
          <a:noFill/>
          <a:ln/>
        </p:spPr>
        <p:txBody>
          <a:bodyPr wrap="square" lIns="0" tIns="0" rIns="0" bIns="0" rtlCol="0" anchor="ctr"/>
          <a:lstStyle/>
          <a:p>
            <a:pPr indent="0" marL="0">
              <a:buNone/>
            </a:pPr>
            <a:r>
              <a:rPr lang="en-US" sz="850" dirty="0">
                <a:solidFill>
                  <a:srgbClr val="3A3A3A"/>
                </a:solidFill>
                <a:latin typeface="Calibri" pitchFamily="34" charset="0"/>
                <a:ea typeface="Calibri" pitchFamily="34" charset="-122"/>
                <a:cs typeface="Calibri" pitchFamily="34" charset="-120"/>
              </a:rPr>
              <a:t>Perfilados de aço para drywall — Requisitos e ensaios. Galvanização mínima Z275. Nova edição 2025.</a:t>
            </a:r>
            <a:endParaRPr lang="en-US" sz="850" dirty="0"/>
          </a:p>
        </p:txBody>
      </p:sp>
      <p:sp>
        <p:nvSpPr>
          <p:cNvPr id="26" name="Shape 19"/>
          <p:cNvSpPr/>
          <p:nvPr/>
        </p:nvSpPr>
        <p:spPr>
          <a:xfrm>
            <a:off x="4727448" y="2999232"/>
            <a:ext cx="4160520" cy="877824"/>
          </a:xfrm>
          <a:prstGeom prst="roundRect">
            <a:avLst>
              <a:gd name="adj" fmla="val 7292"/>
            </a:avLst>
          </a:prstGeom>
          <a:solidFill>
            <a:srgbClr val="F0EFEC"/>
          </a:solidFill>
          <a:ln/>
          <a:effectLst>
            <a:outerShdw sx="100000" sy="100000" kx="0" ky="0" algn="bl" rotWithShape="0" blurRad="50800" dist="25400" dir="2700000">
              <a:srgbClr val="000000">
                <a:alpha val="12000"/>
              </a:srgbClr>
            </a:outerShdw>
          </a:effectLst>
        </p:spPr>
      </p:sp>
      <p:pic>
        <p:nvPicPr>
          <p:cNvPr id="27" name="Image 5" descr="preencoded.png">    </p:cNvPr>
          <p:cNvPicPr>
            <a:picLocks noChangeAspect="1"/>
          </p:cNvPicPr>
          <p:nvPr/>
        </p:nvPicPr>
        <p:blipFill>
          <a:blip r:embed="rId6"/>
          <a:stretch>
            <a:fillRect/>
          </a:stretch>
        </p:blipFill>
        <p:spPr>
          <a:xfrm>
            <a:off x="4837176" y="3090672"/>
            <a:ext cx="292608" cy="292608"/>
          </a:xfrm>
          <a:prstGeom prst="rect">
            <a:avLst/>
          </a:prstGeom>
        </p:spPr>
      </p:pic>
      <p:sp>
        <p:nvSpPr>
          <p:cNvPr id="28" name="Text 20"/>
          <p:cNvSpPr/>
          <p:nvPr/>
        </p:nvSpPr>
        <p:spPr>
          <a:xfrm>
            <a:off x="5202936" y="3072384"/>
            <a:ext cx="3566160" cy="310896"/>
          </a:xfrm>
          <a:prstGeom prst="rect">
            <a:avLst/>
          </a:prstGeom>
          <a:noFill/>
          <a:ln/>
        </p:spPr>
        <p:txBody>
          <a:bodyPr wrap="square" lIns="0" tIns="0" rIns="0" bIns="0" rtlCol="0" anchor="ctr"/>
          <a:lstStyle/>
          <a:p>
            <a:pPr indent="0" marL="0">
              <a:buNone/>
            </a:pPr>
            <a:r>
              <a:rPr lang="en-US" sz="950" b="1" dirty="0">
                <a:solidFill>
                  <a:srgbClr val="1E1E1E"/>
                </a:solidFill>
                <a:latin typeface="Cambria" pitchFamily="34" charset="0"/>
                <a:ea typeface="Cambria" pitchFamily="34" charset="-122"/>
                <a:cs typeface="Cambria" pitchFamily="34" charset="-120"/>
              </a:rPr>
              <a:t>NBR 6120:2019</a:t>
            </a:r>
            <a:endParaRPr lang="en-US" sz="950" dirty="0"/>
          </a:p>
        </p:txBody>
      </p:sp>
      <p:sp>
        <p:nvSpPr>
          <p:cNvPr id="29" name="Text 21"/>
          <p:cNvSpPr/>
          <p:nvPr/>
        </p:nvSpPr>
        <p:spPr>
          <a:xfrm>
            <a:off x="4837176" y="3410712"/>
            <a:ext cx="3931920" cy="384048"/>
          </a:xfrm>
          <a:prstGeom prst="rect">
            <a:avLst/>
          </a:prstGeom>
          <a:noFill/>
          <a:ln/>
        </p:spPr>
        <p:txBody>
          <a:bodyPr wrap="square" lIns="0" tIns="0" rIns="0" bIns="0" rtlCol="0" anchor="ctr"/>
          <a:lstStyle/>
          <a:p>
            <a:pPr indent="0" marL="0">
              <a:buNone/>
            </a:pPr>
            <a:r>
              <a:rPr lang="en-US" sz="850" dirty="0">
                <a:solidFill>
                  <a:srgbClr val="3A3A3A"/>
                </a:solidFill>
                <a:latin typeface="Calibri" pitchFamily="34" charset="0"/>
                <a:ea typeface="Calibri" pitchFamily="34" charset="-122"/>
                <a:cs typeface="Calibri" pitchFamily="34" charset="-120"/>
              </a:rPr>
              <a:t>Ações para cálculo de estruturas. Tabela 2: pesos de paredes — base de todos os cálculos de massa deste estudo.</a:t>
            </a:r>
            <a:endParaRPr lang="en-US" sz="850" dirty="0"/>
          </a:p>
        </p:txBody>
      </p:sp>
      <p:sp>
        <p:nvSpPr>
          <p:cNvPr id="30" name="Shape 22"/>
          <p:cNvSpPr/>
          <p:nvPr/>
        </p:nvSpPr>
        <p:spPr>
          <a:xfrm>
            <a:off x="320040" y="4005072"/>
            <a:ext cx="4160520" cy="877824"/>
          </a:xfrm>
          <a:prstGeom prst="roundRect">
            <a:avLst>
              <a:gd name="adj" fmla="val 7292"/>
            </a:avLst>
          </a:prstGeom>
          <a:solidFill>
            <a:srgbClr val="FFFFFF"/>
          </a:solidFill>
          <a:ln/>
          <a:effectLst>
            <a:outerShdw sx="100000" sy="100000" kx="0" ky="0" algn="bl" rotWithShape="0" blurRad="50800" dist="25400" dir="2700000">
              <a:srgbClr val="000000">
                <a:alpha val="12000"/>
              </a:srgbClr>
            </a:outerShdw>
          </a:effectLst>
        </p:spPr>
      </p:sp>
      <p:pic>
        <p:nvPicPr>
          <p:cNvPr id="31" name="Image 6" descr="preencoded.png">    </p:cNvPr>
          <p:cNvPicPr>
            <a:picLocks noChangeAspect="1"/>
          </p:cNvPicPr>
          <p:nvPr/>
        </p:nvPicPr>
        <p:blipFill>
          <a:blip r:embed="rId7"/>
          <a:stretch>
            <a:fillRect/>
          </a:stretch>
        </p:blipFill>
        <p:spPr>
          <a:xfrm>
            <a:off x="429768" y="4096512"/>
            <a:ext cx="292608" cy="292608"/>
          </a:xfrm>
          <a:prstGeom prst="rect">
            <a:avLst/>
          </a:prstGeom>
        </p:spPr>
      </p:pic>
      <p:sp>
        <p:nvSpPr>
          <p:cNvPr id="32" name="Text 23"/>
          <p:cNvSpPr/>
          <p:nvPr/>
        </p:nvSpPr>
        <p:spPr>
          <a:xfrm>
            <a:off x="795528" y="4078224"/>
            <a:ext cx="3566160" cy="310896"/>
          </a:xfrm>
          <a:prstGeom prst="rect">
            <a:avLst/>
          </a:prstGeom>
          <a:noFill/>
          <a:ln/>
        </p:spPr>
        <p:txBody>
          <a:bodyPr wrap="square" lIns="0" tIns="0" rIns="0" bIns="0" rtlCol="0" anchor="ctr"/>
          <a:lstStyle/>
          <a:p>
            <a:pPr indent="0" marL="0">
              <a:buNone/>
            </a:pPr>
            <a:r>
              <a:rPr lang="en-US" sz="950" b="1" dirty="0">
                <a:solidFill>
                  <a:srgbClr val="1E1E1E"/>
                </a:solidFill>
                <a:latin typeface="Cambria" pitchFamily="34" charset="0"/>
                <a:ea typeface="Cambria" pitchFamily="34" charset="-122"/>
                <a:cs typeface="Cambria" pitchFamily="34" charset="-120"/>
              </a:rPr>
              <a:t>NBR 16832 (lã PET)</a:t>
            </a:r>
            <a:endParaRPr lang="en-US" sz="950" dirty="0"/>
          </a:p>
        </p:txBody>
      </p:sp>
      <p:sp>
        <p:nvSpPr>
          <p:cNvPr id="33" name="Text 24"/>
          <p:cNvSpPr/>
          <p:nvPr/>
        </p:nvSpPr>
        <p:spPr>
          <a:xfrm>
            <a:off x="429768" y="4416552"/>
            <a:ext cx="3931920" cy="384048"/>
          </a:xfrm>
          <a:prstGeom prst="rect">
            <a:avLst/>
          </a:prstGeom>
          <a:noFill/>
          <a:ln/>
        </p:spPr>
        <p:txBody>
          <a:bodyPr wrap="square" lIns="0" tIns="0" rIns="0" bIns="0" rtlCol="0" anchor="ctr"/>
          <a:lstStyle/>
          <a:p>
            <a:pPr indent="0" marL="0">
              <a:buNone/>
            </a:pPr>
            <a:r>
              <a:rPr lang="en-US" sz="850" dirty="0">
                <a:solidFill>
                  <a:srgbClr val="3A3A3A"/>
                </a:solidFill>
                <a:latin typeface="Calibri" pitchFamily="34" charset="0"/>
                <a:ea typeface="Calibri" pitchFamily="34" charset="-122"/>
                <a:cs typeface="Calibri" pitchFamily="34" charset="-120"/>
              </a:rPr>
              <a:t>Mantas de poliéster reciclado — isolação acústica e térmica. Referenciada na NBR 15758:2025.</a:t>
            </a:r>
            <a:endParaRPr lang="en-US" sz="850" dirty="0"/>
          </a:p>
        </p:txBody>
      </p:sp>
      <p:sp>
        <p:nvSpPr>
          <p:cNvPr id="34" name="Shape 25"/>
          <p:cNvSpPr/>
          <p:nvPr/>
        </p:nvSpPr>
        <p:spPr>
          <a:xfrm>
            <a:off x="4727448" y="4005072"/>
            <a:ext cx="4160520" cy="877824"/>
          </a:xfrm>
          <a:prstGeom prst="roundRect">
            <a:avLst>
              <a:gd name="adj" fmla="val 7292"/>
            </a:avLst>
          </a:prstGeom>
          <a:solidFill>
            <a:srgbClr val="F0EFEC"/>
          </a:solidFill>
          <a:ln/>
          <a:effectLst>
            <a:outerShdw sx="100000" sy="100000" kx="0" ky="0" algn="bl" rotWithShape="0" blurRad="50800" dist="25400" dir="2700000">
              <a:srgbClr val="000000">
                <a:alpha val="12000"/>
              </a:srgbClr>
            </a:outerShdw>
          </a:effectLst>
        </p:spPr>
      </p:sp>
      <p:pic>
        <p:nvPicPr>
          <p:cNvPr id="35" name="Image 7" descr="preencoded.png">    </p:cNvPr>
          <p:cNvPicPr>
            <a:picLocks noChangeAspect="1"/>
          </p:cNvPicPr>
          <p:nvPr/>
        </p:nvPicPr>
        <p:blipFill>
          <a:blip r:embed="rId8"/>
          <a:stretch>
            <a:fillRect/>
          </a:stretch>
        </p:blipFill>
        <p:spPr>
          <a:xfrm>
            <a:off x="4837176" y="4096512"/>
            <a:ext cx="292608" cy="292608"/>
          </a:xfrm>
          <a:prstGeom prst="rect">
            <a:avLst/>
          </a:prstGeom>
        </p:spPr>
      </p:pic>
      <p:sp>
        <p:nvSpPr>
          <p:cNvPr id="36" name="Text 26"/>
          <p:cNvSpPr/>
          <p:nvPr/>
        </p:nvSpPr>
        <p:spPr>
          <a:xfrm>
            <a:off x="5202936" y="4078224"/>
            <a:ext cx="3566160" cy="310896"/>
          </a:xfrm>
          <a:prstGeom prst="rect">
            <a:avLst/>
          </a:prstGeom>
          <a:noFill/>
          <a:ln/>
        </p:spPr>
        <p:txBody>
          <a:bodyPr wrap="square" lIns="0" tIns="0" rIns="0" bIns="0" rtlCol="0" anchor="ctr"/>
          <a:lstStyle/>
          <a:p>
            <a:pPr indent="0" marL="0">
              <a:buNone/>
            </a:pPr>
            <a:r>
              <a:rPr lang="en-US" sz="950" b="1" dirty="0">
                <a:solidFill>
                  <a:srgbClr val="1E1E1E"/>
                </a:solidFill>
                <a:latin typeface="Cambria" pitchFamily="34" charset="0"/>
                <a:ea typeface="Cambria" pitchFamily="34" charset="-122"/>
                <a:cs typeface="Cambria" pitchFamily="34" charset="-120"/>
              </a:rPr>
              <a:t>Manual ABDrywall / IPT</a:t>
            </a:r>
            <a:endParaRPr lang="en-US" sz="950" dirty="0"/>
          </a:p>
        </p:txBody>
      </p:sp>
      <p:sp>
        <p:nvSpPr>
          <p:cNvPr id="37" name="Text 27"/>
          <p:cNvSpPr/>
          <p:nvPr/>
        </p:nvSpPr>
        <p:spPr>
          <a:xfrm>
            <a:off x="4837176" y="4416552"/>
            <a:ext cx="3931920" cy="384048"/>
          </a:xfrm>
          <a:prstGeom prst="rect">
            <a:avLst/>
          </a:prstGeom>
          <a:noFill/>
          <a:ln/>
        </p:spPr>
        <p:txBody>
          <a:bodyPr wrap="square" lIns="0" tIns="0" rIns="0" bIns="0" rtlCol="0" anchor="ctr"/>
          <a:lstStyle/>
          <a:p>
            <a:pPr indent="0" marL="0">
              <a:buNone/>
            </a:pPr>
            <a:r>
              <a:rPr lang="en-US" sz="850" dirty="0">
                <a:solidFill>
                  <a:srgbClr val="3A3A3A"/>
                </a:solidFill>
                <a:latin typeface="Calibri" pitchFamily="34" charset="0"/>
                <a:ea typeface="Calibri" pitchFamily="34" charset="-122"/>
                <a:cs typeface="Calibri" pitchFamily="34" charset="-120"/>
              </a:rPr>
              <a:t>Desempenho Acústico em Sistemas Drywall, 2ª ed. 2013. Ensaios de Rw, CF e massa pelo IPT. Fonte dos dados de desempenho.</a:t>
            </a:r>
            <a:endParaRPr lang="en-US" sz="850" dirty="0"/>
          </a:p>
        </p:txBody>
      </p:sp>
      <p:sp>
        <p:nvSpPr>
          <p:cNvPr id="38" name="Text 28"/>
          <p:cNvSpPr/>
          <p:nvPr/>
        </p:nvSpPr>
        <p:spPr>
          <a:xfrm>
            <a:off x="320040" y="4773168"/>
            <a:ext cx="8503920" cy="228600"/>
          </a:xfrm>
          <a:prstGeom prst="rect">
            <a:avLst/>
          </a:prstGeom>
          <a:noFill/>
          <a:ln/>
        </p:spPr>
        <p:txBody>
          <a:bodyPr wrap="square" lIns="0" tIns="0" rIns="0" bIns="0" rtlCol="0" anchor="ctr"/>
          <a:lstStyle/>
          <a:p>
            <a:pPr indent="0" marL="0">
              <a:buNone/>
            </a:pPr>
            <a:r>
              <a:rPr lang="en-US" sz="750" i="1" dirty="0">
                <a:solidFill>
                  <a:srgbClr val="666666"/>
                </a:solidFill>
                <a:latin typeface="Calibri" pitchFamily="34" charset="0"/>
                <a:ea typeface="Calibri" pitchFamily="34" charset="-122"/>
                <a:cs typeface="Calibri" pitchFamily="34" charset="-120"/>
              </a:rPr>
              <a:t>Verificar vigência de todas as normas no Catálogo ABNT (www.abntcatalogo.com.br) antes de uso em projeto executivo.</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1E1E"/>
        </a:solidFill>
      </p:bgPr>
    </p:bg>
    <p:spTree>
      <p:nvGrpSpPr>
        <p:cNvPr id="1" name=""/>
        <p:cNvGrpSpPr/>
        <p:nvPr/>
      </p:nvGrpSpPr>
      <p:grpSpPr>
        <a:xfrm>
          <a:off x="0" y="0"/>
          <a:ext cx="0" cy="0"/>
          <a:chOff x="0" y="0"/>
          <a:chExt cx="0" cy="0"/>
        </a:xfrm>
      </p:grpSpPr>
      <p:sp>
        <p:nvSpPr>
          <p:cNvPr id="2" name="Text 0"/>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666666"/>
                </a:solidFill>
              </a:rPr>
              <a:t>11 / 12</a:t>
            </a:r>
            <a:endParaRPr lang="en-US" sz="900" dirty="0"/>
          </a:p>
        </p:txBody>
      </p:sp>
      <p:sp>
        <p:nvSpPr>
          <p:cNvPr id="3" name="Text 1"/>
          <p:cNvSpPr/>
          <p:nvPr/>
        </p:nvSpPr>
        <p:spPr>
          <a:xfrm>
            <a:off x="457200" y="201168"/>
            <a:ext cx="8229600" cy="438912"/>
          </a:xfrm>
          <a:prstGeom prst="rect">
            <a:avLst/>
          </a:prstGeom>
          <a:noFill/>
          <a:ln/>
        </p:spPr>
        <p:txBody>
          <a:bodyPr wrap="square" lIns="0" tIns="0" rIns="0" bIns="0" rtlCol="0" anchor="ctr"/>
          <a:lstStyle/>
          <a:p>
            <a:pPr indent="0" marL="0">
              <a:buNone/>
            </a:pPr>
            <a:r>
              <a:rPr lang="en-US" sz="2200" b="1" dirty="0">
                <a:solidFill>
                  <a:srgbClr val="C8A84B"/>
                </a:solidFill>
                <a:latin typeface="Cambria" pitchFamily="34" charset="0"/>
                <a:ea typeface="Cambria" pitchFamily="34" charset="-122"/>
                <a:cs typeface="Cambria" pitchFamily="34" charset="-120"/>
              </a:rPr>
              <a:t>POR QUE EXECUTAR COM A OPPERMANN</a:t>
            </a:r>
            <a:endParaRPr lang="en-US" sz="2200" dirty="0"/>
          </a:p>
        </p:txBody>
      </p:sp>
      <p:pic>
        <p:nvPicPr>
          <p:cNvPr id="4" name="Image 0" descr="/mnt/user-data/uploads/1000172040.jpg">    </p:cNvPr>
          <p:cNvPicPr>
            <a:picLocks noChangeAspect="1"/>
          </p:cNvPicPr>
          <p:nvPr/>
        </p:nvPicPr>
        <p:blipFill>
          <a:blip r:embed="rId1"/>
          <a:stretch>
            <a:fillRect/>
          </a:stretch>
        </p:blipFill>
        <p:spPr>
          <a:xfrm>
            <a:off x="6217920" y="109728"/>
            <a:ext cx="2651760" cy="566814"/>
          </a:xfrm>
          <a:prstGeom prst="rect">
            <a:avLst/>
          </a:prstGeom>
        </p:spPr>
      </p:pic>
      <p:sp>
        <p:nvSpPr>
          <p:cNvPr id="5" name="Shape 2"/>
          <p:cNvSpPr/>
          <p:nvPr/>
        </p:nvSpPr>
        <p:spPr>
          <a:xfrm>
            <a:off x="320040" y="804672"/>
            <a:ext cx="4160520" cy="914400"/>
          </a:xfrm>
          <a:prstGeom prst="roundRect">
            <a:avLst>
              <a:gd name="adj" fmla="val 8000"/>
            </a:avLst>
          </a:prstGeom>
          <a:solidFill>
            <a:srgbClr val="2A2A2A"/>
          </a:solidFill>
          <a:ln/>
          <a:effectLst>
            <a:outerShdw sx="100000" sy="100000" kx="0" ky="0" algn="bl" rotWithShape="0" blurRad="101600" dist="38100" dir="2700000">
              <a:srgbClr val="000000">
                <a:alpha val="18000"/>
              </a:srgbClr>
            </a:outerShdw>
          </a:effectLst>
        </p:spPr>
      </p:sp>
      <p:pic>
        <p:nvPicPr>
          <p:cNvPr id="6" name="Image 1" descr="preencoded.png">    </p:cNvPr>
          <p:cNvPicPr>
            <a:picLocks noChangeAspect="1"/>
          </p:cNvPicPr>
          <p:nvPr/>
        </p:nvPicPr>
        <p:blipFill>
          <a:blip r:embed="rId2"/>
          <a:stretch>
            <a:fillRect/>
          </a:stretch>
        </p:blipFill>
        <p:spPr>
          <a:xfrm>
            <a:off x="448056" y="914400"/>
            <a:ext cx="347472" cy="347472"/>
          </a:xfrm>
          <a:prstGeom prst="rect">
            <a:avLst/>
          </a:prstGeom>
        </p:spPr>
      </p:pic>
      <p:sp>
        <p:nvSpPr>
          <p:cNvPr id="7" name="Text 3"/>
          <p:cNvSpPr/>
          <p:nvPr/>
        </p:nvSpPr>
        <p:spPr>
          <a:xfrm>
            <a:off x="886968" y="877824"/>
            <a:ext cx="3474720" cy="329184"/>
          </a:xfrm>
          <a:prstGeom prst="rect">
            <a:avLst/>
          </a:prstGeom>
          <a:noFill/>
          <a:ln/>
        </p:spPr>
        <p:txBody>
          <a:bodyPr wrap="square" lIns="0" tIns="0" rIns="0" bIns="0" rtlCol="0" anchor="ctr"/>
          <a:lstStyle/>
          <a:p>
            <a:pPr indent="0" marL="0">
              <a:buNone/>
            </a:pPr>
            <a:r>
              <a:rPr lang="en-US" sz="1000" b="1" dirty="0">
                <a:solidFill>
                  <a:srgbClr val="C8A84B"/>
                </a:solidFill>
                <a:latin typeface="Cambria" pitchFamily="34" charset="0"/>
                <a:ea typeface="Cambria" pitchFamily="34" charset="-122"/>
                <a:cs typeface="Cambria" pitchFamily="34" charset="-120"/>
              </a:rPr>
              <a:t>Especialização exclusiva</a:t>
            </a:r>
            <a:endParaRPr lang="en-US" sz="1000" dirty="0"/>
          </a:p>
        </p:txBody>
      </p:sp>
      <p:sp>
        <p:nvSpPr>
          <p:cNvPr id="8" name="Text 4"/>
          <p:cNvSpPr/>
          <p:nvPr/>
        </p:nvSpPr>
        <p:spPr>
          <a:xfrm>
            <a:off x="886968" y="1225296"/>
            <a:ext cx="3474720" cy="384048"/>
          </a:xfrm>
          <a:prstGeom prst="rect">
            <a:avLst/>
          </a:prstGeom>
          <a:noFill/>
          <a:ln/>
        </p:spPr>
        <p:txBody>
          <a:bodyPr wrap="square" lIns="0" tIns="0" rIns="0" bIns="0" rtlCol="0" anchor="ctr"/>
          <a:lstStyle/>
          <a:p>
            <a:pPr indent="0" marL="0">
              <a:buNone/>
            </a:pPr>
            <a:r>
              <a:rPr lang="en-US" sz="900" dirty="0">
                <a:solidFill>
                  <a:srgbClr val="F0EFEC"/>
                </a:solidFill>
                <a:latin typeface="Calibri" pitchFamily="34" charset="0"/>
                <a:ea typeface="Calibri" pitchFamily="34" charset="-122"/>
                <a:cs typeface="Calibri" pitchFamily="34" charset="-120"/>
              </a:rPr>
              <a:t>Equipe dedicada a drywall, steel frame e pintura premium.</a:t>
            </a:r>
            <a:endParaRPr lang="en-US" sz="900" dirty="0"/>
          </a:p>
        </p:txBody>
      </p:sp>
      <p:sp>
        <p:nvSpPr>
          <p:cNvPr id="9" name="Shape 5"/>
          <p:cNvSpPr/>
          <p:nvPr/>
        </p:nvSpPr>
        <p:spPr>
          <a:xfrm>
            <a:off x="4727448" y="804672"/>
            <a:ext cx="4160520" cy="914400"/>
          </a:xfrm>
          <a:prstGeom prst="roundRect">
            <a:avLst>
              <a:gd name="adj" fmla="val 8000"/>
            </a:avLst>
          </a:prstGeom>
          <a:solidFill>
            <a:srgbClr val="2A2A2A"/>
          </a:solidFill>
          <a:ln/>
          <a:effectLst>
            <a:outerShdw sx="100000" sy="100000" kx="0" ky="0" algn="bl" rotWithShape="0" blurRad="101600" dist="38100" dir="2700000">
              <a:srgbClr val="000000">
                <a:alpha val="18000"/>
              </a:srgbClr>
            </a:outerShdw>
          </a:effectLst>
        </p:spPr>
      </p:sp>
      <p:pic>
        <p:nvPicPr>
          <p:cNvPr id="10" name="Image 2" descr="preencoded.png">    </p:cNvPr>
          <p:cNvPicPr>
            <a:picLocks noChangeAspect="1"/>
          </p:cNvPicPr>
          <p:nvPr/>
        </p:nvPicPr>
        <p:blipFill>
          <a:blip r:embed="rId3"/>
          <a:stretch>
            <a:fillRect/>
          </a:stretch>
        </p:blipFill>
        <p:spPr>
          <a:xfrm>
            <a:off x="4855464" y="914400"/>
            <a:ext cx="347472" cy="347472"/>
          </a:xfrm>
          <a:prstGeom prst="rect">
            <a:avLst/>
          </a:prstGeom>
        </p:spPr>
      </p:pic>
      <p:sp>
        <p:nvSpPr>
          <p:cNvPr id="11" name="Text 6"/>
          <p:cNvSpPr/>
          <p:nvPr/>
        </p:nvSpPr>
        <p:spPr>
          <a:xfrm>
            <a:off x="5294376" y="877824"/>
            <a:ext cx="3474720" cy="329184"/>
          </a:xfrm>
          <a:prstGeom prst="rect">
            <a:avLst/>
          </a:prstGeom>
          <a:noFill/>
          <a:ln/>
        </p:spPr>
        <p:txBody>
          <a:bodyPr wrap="square" lIns="0" tIns="0" rIns="0" bIns="0" rtlCol="0" anchor="ctr"/>
          <a:lstStyle/>
          <a:p>
            <a:pPr indent="0" marL="0">
              <a:buNone/>
            </a:pPr>
            <a:r>
              <a:rPr lang="en-US" sz="1000" b="1" dirty="0">
                <a:solidFill>
                  <a:srgbClr val="C8A84B"/>
                </a:solidFill>
                <a:latin typeface="Cambria" pitchFamily="34" charset="0"/>
                <a:ea typeface="Cambria" pitchFamily="34" charset="-122"/>
                <a:cs typeface="Cambria" pitchFamily="34" charset="-120"/>
              </a:rPr>
              <a:t>Especificação técnica</a:t>
            </a:r>
            <a:endParaRPr lang="en-US" sz="1000" dirty="0"/>
          </a:p>
        </p:txBody>
      </p:sp>
      <p:sp>
        <p:nvSpPr>
          <p:cNvPr id="12" name="Text 7"/>
          <p:cNvSpPr/>
          <p:nvPr/>
        </p:nvSpPr>
        <p:spPr>
          <a:xfrm>
            <a:off x="5294376" y="1225296"/>
            <a:ext cx="3474720" cy="384048"/>
          </a:xfrm>
          <a:prstGeom prst="rect">
            <a:avLst/>
          </a:prstGeom>
          <a:noFill/>
          <a:ln/>
        </p:spPr>
        <p:txBody>
          <a:bodyPr wrap="square" lIns="0" tIns="0" rIns="0" bIns="0" rtlCol="0" anchor="ctr"/>
          <a:lstStyle/>
          <a:p>
            <a:pPr indent="0" marL="0">
              <a:buNone/>
            </a:pPr>
            <a:r>
              <a:rPr lang="en-US" sz="900" dirty="0">
                <a:solidFill>
                  <a:srgbClr val="F0EFEC"/>
                </a:solidFill>
                <a:latin typeface="Calibri" pitchFamily="34" charset="0"/>
                <a:ea typeface="Calibri" pitchFamily="34" charset="-122"/>
                <a:cs typeface="Calibri" pitchFamily="34" charset="-120"/>
              </a:rPr>
              <a:t>Sistema correto por ambiente: ST, RU, RF, lã PET, dupla chapa.</a:t>
            </a:r>
            <a:endParaRPr lang="en-US" sz="900" dirty="0"/>
          </a:p>
        </p:txBody>
      </p:sp>
      <p:sp>
        <p:nvSpPr>
          <p:cNvPr id="13" name="Shape 8"/>
          <p:cNvSpPr/>
          <p:nvPr/>
        </p:nvSpPr>
        <p:spPr>
          <a:xfrm>
            <a:off x="320040" y="1856232"/>
            <a:ext cx="4160520" cy="914400"/>
          </a:xfrm>
          <a:prstGeom prst="roundRect">
            <a:avLst>
              <a:gd name="adj" fmla="val 8000"/>
            </a:avLst>
          </a:prstGeom>
          <a:solidFill>
            <a:srgbClr val="2A2A2A"/>
          </a:solidFill>
          <a:ln/>
          <a:effectLst>
            <a:outerShdw sx="100000" sy="100000" kx="0" ky="0" algn="bl" rotWithShape="0" blurRad="101600" dist="38100" dir="2700000">
              <a:srgbClr val="000000">
                <a:alpha val="18000"/>
              </a:srgbClr>
            </a:outerShdw>
          </a:effectLst>
        </p:spPr>
      </p:sp>
      <p:pic>
        <p:nvPicPr>
          <p:cNvPr id="14" name="Image 3" descr="preencoded.png">    </p:cNvPr>
          <p:cNvPicPr>
            <a:picLocks noChangeAspect="1"/>
          </p:cNvPicPr>
          <p:nvPr/>
        </p:nvPicPr>
        <p:blipFill>
          <a:blip r:embed="rId4"/>
          <a:stretch>
            <a:fillRect/>
          </a:stretch>
        </p:blipFill>
        <p:spPr>
          <a:xfrm>
            <a:off x="448056" y="1965960"/>
            <a:ext cx="347472" cy="347472"/>
          </a:xfrm>
          <a:prstGeom prst="rect">
            <a:avLst/>
          </a:prstGeom>
        </p:spPr>
      </p:pic>
      <p:sp>
        <p:nvSpPr>
          <p:cNvPr id="15" name="Text 9"/>
          <p:cNvSpPr/>
          <p:nvPr/>
        </p:nvSpPr>
        <p:spPr>
          <a:xfrm>
            <a:off x="886968" y="1929384"/>
            <a:ext cx="3474720" cy="329184"/>
          </a:xfrm>
          <a:prstGeom prst="rect">
            <a:avLst/>
          </a:prstGeom>
          <a:noFill/>
          <a:ln/>
        </p:spPr>
        <p:txBody>
          <a:bodyPr wrap="square" lIns="0" tIns="0" rIns="0" bIns="0" rtlCol="0" anchor="ctr"/>
          <a:lstStyle/>
          <a:p>
            <a:pPr indent="0" marL="0">
              <a:buNone/>
            </a:pPr>
            <a:r>
              <a:rPr lang="en-US" sz="1000" b="1" dirty="0">
                <a:solidFill>
                  <a:srgbClr val="C8A84B"/>
                </a:solidFill>
                <a:latin typeface="Cambria" pitchFamily="34" charset="0"/>
                <a:ea typeface="Cambria" pitchFamily="34" charset="-122"/>
                <a:cs typeface="Cambria" pitchFamily="34" charset="-120"/>
              </a:rPr>
              <a:t>Controle de qualidade</a:t>
            </a:r>
            <a:endParaRPr lang="en-US" sz="1000" dirty="0"/>
          </a:p>
        </p:txBody>
      </p:sp>
      <p:sp>
        <p:nvSpPr>
          <p:cNvPr id="16" name="Text 10"/>
          <p:cNvSpPr/>
          <p:nvPr/>
        </p:nvSpPr>
        <p:spPr>
          <a:xfrm>
            <a:off x="886968" y="2276856"/>
            <a:ext cx="3474720" cy="384048"/>
          </a:xfrm>
          <a:prstGeom prst="rect">
            <a:avLst/>
          </a:prstGeom>
          <a:noFill/>
          <a:ln/>
        </p:spPr>
        <p:txBody>
          <a:bodyPr wrap="square" lIns="0" tIns="0" rIns="0" bIns="0" rtlCol="0" anchor="ctr"/>
          <a:lstStyle/>
          <a:p>
            <a:pPr indent="0" marL="0">
              <a:buNone/>
            </a:pPr>
            <a:r>
              <a:rPr lang="en-US" sz="900" dirty="0">
                <a:solidFill>
                  <a:srgbClr val="F0EFEC"/>
                </a:solidFill>
                <a:latin typeface="Calibri" pitchFamily="34" charset="0"/>
                <a:ea typeface="Calibri" pitchFamily="34" charset="-122"/>
                <a:cs typeface="Calibri" pitchFamily="34" charset="-120"/>
              </a:rPr>
              <a:t>Checklist assinado em cada fase — projeto até entrega.</a:t>
            </a:r>
            <a:endParaRPr lang="en-US" sz="900" dirty="0"/>
          </a:p>
        </p:txBody>
      </p:sp>
      <p:sp>
        <p:nvSpPr>
          <p:cNvPr id="17" name="Shape 11"/>
          <p:cNvSpPr/>
          <p:nvPr/>
        </p:nvSpPr>
        <p:spPr>
          <a:xfrm>
            <a:off x="4727448" y="1856232"/>
            <a:ext cx="4160520" cy="914400"/>
          </a:xfrm>
          <a:prstGeom prst="roundRect">
            <a:avLst>
              <a:gd name="adj" fmla="val 8000"/>
            </a:avLst>
          </a:prstGeom>
          <a:solidFill>
            <a:srgbClr val="2A2A2A"/>
          </a:solidFill>
          <a:ln/>
          <a:effectLst>
            <a:outerShdw sx="100000" sy="100000" kx="0" ky="0" algn="bl" rotWithShape="0" blurRad="101600" dist="38100" dir="2700000">
              <a:srgbClr val="000000">
                <a:alpha val="18000"/>
              </a:srgbClr>
            </a:outerShdw>
          </a:effectLst>
        </p:spPr>
      </p:sp>
      <p:pic>
        <p:nvPicPr>
          <p:cNvPr id="18" name="Image 4" descr="preencoded.png">    </p:cNvPr>
          <p:cNvPicPr>
            <a:picLocks noChangeAspect="1"/>
          </p:cNvPicPr>
          <p:nvPr/>
        </p:nvPicPr>
        <p:blipFill>
          <a:blip r:embed="rId5"/>
          <a:stretch>
            <a:fillRect/>
          </a:stretch>
        </p:blipFill>
        <p:spPr>
          <a:xfrm>
            <a:off x="4855464" y="1965960"/>
            <a:ext cx="347472" cy="347472"/>
          </a:xfrm>
          <a:prstGeom prst="rect">
            <a:avLst/>
          </a:prstGeom>
        </p:spPr>
      </p:pic>
      <p:sp>
        <p:nvSpPr>
          <p:cNvPr id="19" name="Text 12"/>
          <p:cNvSpPr/>
          <p:nvPr/>
        </p:nvSpPr>
        <p:spPr>
          <a:xfrm>
            <a:off x="5294376" y="1929384"/>
            <a:ext cx="3474720" cy="329184"/>
          </a:xfrm>
          <a:prstGeom prst="rect">
            <a:avLst/>
          </a:prstGeom>
          <a:noFill/>
          <a:ln/>
        </p:spPr>
        <p:txBody>
          <a:bodyPr wrap="square" lIns="0" tIns="0" rIns="0" bIns="0" rtlCol="0" anchor="ctr"/>
          <a:lstStyle/>
          <a:p>
            <a:pPr indent="0" marL="0">
              <a:buNone/>
            </a:pPr>
            <a:r>
              <a:rPr lang="en-US" sz="1000" b="1" dirty="0">
                <a:solidFill>
                  <a:srgbClr val="C8A84B"/>
                </a:solidFill>
                <a:latin typeface="Cambria" pitchFamily="34" charset="0"/>
                <a:ea typeface="Cambria" pitchFamily="34" charset="-122"/>
                <a:cs typeface="Cambria" pitchFamily="34" charset="-120"/>
              </a:rPr>
              <a:t>Rastreabilidade total</a:t>
            </a:r>
            <a:endParaRPr lang="en-US" sz="1000" dirty="0"/>
          </a:p>
        </p:txBody>
      </p:sp>
      <p:sp>
        <p:nvSpPr>
          <p:cNvPr id="20" name="Text 13"/>
          <p:cNvSpPr/>
          <p:nvPr/>
        </p:nvSpPr>
        <p:spPr>
          <a:xfrm>
            <a:off x="5294376" y="2276856"/>
            <a:ext cx="3474720" cy="384048"/>
          </a:xfrm>
          <a:prstGeom prst="rect">
            <a:avLst/>
          </a:prstGeom>
          <a:noFill/>
          <a:ln/>
        </p:spPr>
        <p:txBody>
          <a:bodyPr wrap="square" lIns="0" tIns="0" rIns="0" bIns="0" rtlCol="0" anchor="ctr"/>
          <a:lstStyle/>
          <a:p>
            <a:pPr indent="0" marL="0">
              <a:buNone/>
            </a:pPr>
            <a:r>
              <a:rPr lang="en-US" sz="900" dirty="0">
                <a:solidFill>
                  <a:srgbClr val="F0EFEC"/>
                </a:solidFill>
                <a:latin typeface="Calibri" pitchFamily="34" charset="0"/>
                <a:ea typeface="Calibri" pitchFamily="34" charset="-122"/>
                <a:cs typeface="Calibri" pitchFamily="34" charset="-120"/>
              </a:rPr>
              <a:t>Todos os materiais com NF e certificação ABNT.</a:t>
            </a:r>
            <a:endParaRPr lang="en-US" sz="900" dirty="0"/>
          </a:p>
        </p:txBody>
      </p:sp>
      <p:sp>
        <p:nvSpPr>
          <p:cNvPr id="21" name="Shape 14"/>
          <p:cNvSpPr/>
          <p:nvPr/>
        </p:nvSpPr>
        <p:spPr>
          <a:xfrm>
            <a:off x="320040" y="2907792"/>
            <a:ext cx="4160520" cy="914400"/>
          </a:xfrm>
          <a:prstGeom prst="roundRect">
            <a:avLst>
              <a:gd name="adj" fmla="val 8000"/>
            </a:avLst>
          </a:prstGeom>
          <a:solidFill>
            <a:srgbClr val="2A2A2A"/>
          </a:solidFill>
          <a:ln/>
          <a:effectLst>
            <a:outerShdw sx="100000" sy="100000" kx="0" ky="0" algn="bl" rotWithShape="0" blurRad="101600" dist="38100" dir="2700000">
              <a:srgbClr val="000000">
                <a:alpha val="18000"/>
              </a:srgbClr>
            </a:outerShdw>
          </a:effectLst>
        </p:spPr>
      </p:sp>
      <p:pic>
        <p:nvPicPr>
          <p:cNvPr id="22" name="Image 5" descr="preencoded.png">    </p:cNvPr>
          <p:cNvPicPr>
            <a:picLocks noChangeAspect="1"/>
          </p:cNvPicPr>
          <p:nvPr/>
        </p:nvPicPr>
        <p:blipFill>
          <a:blip r:embed="rId6"/>
          <a:stretch>
            <a:fillRect/>
          </a:stretch>
        </p:blipFill>
        <p:spPr>
          <a:xfrm>
            <a:off x="448056" y="3017520"/>
            <a:ext cx="347472" cy="347472"/>
          </a:xfrm>
          <a:prstGeom prst="rect">
            <a:avLst/>
          </a:prstGeom>
        </p:spPr>
      </p:pic>
      <p:sp>
        <p:nvSpPr>
          <p:cNvPr id="23" name="Text 15"/>
          <p:cNvSpPr/>
          <p:nvPr/>
        </p:nvSpPr>
        <p:spPr>
          <a:xfrm>
            <a:off x="886968" y="2980944"/>
            <a:ext cx="3474720" cy="329184"/>
          </a:xfrm>
          <a:prstGeom prst="rect">
            <a:avLst/>
          </a:prstGeom>
          <a:noFill/>
          <a:ln/>
        </p:spPr>
        <p:txBody>
          <a:bodyPr wrap="square" lIns="0" tIns="0" rIns="0" bIns="0" rtlCol="0" anchor="ctr"/>
          <a:lstStyle/>
          <a:p>
            <a:pPr indent="0" marL="0">
              <a:buNone/>
            </a:pPr>
            <a:r>
              <a:rPr lang="en-US" sz="1000" b="1" dirty="0">
                <a:solidFill>
                  <a:srgbClr val="C8A84B"/>
                </a:solidFill>
                <a:latin typeface="Cambria" pitchFamily="34" charset="0"/>
                <a:ea typeface="Cambria" pitchFamily="34" charset="-122"/>
                <a:cs typeface="Cambria" pitchFamily="34" charset="-120"/>
              </a:rPr>
              <a:t>Prazo e previsibilidade</a:t>
            </a:r>
            <a:endParaRPr lang="en-US" sz="1000" dirty="0"/>
          </a:p>
        </p:txBody>
      </p:sp>
      <p:sp>
        <p:nvSpPr>
          <p:cNvPr id="24" name="Text 16"/>
          <p:cNvSpPr/>
          <p:nvPr/>
        </p:nvSpPr>
        <p:spPr>
          <a:xfrm>
            <a:off x="886968" y="3328416"/>
            <a:ext cx="3474720" cy="384048"/>
          </a:xfrm>
          <a:prstGeom prst="rect">
            <a:avLst/>
          </a:prstGeom>
          <a:noFill/>
          <a:ln/>
        </p:spPr>
        <p:txBody>
          <a:bodyPr wrap="square" lIns="0" tIns="0" rIns="0" bIns="0" rtlCol="0" anchor="ctr"/>
          <a:lstStyle/>
          <a:p>
            <a:pPr indent="0" marL="0">
              <a:buNone/>
            </a:pPr>
            <a:r>
              <a:rPr lang="en-US" sz="900" dirty="0">
                <a:solidFill>
                  <a:srgbClr val="F0EFEC"/>
                </a:solidFill>
                <a:latin typeface="Calibri" pitchFamily="34" charset="0"/>
                <a:ea typeface="Calibri" pitchFamily="34" charset="-122"/>
                <a:cs typeface="Calibri" pitchFamily="34" charset="-120"/>
              </a:rPr>
              <a:t>Cronograma comprometido antes do início da obra.</a:t>
            </a:r>
            <a:endParaRPr lang="en-US" sz="900" dirty="0"/>
          </a:p>
        </p:txBody>
      </p:sp>
      <p:sp>
        <p:nvSpPr>
          <p:cNvPr id="25" name="Shape 17"/>
          <p:cNvSpPr/>
          <p:nvPr/>
        </p:nvSpPr>
        <p:spPr>
          <a:xfrm>
            <a:off x="4727448" y="2907792"/>
            <a:ext cx="4160520" cy="914400"/>
          </a:xfrm>
          <a:prstGeom prst="roundRect">
            <a:avLst>
              <a:gd name="adj" fmla="val 8000"/>
            </a:avLst>
          </a:prstGeom>
          <a:solidFill>
            <a:srgbClr val="2A2A2A"/>
          </a:solidFill>
          <a:ln/>
          <a:effectLst>
            <a:outerShdw sx="100000" sy="100000" kx="0" ky="0" algn="bl" rotWithShape="0" blurRad="101600" dist="38100" dir="2700000">
              <a:srgbClr val="000000">
                <a:alpha val="18000"/>
              </a:srgbClr>
            </a:outerShdw>
          </a:effectLst>
        </p:spPr>
      </p:sp>
      <p:pic>
        <p:nvPicPr>
          <p:cNvPr id="26" name="Image 6" descr="preencoded.png">    </p:cNvPr>
          <p:cNvPicPr>
            <a:picLocks noChangeAspect="1"/>
          </p:cNvPicPr>
          <p:nvPr/>
        </p:nvPicPr>
        <p:blipFill>
          <a:blip r:embed="rId7"/>
          <a:stretch>
            <a:fillRect/>
          </a:stretch>
        </p:blipFill>
        <p:spPr>
          <a:xfrm>
            <a:off x="4855464" y="3017520"/>
            <a:ext cx="347472" cy="347472"/>
          </a:xfrm>
          <a:prstGeom prst="rect">
            <a:avLst/>
          </a:prstGeom>
        </p:spPr>
      </p:pic>
      <p:sp>
        <p:nvSpPr>
          <p:cNvPr id="27" name="Text 18"/>
          <p:cNvSpPr/>
          <p:nvPr/>
        </p:nvSpPr>
        <p:spPr>
          <a:xfrm>
            <a:off x="5294376" y="2980944"/>
            <a:ext cx="3474720" cy="329184"/>
          </a:xfrm>
          <a:prstGeom prst="rect">
            <a:avLst/>
          </a:prstGeom>
          <a:noFill/>
          <a:ln/>
        </p:spPr>
        <p:txBody>
          <a:bodyPr wrap="square" lIns="0" tIns="0" rIns="0" bIns="0" rtlCol="0" anchor="ctr"/>
          <a:lstStyle/>
          <a:p>
            <a:pPr indent="0" marL="0">
              <a:buNone/>
            </a:pPr>
            <a:r>
              <a:rPr lang="en-US" sz="1000" b="1" dirty="0">
                <a:solidFill>
                  <a:srgbClr val="C8A84B"/>
                </a:solidFill>
                <a:latin typeface="Cambria" pitchFamily="34" charset="0"/>
                <a:ea typeface="Cambria" pitchFamily="34" charset="-122"/>
                <a:cs typeface="Cambria" pitchFamily="34" charset="-120"/>
              </a:rPr>
              <a:t>Cobertura regional SC</a:t>
            </a:r>
            <a:endParaRPr lang="en-US" sz="1000" dirty="0"/>
          </a:p>
        </p:txBody>
      </p:sp>
      <p:sp>
        <p:nvSpPr>
          <p:cNvPr id="28" name="Text 19"/>
          <p:cNvSpPr/>
          <p:nvPr/>
        </p:nvSpPr>
        <p:spPr>
          <a:xfrm>
            <a:off x="5294376" y="3328416"/>
            <a:ext cx="3474720" cy="384048"/>
          </a:xfrm>
          <a:prstGeom prst="rect">
            <a:avLst/>
          </a:prstGeom>
          <a:noFill/>
          <a:ln/>
        </p:spPr>
        <p:txBody>
          <a:bodyPr wrap="square" lIns="0" tIns="0" rIns="0" bIns="0" rtlCol="0" anchor="ctr"/>
          <a:lstStyle/>
          <a:p>
            <a:pPr indent="0" marL="0">
              <a:buNone/>
            </a:pPr>
            <a:r>
              <a:rPr lang="en-US" sz="900" dirty="0">
                <a:solidFill>
                  <a:srgbClr val="F0EFEC"/>
                </a:solidFill>
                <a:latin typeface="Calibri" pitchFamily="34" charset="0"/>
                <a:ea typeface="Calibri" pitchFamily="34" charset="-122"/>
                <a:cs typeface="Calibri" pitchFamily="34" charset="-120"/>
              </a:rPr>
              <a:t>Itapema, BC, Bombinhas, Porto Belo e costa catarinense.</a:t>
            </a:r>
            <a:endParaRPr lang="en-US" sz="900" dirty="0"/>
          </a:p>
        </p:txBody>
      </p:sp>
      <p:sp>
        <p:nvSpPr>
          <p:cNvPr id="29" name="Text 20"/>
          <p:cNvSpPr/>
          <p:nvPr/>
        </p:nvSpPr>
        <p:spPr>
          <a:xfrm>
            <a:off x="320040" y="4041648"/>
            <a:ext cx="2286000" cy="256032"/>
          </a:xfrm>
          <a:prstGeom prst="rect">
            <a:avLst/>
          </a:prstGeom>
          <a:noFill/>
          <a:ln/>
        </p:spPr>
        <p:txBody>
          <a:bodyPr wrap="square" lIns="0" tIns="0" rIns="0" bIns="0" rtlCol="0" anchor="ctr"/>
          <a:lstStyle/>
          <a:p>
            <a:pPr indent="0" marL="0">
              <a:buNone/>
            </a:pPr>
            <a:r>
              <a:rPr lang="en-US" sz="1000" b="1" dirty="0">
                <a:solidFill>
                  <a:srgbClr val="C8A84B"/>
                </a:solidFill>
                <a:latin typeface="Cambria" pitchFamily="34" charset="0"/>
                <a:ea typeface="Cambria" pitchFamily="34" charset="-122"/>
                <a:cs typeface="Cambria" pitchFamily="34" charset="-120"/>
              </a:rPr>
              <a:t>PRÓXIMOS PASSOS</a:t>
            </a:r>
            <a:endParaRPr lang="en-US" sz="1000" dirty="0"/>
          </a:p>
        </p:txBody>
      </p:sp>
      <p:sp>
        <p:nvSpPr>
          <p:cNvPr id="30" name="Shape 21"/>
          <p:cNvSpPr/>
          <p:nvPr/>
        </p:nvSpPr>
        <p:spPr>
          <a:xfrm>
            <a:off x="813816" y="4297680"/>
            <a:ext cx="365760" cy="365760"/>
          </a:xfrm>
          <a:prstGeom prst="ellipse">
            <a:avLst/>
          </a:prstGeom>
          <a:solidFill>
            <a:srgbClr val="C8A84B"/>
          </a:solidFill>
          <a:ln/>
        </p:spPr>
      </p:sp>
      <p:sp>
        <p:nvSpPr>
          <p:cNvPr id="31" name="Text 22"/>
          <p:cNvSpPr/>
          <p:nvPr/>
        </p:nvSpPr>
        <p:spPr>
          <a:xfrm>
            <a:off x="813816" y="4297680"/>
            <a:ext cx="365760" cy="365760"/>
          </a:xfrm>
          <a:prstGeom prst="rect">
            <a:avLst/>
          </a:prstGeom>
          <a:noFill/>
          <a:ln/>
        </p:spPr>
        <p:txBody>
          <a:bodyPr wrap="square" lIns="0" tIns="0" rIns="0" bIns="0" rtlCol="0" anchor="ctr"/>
          <a:lstStyle/>
          <a:p>
            <a:pPr algn="ctr" indent="0" marL="0">
              <a:buNone/>
            </a:pPr>
            <a:r>
              <a:rPr lang="en-US" sz="1000" b="1" dirty="0">
                <a:solidFill>
                  <a:srgbClr val="1E1E1E"/>
                </a:solidFill>
                <a:latin typeface="Cambria" pitchFamily="34" charset="0"/>
                <a:ea typeface="Cambria" pitchFamily="34" charset="-122"/>
                <a:cs typeface="Cambria" pitchFamily="34" charset="-120"/>
              </a:rPr>
              <a:t>1</a:t>
            </a:r>
            <a:endParaRPr lang="en-US" sz="1000" dirty="0"/>
          </a:p>
        </p:txBody>
      </p:sp>
      <p:sp>
        <p:nvSpPr>
          <p:cNvPr id="32" name="Shape 23"/>
          <p:cNvSpPr/>
          <p:nvPr/>
        </p:nvSpPr>
        <p:spPr>
          <a:xfrm>
            <a:off x="1197864" y="4480560"/>
            <a:ext cx="548640" cy="0"/>
          </a:xfrm>
          <a:prstGeom prst="line">
            <a:avLst/>
          </a:prstGeom>
          <a:noFill/>
          <a:ln w="19050">
            <a:solidFill>
              <a:srgbClr val="A07830"/>
            </a:solidFill>
            <a:prstDash val="solid"/>
          </a:ln>
        </p:spPr>
      </p:sp>
      <p:sp>
        <p:nvSpPr>
          <p:cNvPr id="33" name="Text 24"/>
          <p:cNvSpPr/>
          <p:nvPr/>
        </p:nvSpPr>
        <p:spPr>
          <a:xfrm>
            <a:off x="521208" y="4700016"/>
            <a:ext cx="1188720" cy="384048"/>
          </a:xfrm>
          <a:prstGeom prst="rect">
            <a:avLst/>
          </a:prstGeom>
          <a:noFill/>
          <a:ln/>
        </p:spPr>
        <p:txBody>
          <a:bodyPr wrap="square" lIns="0" tIns="0" rIns="0" bIns="0" rtlCol="0" anchor="ctr"/>
          <a:lstStyle/>
          <a:p>
            <a:pPr algn="ctr" indent="0" marL="0">
              <a:buNone/>
            </a:pPr>
            <a:r>
              <a:rPr lang="en-US" sz="750" dirty="0">
                <a:solidFill>
                  <a:srgbClr val="BBBBBB"/>
                </a:solidFill>
                <a:latin typeface="Calibri" pitchFamily="34" charset="0"/>
                <a:ea typeface="Calibri" pitchFamily="34" charset="-122"/>
                <a:cs typeface="Calibri" pitchFamily="34" charset="-120"/>
              </a:rPr>
              <a:t>Levantamento</a:t>
            </a:r>
            <a:endParaRPr lang="en-US" sz="750" dirty="0"/>
          </a:p>
          <a:p>
            <a:pPr algn="ctr" indent="0" marL="0">
              <a:buNone/>
            </a:pPr>
            <a:r>
              <a:rPr lang="en-US" sz="750" dirty="0">
                <a:solidFill>
                  <a:srgbClr val="BBBBBB"/>
                </a:solidFill>
                <a:latin typeface="Calibri" pitchFamily="34" charset="0"/>
                <a:ea typeface="Calibri" pitchFamily="34" charset="-122"/>
                <a:cs typeface="Calibri" pitchFamily="34" charset="-120"/>
              </a:rPr>
              <a:t>real das</a:t>
            </a:r>
            <a:endParaRPr lang="en-US" sz="750" dirty="0"/>
          </a:p>
          <a:p>
            <a:pPr algn="ctr" indent="0" marL="0">
              <a:buNone/>
            </a:pPr>
            <a:r>
              <a:rPr lang="en-US" sz="750" dirty="0">
                <a:solidFill>
                  <a:srgbClr val="BBBBBB"/>
                </a:solidFill>
                <a:latin typeface="Calibri" pitchFamily="34" charset="0"/>
                <a:ea typeface="Calibri" pitchFamily="34" charset="-122"/>
                <a:cs typeface="Calibri" pitchFamily="34" charset="-120"/>
              </a:rPr>
              <a:t>metragens</a:t>
            </a:r>
            <a:endParaRPr lang="en-US" sz="750" dirty="0"/>
          </a:p>
        </p:txBody>
      </p:sp>
      <p:sp>
        <p:nvSpPr>
          <p:cNvPr id="34" name="Shape 25"/>
          <p:cNvSpPr/>
          <p:nvPr/>
        </p:nvSpPr>
        <p:spPr>
          <a:xfrm>
            <a:off x="2258568" y="4297680"/>
            <a:ext cx="365760" cy="365760"/>
          </a:xfrm>
          <a:prstGeom prst="ellipse">
            <a:avLst/>
          </a:prstGeom>
          <a:solidFill>
            <a:srgbClr val="C8A84B"/>
          </a:solidFill>
          <a:ln/>
        </p:spPr>
      </p:sp>
      <p:sp>
        <p:nvSpPr>
          <p:cNvPr id="35" name="Text 26"/>
          <p:cNvSpPr/>
          <p:nvPr/>
        </p:nvSpPr>
        <p:spPr>
          <a:xfrm>
            <a:off x="2258568" y="4297680"/>
            <a:ext cx="365760" cy="365760"/>
          </a:xfrm>
          <a:prstGeom prst="rect">
            <a:avLst/>
          </a:prstGeom>
          <a:noFill/>
          <a:ln/>
        </p:spPr>
        <p:txBody>
          <a:bodyPr wrap="square" lIns="0" tIns="0" rIns="0" bIns="0" rtlCol="0" anchor="ctr"/>
          <a:lstStyle/>
          <a:p>
            <a:pPr algn="ctr" indent="0" marL="0">
              <a:buNone/>
            </a:pPr>
            <a:r>
              <a:rPr lang="en-US" sz="1000" b="1" dirty="0">
                <a:solidFill>
                  <a:srgbClr val="1E1E1E"/>
                </a:solidFill>
                <a:latin typeface="Cambria" pitchFamily="34" charset="0"/>
                <a:ea typeface="Cambria" pitchFamily="34" charset="-122"/>
                <a:cs typeface="Cambria" pitchFamily="34" charset="-120"/>
              </a:rPr>
              <a:t>2</a:t>
            </a:r>
            <a:endParaRPr lang="en-US" sz="1000" dirty="0"/>
          </a:p>
        </p:txBody>
      </p:sp>
      <p:sp>
        <p:nvSpPr>
          <p:cNvPr id="36" name="Shape 27"/>
          <p:cNvSpPr/>
          <p:nvPr/>
        </p:nvSpPr>
        <p:spPr>
          <a:xfrm>
            <a:off x="2642616" y="4480560"/>
            <a:ext cx="548640" cy="0"/>
          </a:xfrm>
          <a:prstGeom prst="line">
            <a:avLst/>
          </a:prstGeom>
          <a:noFill/>
          <a:ln w="19050">
            <a:solidFill>
              <a:srgbClr val="A07830"/>
            </a:solidFill>
            <a:prstDash val="solid"/>
          </a:ln>
        </p:spPr>
      </p:sp>
      <p:sp>
        <p:nvSpPr>
          <p:cNvPr id="37" name="Text 28"/>
          <p:cNvSpPr/>
          <p:nvPr/>
        </p:nvSpPr>
        <p:spPr>
          <a:xfrm>
            <a:off x="1965960" y="4700016"/>
            <a:ext cx="1188720" cy="384048"/>
          </a:xfrm>
          <a:prstGeom prst="rect">
            <a:avLst/>
          </a:prstGeom>
          <a:noFill/>
          <a:ln/>
        </p:spPr>
        <p:txBody>
          <a:bodyPr wrap="square" lIns="0" tIns="0" rIns="0" bIns="0" rtlCol="0" anchor="ctr"/>
          <a:lstStyle/>
          <a:p>
            <a:pPr algn="ctr" indent="0" marL="0">
              <a:buNone/>
            </a:pPr>
            <a:r>
              <a:rPr lang="en-US" sz="750" dirty="0">
                <a:solidFill>
                  <a:srgbClr val="BBBBBB"/>
                </a:solidFill>
                <a:latin typeface="Calibri" pitchFamily="34" charset="0"/>
                <a:ea typeface="Calibri" pitchFamily="34" charset="-122"/>
                <a:cs typeface="Calibri" pitchFamily="34" charset="-120"/>
              </a:rPr>
              <a:t>Especificação</a:t>
            </a:r>
            <a:endParaRPr lang="en-US" sz="750" dirty="0"/>
          </a:p>
          <a:p>
            <a:pPr algn="ctr" indent="0" marL="0">
              <a:buNone/>
            </a:pPr>
            <a:r>
              <a:rPr lang="en-US" sz="750" dirty="0">
                <a:solidFill>
                  <a:srgbClr val="BBBBBB"/>
                </a:solidFill>
                <a:latin typeface="Calibri" pitchFamily="34" charset="0"/>
                <a:ea typeface="Calibri" pitchFamily="34" charset="-122"/>
                <a:cs typeface="Calibri" pitchFamily="34" charset="-120"/>
              </a:rPr>
              <a:t>por ambiente</a:t>
            </a:r>
            <a:endParaRPr lang="en-US" sz="750" dirty="0"/>
          </a:p>
          <a:p>
            <a:pPr algn="ctr" indent="0" marL="0">
              <a:buNone/>
            </a:pPr>
            <a:r>
              <a:rPr lang="en-US" sz="750" dirty="0">
                <a:solidFill>
                  <a:srgbClr val="BBBBBB"/>
                </a:solidFill>
                <a:latin typeface="Calibri" pitchFamily="34" charset="0"/>
                <a:ea typeface="Calibri" pitchFamily="34" charset="-122"/>
                <a:cs typeface="Calibri" pitchFamily="34" charset="-120"/>
              </a:rPr>
              <a:t>com projeto</a:t>
            </a:r>
            <a:endParaRPr lang="en-US" sz="750" dirty="0"/>
          </a:p>
        </p:txBody>
      </p:sp>
      <p:sp>
        <p:nvSpPr>
          <p:cNvPr id="38" name="Shape 29"/>
          <p:cNvSpPr/>
          <p:nvPr/>
        </p:nvSpPr>
        <p:spPr>
          <a:xfrm>
            <a:off x="3703320" y="4297680"/>
            <a:ext cx="365760" cy="365760"/>
          </a:xfrm>
          <a:prstGeom prst="ellipse">
            <a:avLst/>
          </a:prstGeom>
          <a:solidFill>
            <a:srgbClr val="C8A84B"/>
          </a:solidFill>
          <a:ln/>
        </p:spPr>
      </p:sp>
      <p:sp>
        <p:nvSpPr>
          <p:cNvPr id="39" name="Text 30"/>
          <p:cNvSpPr/>
          <p:nvPr/>
        </p:nvSpPr>
        <p:spPr>
          <a:xfrm>
            <a:off x="3703320" y="4297680"/>
            <a:ext cx="365760" cy="365760"/>
          </a:xfrm>
          <a:prstGeom prst="rect">
            <a:avLst/>
          </a:prstGeom>
          <a:noFill/>
          <a:ln/>
        </p:spPr>
        <p:txBody>
          <a:bodyPr wrap="square" lIns="0" tIns="0" rIns="0" bIns="0" rtlCol="0" anchor="ctr"/>
          <a:lstStyle/>
          <a:p>
            <a:pPr algn="ctr" indent="0" marL="0">
              <a:buNone/>
            </a:pPr>
            <a:r>
              <a:rPr lang="en-US" sz="1000" b="1" dirty="0">
                <a:solidFill>
                  <a:srgbClr val="1E1E1E"/>
                </a:solidFill>
                <a:latin typeface="Cambria" pitchFamily="34" charset="0"/>
                <a:ea typeface="Cambria" pitchFamily="34" charset="-122"/>
                <a:cs typeface="Cambria" pitchFamily="34" charset="-120"/>
              </a:rPr>
              <a:t>3</a:t>
            </a:r>
            <a:endParaRPr lang="en-US" sz="1000" dirty="0"/>
          </a:p>
        </p:txBody>
      </p:sp>
      <p:sp>
        <p:nvSpPr>
          <p:cNvPr id="40" name="Shape 31"/>
          <p:cNvSpPr/>
          <p:nvPr/>
        </p:nvSpPr>
        <p:spPr>
          <a:xfrm>
            <a:off x="4087368" y="4480560"/>
            <a:ext cx="548640" cy="0"/>
          </a:xfrm>
          <a:prstGeom prst="line">
            <a:avLst/>
          </a:prstGeom>
          <a:noFill/>
          <a:ln w="19050">
            <a:solidFill>
              <a:srgbClr val="A07830"/>
            </a:solidFill>
            <a:prstDash val="solid"/>
          </a:ln>
        </p:spPr>
      </p:sp>
      <p:sp>
        <p:nvSpPr>
          <p:cNvPr id="41" name="Text 32"/>
          <p:cNvSpPr/>
          <p:nvPr/>
        </p:nvSpPr>
        <p:spPr>
          <a:xfrm>
            <a:off x="3410712" y="4700016"/>
            <a:ext cx="1188720" cy="384048"/>
          </a:xfrm>
          <a:prstGeom prst="rect">
            <a:avLst/>
          </a:prstGeom>
          <a:noFill/>
          <a:ln/>
        </p:spPr>
        <p:txBody>
          <a:bodyPr wrap="square" lIns="0" tIns="0" rIns="0" bIns="0" rtlCol="0" anchor="ctr"/>
          <a:lstStyle/>
          <a:p>
            <a:pPr algn="ctr" indent="0" marL="0">
              <a:buNone/>
            </a:pPr>
            <a:r>
              <a:rPr lang="en-US" sz="750" dirty="0">
                <a:solidFill>
                  <a:srgbClr val="BBBBBB"/>
                </a:solidFill>
                <a:latin typeface="Calibri" pitchFamily="34" charset="0"/>
                <a:ea typeface="Calibri" pitchFamily="34" charset="-122"/>
                <a:cs typeface="Calibri" pitchFamily="34" charset="-120"/>
              </a:rPr>
              <a:t>Compatibilização</a:t>
            </a:r>
            <a:endParaRPr lang="en-US" sz="750" dirty="0"/>
          </a:p>
          <a:p>
            <a:pPr algn="ctr" indent="0" marL="0">
              <a:buNone/>
            </a:pPr>
            <a:r>
              <a:rPr lang="en-US" sz="750" dirty="0">
                <a:solidFill>
                  <a:srgbClr val="BBBBBB"/>
                </a:solidFill>
                <a:latin typeface="Calibri" pitchFamily="34" charset="0"/>
                <a:ea typeface="Calibri" pitchFamily="34" charset="-122"/>
                <a:cs typeface="Calibri" pitchFamily="34" charset="-120"/>
              </a:rPr>
              <a:t>de instalações</a:t>
            </a:r>
            <a:endParaRPr lang="en-US" sz="750" dirty="0"/>
          </a:p>
        </p:txBody>
      </p:sp>
      <p:sp>
        <p:nvSpPr>
          <p:cNvPr id="42" name="Shape 33"/>
          <p:cNvSpPr/>
          <p:nvPr/>
        </p:nvSpPr>
        <p:spPr>
          <a:xfrm>
            <a:off x="5148072" y="4297680"/>
            <a:ext cx="365760" cy="365760"/>
          </a:xfrm>
          <a:prstGeom prst="ellipse">
            <a:avLst/>
          </a:prstGeom>
          <a:solidFill>
            <a:srgbClr val="C8A84B"/>
          </a:solidFill>
          <a:ln/>
        </p:spPr>
      </p:sp>
      <p:sp>
        <p:nvSpPr>
          <p:cNvPr id="43" name="Text 34"/>
          <p:cNvSpPr/>
          <p:nvPr/>
        </p:nvSpPr>
        <p:spPr>
          <a:xfrm>
            <a:off x="5148072" y="4297680"/>
            <a:ext cx="365760" cy="365760"/>
          </a:xfrm>
          <a:prstGeom prst="rect">
            <a:avLst/>
          </a:prstGeom>
          <a:noFill/>
          <a:ln/>
        </p:spPr>
        <p:txBody>
          <a:bodyPr wrap="square" lIns="0" tIns="0" rIns="0" bIns="0" rtlCol="0" anchor="ctr"/>
          <a:lstStyle/>
          <a:p>
            <a:pPr algn="ctr" indent="0" marL="0">
              <a:buNone/>
            </a:pPr>
            <a:r>
              <a:rPr lang="en-US" sz="1000" b="1" dirty="0">
                <a:solidFill>
                  <a:srgbClr val="1E1E1E"/>
                </a:solidFill>
                <a:latin typeface="Cambria" pitchFamily="34" charset="0"/>
                <a:ea typeface="Cambria" pitchFamily="34" charset="-122"/>
                <a:cs typeface="Cambria" pitchFamily="34" charset="-120"/>
              </a:rPr>
              <a:t>4</a:t>
            </a:r>
            <a:endParaRPr lang="en-US" sz="1000" dirty="0"/>
          </a:p>
        </p:txBody>
      </p:sp>
      <p:sp>
        <p:nvSpPr>
          <p:cNvPr id="44" name="Shape 35"/>
          <p:cNvSpPr/>
          <p:nvPr/>
        </p:nvSpPr>
        <p:spPr>
          <a:xfrm>
            <a:off x="5532120" y="4480560"/>
            <a:ext cx="548640" cy="0"/>
          </a:xfrm>
          <a:prstGeom prst="line">
            <a:avLst/>
          </a:prstGeom>
          <a:noFill/>
          <a:ln w="19050">
            <a:solidFill>
              <a:srgbClr val="A07830"/>
            </a:solidFill>
            <a:prstDash val="solid"/>
          </a:ln>
        </p:spPr>
      </p:sp>
      <p:sp>
        <p:nvSpPr>
          <p:cNvPr id="45" name="Text 36"/>
          <p:cNvSpPr/>
          <p:nvPr/>
        </p:nvSpPr>
        <p:spPr>
          <a:xfrm>
            <a:off x="4855464" y="4700016"/>
            <a:ext cx="1188720" cy="384048"/>
          </a:xfrm>
          <a:prstGeom prst="rect">
            <a:avLst/>
          </a:prstGeom>
          <a:noFill/>
          <a:ln/>
        </p:spPr>
        <p:txBody>
          <a:bodyPr wrap="square" lIns="0" tIns="0" rIns="0" bIns="0" rtlCol="0" anchor="ctr"/>
          <a:lstStyle/>
          <a:p>
            <a:pPr algn="ctr" indent="0" marL="0">
              <a:buNone/>
            </a:pPr>
            <a:r>
              <a:rPr lang="en-US" sz="750" dirty="0">
                <a:solidFill>
                  <a:srgbClr val="BBBBBB"/>
                </a:solidFill>
                <a:latin typeface="Calibri" pitchFamily="34" charset="0"/>
                <a:ea typeface="Calibri" pitchFamily="34" charset="-122"/>
                <a:cs typeface="Calibri" pitchFamily="34" charset="-120"/>
              </a:rPr>
              <a:t>Orçamento</a:t>
            </a:r>
            <a:endParaRPr lang="en-US" sz="750" dirty="0"/>
          </a:p>
          <a:p>
            <a:pPr algn="ctr" indent="0" marL="0">
              <a:buNone/>
            </a:pPr>
            <a:r>
              <a:rPr lang="en-US" sz="750" dirty="0">
                <a:solidFill>
                  <a:srgbClr val="BBBBBB"/>
                </a:solidFill>
                <a:latin typeface="Calibri" pitchFamily="34" charset="0"/>
                <a:ea typeface="Calibri" pitchFamily="34" charset="-122"/>
                <a:cs typeface="Calibri" pitchFamily="34" charset="-120"/>
              </a:rPr>
              <a:t>executivo</a:t>
            </a:r>
            <a:endParaRPr lang="en-US" sz="750" dirty="0"/>
          </a:p>
          <a:p>
            <a:pPr algn="ctr" indent="0" marL="0">
              <a:buNone/>
            </a:pPr>
            <a:r>
              <a:rPr lang="en-US" sz="750" dirty="0">
                <a:solidFill>
                  <a:srgbClr val="BBBBBB"/>
                </a:solidFill>
                <a:latin typeface="Calibri" pitchFamily="34" charset="0"/>
                <a:ea typeface="Calibri" pitchFamily="34" charset="-122"/>
                <a:cs typeface="Calibri" pitchFamily="34" charset="-120"/>
              </a:rPr>
              <a:t>detalhado</a:t>
            </a:r>
            <a:endParaRPr lang="en-US" sz="750" dirty="0"/>
          </a:p>
        </p:txBody>
      </p:sp>
      <p:sp>
        <p:nvSpPr>
          <p:cNvPr id="46" name="Shape 37"/>
          <p:cNvSpPr/>
          <p:nvPr/>
        </p:nvSpPr>
        <p:spPr>
          <a:xfrm>
            <a:off x="6592824" y="4297680"/>
            <a:ext cx="365760" cy="365760"/>
          </a:xfrm>
          <a:prstGeom prst="ellipse">
            <a:avLst/>
          </a:prstGeom>
          <a:solidFill>
            <a:srgbClr val="C8A84B"/>
          </a:solidFill>
          <a:ln/>
        </p:spPr>
      </p:sp>
      <p:sp>
        <p:nvSpPr>
          <p:cNvPr id="47" name="Text 38"/>
          <p:cNvSpPr/>
          <p:nvPr/>
        </p:nvSpPr>
        <p:spPr>
          <a:xfrm>
            <a:off x="6592824" y="4297680"/>
            <a:ext cx="365760" cy="365760"/>
          </a:xfrm>
          <a:prstGeom prst="rect">
            <a:avLst/>
          </a:prstGeom>
          <a:noFill/>
          <a:ln/>
        </p:spPr>
        <p:txBody>
          <a:bodyPr wrap="square" lIns="0" tIns="0" rIns="0" bIns="0" rtlCol="0" anchor="ctr"/>
          <a:lstStyle/>
          <a:p>
            <a:pPr algn="ctr" indent="0" marL="0">
              <a:buNone/>
            </a:pPr>
            <a:r>
              <a:rPr lang="en-US" sz="1000" b="1" dirty="0">
                <a:solidFill>
                  <a:srgbClr val="1E1E1E"/>
                </a:solidFill>
                <a:latin typeface="Cambria" pitchFamily="34" charset="0"/>
                <a:ea typeface="Cambria" pitchFamily="34" charset="-122"/>
                <a:cs typeface="Cambria" pitchFamily="34" charset="-120"/>
              </a:rPr>
              <a:t>5</a:t>
            </a:r>
            <a:endParaRPr lang="en-US" sz="1000" dirty="0"/>
          </a:p>
        </p:txBody>
      </p:sp>
      <p:sp>
        <p:nvSpPr>
          <p:cNvPr id="48" name="Shape 39"/>
          <p:cNvSpPr/>
          <p:nvPr/>
        </p:nvSpPr>
        <p:spPr>
          <a:xfrm>
            <a:off x="6976872" y="4480560"/>
            <a:ext cx="548640" cy="0"/>
          </a:xfrm>
          <a:prstGeom prst="line">
            <a:avLst/>
          </a:prstGeom>
          <a:noFill/>
          <a:ln w="19050">
            <a:solidFill>
              <a:srgbClr val="A07830"/>
            </a:solidFill>
            <a:prstDash val="solid"/>
          </a:ln>
        </p:spPr>
      </p:sp>
      <p:sp>
        <p:nvSpPr>
          <p:cNvPr id="49" name="Text 40"/>
          <p:cNvSpPr/>
          <p:nvPr/>
        </p:nvSpPr>
        <p:spPr>
          <a:xfrm>
            <a:off x="6300216" y="4700016"/>
            <a:ext cx="1188720" cy="384048"/>
          </a:xfrm>
          <a:prstGeom prst="rect">
            <a:avLst/>
          </a:prstGeom>
          <a:noFill/>
          <a:ln/>
        </p:spPr>
        <p:txBody>
          <a:bodyPr wrap="square" lIns="0" tIns="0" rIns="0" bIns="0" rtlCol="0" anchor="ctr"/>
          <a:lstStyle/>
          <a:p>
            <a:pPr algn="ctr" indent="0" marL="0">
              <a:buNone/>
            </a:pPr>
            <a:r>
              <a:rPr lang="en-US" sz="750" dirty="0">
                <a:solidFill>
                  <a:srgbClr val="BBBBBB"/>
                </a:solidFill>
                <a:latin typeface="Calibri" pitchFamily="34" charset="0"/>
                <a:ea typeface="Calibri" pitchFamily="34" charset="-122"/>
                <a:cs typeface="Calibri" pitchFamily="34" charset="-120"/>
              </a:rPr>
              <a:t>Apartamento-</a:t>
            </a:r>
            <a:endParaRPr lang="en-US" sz="750" dirty="0"/>
          </a:p>
          <a:p>
            <a:pPr algn="ctr" indent="0" marL="0">
              <a:buNone/>
            </a:pPr>
            <a:r>
              <a:rPr lang="en-US" sz="750" dirty="0">
                <a:solidFill>
                  <a:srgbClr val="BBBBBB"/>
                </a:solidFill>
                <a:latin typeface="Calibri" pitchFamily="34" charset="0"/>
                <a:ea typeface="Calibri" pitchFamily="34" charset="-122"/>
                <a:cs typeface="Calibri" pitchFamily="34" charset="-120"/>
              </a:rPr>
              <a:t>piloto</a:t>
            </a:r>
            <a:endParaRPr lang="en-US" sz="750" dirty="0"/>
          </a:p>
          <a:p>
            <a:pPr algn="ctr" indent="0" marL="0">
              <a:buNone/>
            </a:pPr>
            <a:r>
              <a:rPr lang="en-US" sz="750" dirty="0">
                <a:solidFill>
                  <a:srgbClr val="BBBBBB"/>
                </a:solidFill>
                <a:latin typeface="Calibri" pitchFamily="34" charset="0"/>
                <a:ea typeface="Calibri" pitchFamily="34" charset="-122"/>
                <a:cs typeface="Calibri" pitchFamily="34" charset="-120"/>
              </a:rPr>
              <a:t>validado</a:t>
            </a:r>
            <a:endParaRPr lang="en-US" sz="750" dirty="0"/>
          </a:p>
        </p:txBody>
      </p:sp>
      <p:sp>
        <p:nvSpPr>
          <p:cNvPr id="50" name="Shape 41"/>
          <p:cNvSpPr/>
          <p:nvPr/>
        </p:nvSpPr>
        <p:spPr>
          <a:xfrm>
            <a:off x="8037576" y="4297680"/>
            <a:ext cx="365760" cy="365760"/>
          </a:xfrm>
          <a:prstGeom prst="ellipse">
            <a:avLst/>
          </a:prstGeom>
          <a:solidFill>
            <a:srgbClr val="C8A84B"/>
          </a:solidFill>
          <a:ln/>
        </p:spPr>
      </p:sp>
      <p:sp>
        <p:nvSpPr>
          <p:cNvPr id="51" name="Text 42"/>
          <p:cNvSpPr/>
          <p:nvPr/>
        </p:nvSpPr>
        <p:spPr>
          <a:xfrm>
            <a:off x="8037576" y="4297680"/>
            <a:ext cx="365760" cy="365760"/>
          </a:xfrm>
          <a:prstGeom prst="rect">
            <a:avLst/>
          </a:prstGeom>
          <a:noFill/>
          <a:ln/>
        </p:spPr>
        <p:txBody>
          <a:bodyPr wrap="square" lIns="0" tIns="0" rIns="0" bIns="0" rtlCol="0" anchor="ctr"/>
          <a:lstStyle/>
          <a:p>
            <a:pPr algn="ctr" indent="0" marL="0">
              <a:buNone/>
            </a:pPr>
            <a:r>
              <a:rPr lang="en-US" sz="1000" b="1" dirty="0">
                <a:solidFill>
                  <a:srgbClr val="1E1E1E"/>
                </a:solidFill>
                <a:latin typeface="Cambria" pitchFamily="34" charset="0"/>
                <a:ea typeface="Cambria" pitchFamily="34" charset="-122"/>
                <a:cs typeface="Cambria" pitchFamily="34" charset="-120"/>
              </a:rPr>
              <a:t>6</a:t>
            </a:r>
            <a:endParaRPr lang="en-US" sz="1000" dirty="0"/>
          </a:p>
        </p:txBody>
      </p:sp>
      <p:sp>
        <p:nvSpPr>
          <p:cNvPr id="52" name="Text 43"/>
          <p:cNvSpPr/>
          <p:nvPr/>
        </p:nvSpPr>
        <p:spPr>
          <a:xfrm>
            <a:off x="7744968" y="4700016"/>
            <a:ext cx="1188720" cy="384048"/>
          </a:xfrm>
          <a:prstGeom prst="rect">
            <a:avLst/>
          </a:prstGeom>
          <a:noFill/>
          <a:ln/>
        </p:spPr>
        <p:txBody>
          <a:bodyPr wrap="square" lIns="0" tIns="0" rIns="0" bIns="0" rtlCol="0" anchor="ctr"/>
          <a:lstStyle/>
          <a:p>
            <a:pPr algn="ctr" indent="0" marL="0">
              <a:buNone/>
            </a:pPr>
            <a:r>
              <a:rPr lang="en-US" sz="750" dirty="0">
                <a:solidFill>
                  <a:srgbClr val="BBBBBB"/>
                </a:solidFill>
                <a:latin typeface="Calibri" pitchFamily="34" charset="0"/>
                <a:ea typeface="Calibri" pitchFamily="34" charset="-122"/>
                <a:cs typeface="Calibri" pitchFamily="34" charset="-120"/>
              </a:rPr>
              <a:t>Implantação</a:t>
            </a:r>
            <a:endParaRPr lang="en-US" sz="750" dirty="0"/>
          </a:p>
          <a:p>
            <a:pPr algn="ctr" indent="0" marL="0">
              <a:buNone/>
            </a:pPr>
            <a:r>
              <a:rPr lang="en-US" sz="750" dirty="0">
                <a:solidFill>
                  <a:srgbClr val="BBBBBB"/>
                </a:solidFill>
                <a:latin typeface="Calibri" pitchFamily="34" charset="0"/>
                <a:ea typeface="Calibri" pitchFamily="34" charset="-122"/>
                <a:cs typeface="Calibri" pitchFamily="34" charset="-120"/>
              </a:rPr>
              <a:t>em escala</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1E1E"/>
        </a:solidFill>
      </p:bgPr>
    </p:bg>
    <p:spTree>
      <p:nvGrpSpPr>
        <p:cNvPr id="1" name=""/>
        <p:cNvGrpSpPr/>
        <p:nvPr/>
      </p:nvGrpSpPr>
      <p:grpSpPr>
        <a:xfrm>
          <a:off x="0" y="0"/>
          <a:ext cx="0" cy="0"/>
          <a:chOff x="0" y="0"/>
          <a:chExt cx="0" cy="0"/>
        </a:xfrm>
      </p:grpSpPr>
      <p:sp>
        <p:nvSpPr>
          <p:cNvPr id="2" name="Text 0"/>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666666"/>
                </a:solidFill>
              </a:rPr>
              <a:t>12 / 12</a:t>
            </a:r>
            <a:endParaRPr lang="en-US" sz="900" dirty="0"/>
          </a:p>
        </p:txBody>
      </p:sp>
      <p:sp>
        <p:nvSpPr>
          <p:cNvPr id="3" name="Shape 1"/>
          <p:cNvSpPr/>
          <p:nvPr/>
        </p:nvSpPr>
        <p:spPr>
          <a:xfrm>
            <a:off x="0" y="0"/>
            <a:ext cx="9144000" cy="50292"/>
          </a:xfrm>
          <a:prstGeom prst="rect">
            <a:avLst/>
          </a:prstGeom>
          <a:solidFill>
            <a:srgbClr val="C8A84B"/>
          </a:solidFill>
          <a:ln w="12700">
            <a:solidFill>
              <a:srgbClr val="C8A84B"/>
            </a:solidFill>
            <a:prstDash val="solid"/>
          </a:ln>
        </p:spPr>
      </p:sp>
      <p:sp>
        <p:nvSpPr>
          <p:cNvPr id="4" name="Text 2"/>
          <p:cNvSpPr/>
          <p:nvPr/>
        </p:nvSpPr>
        <p:spPr>
          <a:xfrm>
            <a:off x="457200" y="182880"/>
            <a:ext cx="8229600" cy="457200"/>
          </a:xfrm>
          <a:prstGeom prst="rect">
            <a:avLst/>
          </a:prstGeom>
          <a:noFill/>
          <a:ln/>
        </p:spPr>
        <p:txBody>
          <a:bodyPr wrap="square" lIns="0" tIns="0" rIns="0" bIns="0" rtlCol="0" anchor="ctr"/>
          <a:lstStyle/>
          <a:p>
            <a:pPr algn="ctr" indent="0" marL="0">
              <a:buNone/>
            </a:pPr>
            <a:r>
              <a:rPr lang="en-US" sz="2200" b="1" spc="200" kern="0" dirty="0">
                <a:solidFill>
                  <a:srgbClr val="C8A84B"/>
                </a:solidFill>
                <a:latin typeface="Cambria" pitchFamily="34" charset="0"/>
                <a:ea typeface="Cambria" pitchFamily="34" charset="-122"/>
                <a:cs typeface="Cambria" pitchFamily="34" charset="-120"/>
              </a:rPr>
              <a:t>RECOMENDAÇÃO TÉCNICA FINAL</a:t>
            </a:r>
            <a:endParaRPr lang="en-US" sz="2200" dirty="0"/>
          </a:p>
        </p:txBody>
      </p:sp>
      <p:sp>
        <p:nvSpPr>
          <p:cNvPr id="5" name="Shape 3"/>
          <p:cNvSpPr/>
          <p:nvPr/>
        </p:nvSpPr>
        <p:spPr>
          <a:xfrm>
            <a:off x="457200" y="777240"/>
            <a:ext cx="8229600" cy="1417320"/>
          </a:xfrm>
          <a:prstGeom prst="roundRect">
            <a:avLst>
              <a:gd name="adj" fmla="val 6452"/>
            </a:avLst>
          </a:prstGeom>
          <a:solidFill>
            <a:srgbClr val="2A2A2A"/>
          </a:solidFill>
          <a:ln/>
          <a:effectLst>
            <a:outerShdw sx="100000" sy="100000" kx="0" ky="0" algn="bl" rotWithShape="0" blurRad="101600" dist="38100" dir="2700000">
              <a:srgbClr val="000000">
                <a:alpha val="18000"/>
              </a:srgbClr>
            </a:outerShdw>
          </a:effectLst>
        </p:spPr>
      </p:sp>
      <p:pic>
        <p:nvPicPr>
          <p:cNvPr id="6" name="Image 0" descr="preencoded.png">    </p:cNvPr>
          <p:cNvPicPr>
            <a:picLocks noChangeAspect="1"/>
          </p:cNvPicPr>
          <p:nvPr/>
        </p:nvPicPr>
        <p:blipFill>
          <a:blip r:embed="rId1"/>
          <a:stretch>
            <a:fillRect/>
          </a:stretch>
        </p:blipFill>
        <p:spPr>
          <a:xfrm>
            <a:off x="658368" y="914400"/>
            <a:ext cx="457200" cy="457200"/>
          </a:xfrm>
          <a:prstGeom prst="rect">
            <a:avLst/>
          </a:prstGeom>
        </p:spPr>
      </p:pic>
      <p:sp>
        <p:nvSpPr>
          <p:cNvPr id="7" name="Text 4"/>
          <p:cNvSpPr/>
          <p:nvPr/>
        </p:nvSpPr>
        <p:spPr>
          <a:xfrm>
            <a:off x="1207008" y="822960"/>
            <a:ext cx="7315200" cy="1261872"/>
          </a:xfrm>
          <a:prstGeom prst="rect">
            <a:avLst/>
          </a:prstGeom>
          <a:noFill/>
          <a:ln/>
        </p:spPr>
        <p:txBody>
          <a:bodyPr wrap="square" lIns="0" tIns="0" rIns="0" bIns="0" rtlCol="0" anchor="ctr"/>
          <a:lstStyle/>
          <a:p>
            <a:pPr algn="just" indent="0" marL="0">
              <a:buNone/>
            </a:pPr>
            <a:r>
              <a:rPr lang="en-US" sz="1050" dirty="0">
                <a:solidFill>
                  <a:srgbClr val="F0EFEC"/>
                </a:solidFill>
                <a:latin typeface="Calibri" pitchFamily="34" charset="0"/>
                <a:ea typeface="Calibri" pitchFamily="34" charset="-122"/>
                <a:cs typeface="Calibri" pitchFamily="34" charset="-120"/>
              </a:rPr>
              <a:t>Adotar drywall como sistema padrão para todas as paredes internas de vedação não estruturais, com especificação por ambiente (ST, RU, RF, lã PET, dupla chapa conforme uso), compatibilização prévia com instalações, controle formal de qualidade e execução por empresa especializada.</a:t>
            </a:r>
            <a:endParaRPr lang="en-US" sz="1050" dirty="0"/>
          </a:p>
        </p:txBody>
      </p:sp>
      <p:sp>
        <p:nvSpPr>
          <p:cNvPr id="8" name="Shape 5"/>
          <p:cNvSpPr/>
          <p:nvPr/>
        </p:nvSpPr>
        <p:spPr>
          <a:xfrm>
            <a:off x="457200" y="2304288"/>
            <a:ext cx="1920240" cy="914400"/>
          </a:xfrm>
          <a:prstGeom prst="roundRect">
            <a:avLst>
              <a:gd name="adj" fmla="val 8000"/>
            </a:avLst>
          </a:prstGeom>
          <a:solidFill>
            <a:srgbClr val="111111"/>
          </a:solidFill>
          <a:ln/>
          <a:effectLst>
            <a:outerShdw sx="100000" sy="100000" kx="0" ky="0" algn="bl" rotWithShape="0" blurRad="101600" dist="38100" dir="2700000">
              <a:srgbClr val="000000">
                <a:alpha val="18000"/>
              </a:srgbClr>
            </a:outerShdw>
          </a:effectLst>
        </p:spPr>
      </p:sp>
      <p:sp>
        <p:nvSpPr>
          <p:cNvPr id="9" name="Text 6"/>
          <p:cNvSpPr/>
          <p:nvPr/>
        </p:nvSpPr>
        <p:spPr>
          <a:xfrm>
            <a:off x="457200" y="2322576"/>
            <a:ext cx="1920240" cy="475488"/>
          </a:xfrm>
          <a:prstGeom prst="rect">
            <a:avLst/>
          </a:prstGeom>
          <a:noFill/>
          <a:ln/>
        </p:spPr>
        <p:txBody>
          <a:bodyPr wrap="square" lIns="0" tIns="0" rIns="0" bIns="0" rtlCol="0" anchor="ctr"/>
          <a:lstStyle/>
          <a:p>
            <a:pPr algn="ctr" indent="0" marL="0">
              <a:buNone/>
            </a:pPr>
            <a:r>
              <a:rPr lang="en-US" sz="2400" b="1" dirty="0">
                <a:solidFill>
                  <a:srgbClr val="C8A84B"/>
                </a:solidFill>
                <a:latin typeface="Cambria" pitchFamily="34" charset="0"/>
                <a:ea typeface="Cambria" pitchFamily="34" charset="-122"/>
                <a:cs typeface="Cambria" pitchFamily="34" charset="-120"/>
              </a:rPr>
              <a:t>−12 t</a:t>
            </a:r>
            <a:endParaRPr lang="en-US" sz="2400" dirty="0"/>
          </a:p>
        </p:txBody>
      </p:sp>
      <p:sp>
        <p:nvSpPr>
          <p:cNvPr id="10" name="Text 7"/>
          <p:cNvSpPr/>
          <p:nvPr/>
        </p:nvSpPr>
        <p:spPr>
          <a:xfrm>
            <a:off x="457200" y="2816352"/>
            <a:ext cx="1920240" cy="347472"/>
          </a:xfrm>
          <a:prstGeom prst="rect">
            <a:avLst/>
          </a:prstGeom>
          <a:noFill/>
          <a:ln/>
        </p:spPr>
        <p:txBody>
          <a:bodyPr wrap="square" lIns="0" tIns="0" rIns="0" bIns="0" rtlCol="0" anchor="ctr"/>
          <a:lstStyle/>
          <a:p>
            <a:pPr algn="ctr" indent="0" marL="0">
              <a:buNone/>
            </a:pPr>
            <a:r>
              <a:rPr lang="en-US" sz="900" dirty="0">
                <a:solidFill>
                  <a:srgbClr val="F0EFEC"/>
                </a:solidFill>
                <a:latin typeface="Calibri" pitchFamily="34" charset="0"/>
                <a:ea typeface="Calibri" pitchFamily="34" charset="-122"/>
                <a:cs typeface="Calibri" pitchFamily="34" charset="-120"/>
              </a:rPr>
              <a:t>Redução de peso</a:t>
            </a:r>
            <a:endParaRPr lang="en-US" sz="900" dirty="0"/>
          </a:p>
          <a:p>
            <a:pPr algn="ctr" indent="0" marL="0">
              <a:buNone/>
            </a:pPr>
            <a:r>
              <a:rPr lang="en-US" sz="900" dirty="0">
                <a:solidFill>
                  <a:srgbClr val="F0EFEC"/>
                </a:solidFill>
                <a:latin typeface="Calibri" pitchFamily="34" charset="0"/>
                <a:ea typeface="Calibri" pitchFamily="34" charset="-122"/>
                <a:cs typeface="Calibri" pitchFamily="34" charset="-120"/>
              </a:rPr>
              <a:t>6 apartamentos</a:t>
            </a:r>
            <a:endParaRPr lang="en-US" sz="900" dirty="0"/>
          </a:p>
        </p:txBody>
      </p:sp>
      <p:sp>
        <p:nvSpPr>
          <p:cNvPr id="11" name="Shape 8"/>
          <p:cNvSpPr/>
          <p:nvPr/>
        </p:nvSpPr>
        <p:spPr>
          <a:xfrm>
            <a:off x="2542032" y="2304288"/>
            <a:ext cx="1920240" cy="914400"/>
          </a:xfrm>
          <a:prstGeom prst="roundRect">
            <a:avLst>
              <a:gd name="adj" fmla="val 8000"/>
            </a:avLst>
          </a:prstGeom>
          <a:solidFill>
            <a:srgbClr val="1A3000"/>
          </a:solidFill>
          <a:ln/>
          <a:effectLst>
            <a:outerShdw sx="100000" sy="100000" kx="0" ky="0" algn="bl" rotWithShape="0" blurRad="101600" dist="38100" dir="2700000">
              <a:srgbClr val="000000">
                <a:alpha val="18000"/>
              </a:srgbClr>
            </a:outerShdw>
          </a:effectLst>
        </p:spPr>
      </p:sp>
      <p:sp>
        <p:nvSpPr>
          <p:cNvPr id="12" name="Text 9"/>
          <p:cNvSpPr/>
          <p:nvPr/>
        </p:nvSpPr>
        <p:spPr>
          <a:xfrm>
            <a:off x="2542032" y="2322576"/>
            <a:ext cx="1920240" cy="475488"/>
          </a:xfrm>
          <a:prstGeom prst="rect">
            <a:avLst/>
          </a:prstGeom>
          <a:noFill/>
          <a:ln/>
        </p:spPr>
        <p:txBody>
          <a:bodyPr wrap="square" lIns="0" tIns="0" rIns="0" bIns="0" rtlCol="0" anchor="ctr"/>
          <a:lstStyle/>
          <a:p>
            <a:pPr algn="ctr" indent="0" marL="0">
              <a:buNone/>
            </a:pPr>
            <a:r>
              <a:rPr lang="en-US" sz="2400" b="1" dirty="0">
                <a:solidFill>
                  <a:srgbClr val="C8A84B"/>
                </a:solidFill>
                <a:latin typeface="Cambria" pitchFamily="34" charset="0"/>
                <a:ea typeface="Cambria" pitchFamily="34" charset="-122"/>
                <a:cs typeface="Cambria" pitchFamily="34" charset="-120"/>
              </a:rPr>
              <a:t>+19,2 m²</a:t>
            </a:r>
            <a:endParaRPr lang="en-US" sz="2400" dirty="0"/>
          </a:p>
        </p:txBody>
      </p:sp>
      <p:sp>
        <p:nvSpPr>
          <p:cNvPr id="13" name="Text 10"/>
          <p:cNvSpPr/>
          <p:nvPr/>
        </p:nvSpPr>
        <p:spPr>
          <a:xfrm>
            <a:off x="2542032" y="2816352"/>
            <a:ext cx="1920240" cy="347472"/>
          </a:xfrm>
          <a:prstGeom prst="rect">
            <a:avLst/>
          </a:prstGeom>
          <a:noFill/>
          <a:ln/>
        </p:spPr>
        <p:txBody>
          <a:bodyPr wrap="square" lIns="0" tIns="0" rIns="0" bIns="0" rtlCol="0" anchor="ctr"/>
          <a:lstStyle/>
          <a:p>
            <a:pPr algn="ctr" indent="0" marL="0">
              <a:buNone/>
            </a:pPr>
            <a:r>
              <a:rPr lang="en-US" sz="900" dirty="0">
                <a:solidFill>
                  <a:srgbClr val="F0EFEC"/>
                </a:solidFill>
                <a:latin typeface="Calibri" pitchFamily="34" charset="0"/>
                <a:ea typeface="Calibri" pitchFamily="34" charset="-122"/>
                <a:cs typeface="Calibri" pitchFamily="34" charset="-120"/>
              </a:rPr>
              <a:t>Área útil</a:t>
            </a:r>
            <a:endParaRPr lang="en-US" sz="900" dirty="0"/>
          </a:p>
          <a:p>
            <a:pPr algn="ctr" indent="0" marL="0">
              <a:buNone/>
            </a:pPr>
            <a:r>
              <a:rPr lang="en-US" sz="900" dirty="0">
                <a:solidFill>
                  <a:srgbClr val="F0EFEC"/>
                </a:solidFill>
                <a:latin typeface="Calibri" pitchFamily="34" charset="0"/>
                <a:ea typeface="Calibri" pitchFamily="34" charset="-122"/>
                <a:cs typeface="Calibri" pitchFamily="34" charset="-120"/>
              </a:rPr>
              <a:t>recuperada</a:t>
            </a:r>
            <a:endParaRPr lang="en-US" sz="900" dirty="0"/>
          </a:p>
        </p:txBody>
      </p:sp>
      <p:sp>
        <p:nvSpPr>
          <p:cNvPr id="14" name="Shape 11"/>
          <p:cNvSpPr/>
          <p:nvPr/>
        </p:nvSpPr>
        <p:spPr>
          <a:xfrm>
            <a:off x="4626864" y="2304288"/>
            <a:ext cx="1920240" cy="914400"/>
          </a:xfrm>
          <a:prstGeom prst="roundRect">
            <a:avLst>
              <a:gd name="adj" fmla="val 8000"/>
            </a:avLst>
          </a:prstGeom>
          <a:solidFill>
            <a:srgbClr val="111111"/>
          </a:solidFill>
          <a:ln/>
          <a:effectLst>
            <a:outerShdw sx="100000" sy="100000" kx="0" ky="0" algn="bl" rotWithShape="0" blurRad="101600" dist="38100" dir="2700000">
              <a:srgbClr val="000000">
                <a:alpha val="18000"/>
              </a:srgbClr>
            </a:outerShdw>
          </a:effectLst>
        </p:spPr>
      </p:sp>
      <p:sp>
        <p:nvSpPr>
          <p:cNvPr id="15" name="Text 12"/>
          <p:cNvSpPr/>
          <p:nvPr/>
        </p:nvSpPr>
        <p:spPr>
          <a:xfrm>
            <a:off x="4626864" y="2322576"/>
            <a:ext cx="1920240" cy="475488"/>
          </a:xfrm>
          <a:prstGeom prst="rect">
            <a:avLst/>
          </a:prstGeom>
          <a:noFill/>
          <a:ln/>
        </p:spPr>
        <p:txBody>
          <a:bodyPr wrap="square" lIns="0" tIns="0" rIns="0" bIns="0" rtlCol="0" anchor="ctr"/>
          <a:lstStyle/>
          <a:p>
            <a:pPr algn="ctr" indent="0" marL="0">
              <a:buNone/>
            </a:pPr>
            <a:r>
              <a:rPr lang="en-US" sz="2400" b="1" dirty="0">
                <a:solidFill>
                  <a:srgbClr val="C8A84B"/>
                </a:solidFill>
                <a:latin typeface="Cambria" pitchFamily="34" charset="0"/>
                <a:ea typeface="Cambria" pitchFamily="34" charset="-122"/>
                <a:cs typeface="Cambria" pitchFamily="34" charset="-120"/>
              </a:rPr>
              <a:t>−19%</a:t>
            </a:r>
            <a:endParaRPr lang="en-US" sz="2400" dirty="0"/>
          </a:p>
        </p:txBody>
      </p:sp>
      <p:sp>
        <p:nvSpPr>
          <p:cNvPr id="16" name="Text 13"/>
          <p:cNvSpPr/>
          <p:nvPr/>
        </p:nvSpPr>
        <p:spPr>
          <a:xfrm>
            <a:off x="4626864" y="2816352"/>
            <a:ext cx="1920240" cy="347472"/>
          </a:xfrm>
          <a:prstGeom prst="rect">
            <a:avLst/>
          </a:prstGeom>
          <a:noFill/>
          <a:ln/>
        </p:spPr>
        <p:txBody>
          <a:bodyPr wrap="square" lIns="0" tIns="0" rIns="0" bIns="0" rtlCol="0" anchor="ctr"/>
          <a:lstStyle/>
          <a:p>
            <a:pPr algn="ctr" indent="0" marL="0">
              <a:buNone/>
            </a:pPr>
            <a:r>
              <a:rPr lang="en-US" sz="900" dirty="0">
                <a:solidFill>
                  <a:srgbClr val="F0EFEC"/>
                </a:solidFill>
                <a:latin typeface="Calibri" pitchFamily="34" charset="0"/>
                <a:ea typeface="Calibri" pitchFamily="34" charset="-122"/>
                <a:cs typeface="Calibri" pitchFamily="34" charset="-120"/>
              </a:rPr>
              <a:t>Economia custo</a:t>
            </a:r>
            <a:endParaRPr lang="en-US" sz="900" dirty="0"/>
          </a:p>
          <a:p>
            <a:pPr algn="ctr" indent="0" marL="0">
              <a:buNone/>
            </a:pPr>
            <a:r>
              <a:rPr lang="en-US" sz="900" dirty="0">
                <a:solidFill>
                  <a:srgbClr val="F0EFEC"/>
                </a:solidFill>
                <a:latin typeface="Calibri" pitchFamily="34" charset="0"/>
                <a:ea typeface="Calibri" pitchFamily="34" charset="-122"/>
                <a:cs typeface="Calibri" pitchFamily="34" charset="-120"/>
              </a:rPr>
              <a:t>direto</a:t>
            </a:r>
            <a:endParaRPr lang="en-US" sz="900" dirty="0"/>
          </a:p>
        </p:txBody>
      </p:sp>
      <p:sp>
        <p:nvSpPr>
          <p:cNvPr id="17" name="Shape 14"/>
          <p:cNvSpPr/>
          <p:nvPr/>
        </p:nvSpPr>
        <p:spPr>
          <a:xfrm>
            <a:off x="6711696" y="2304288"/>
            <a:ext cx="1920240" cy="914400"/>
          </a:xfrm>
          <a:prstGeom prst="roundRect">
            <a:avLst>
              <a:gd name="adj" fmla="val 8000"/>
            </a:avLst>
          </a:prstGeom>
          <a:solidFill>
            <a:srgbClr val="1A3000"/>
          </a:solidFill>
          <a:ln/>
          <a:effectLst>
            <a:outerShdw sx="100000" sy="100000" kx="0" ky="0" algn="bl" rotWithShape="0" blurRad="101600" dist="38100" dir="2700000">
              <a:srgbClr val="000000">
                <a:alpha val="18000"/>
              </a:srgbClr>
            </a:outerShdw>
          </a:effectLst>
        </p:spPr>
      </p:sp>
      <p:sp>
        <p:nvSpPr>
          <p:cNvPr id="18" name="Text 15"/>
          <p:cNvSpPr/>
          <p:nvPr/>
        </p:nvSpPr>
        <p:spPr>
          <a:xfrm>
            <a:off x="6711696" y="2322576"/>
            <a:ext cx="1920240" cy="475488"/>
          </a:xfrm>
          <a:prstGeom prst="rect">
            <a:avLst/>
          </a:prstGeom>
          <a:noFill/>
          <a:ln/>
        </p:spPr>
        <p:txBody>
          <a:bodyPr wrap="square" lIns="0" tIns="0" rIns="0" bIns="0" rtlCol="0" anchor="ctr"/>
          <a:lstStyle/>
          <a:p>
            <a:pPr algn="ctr" indent="0" marL="0">
              <a:buNone/>
            </a:pPr>
            <a:r>
              <a:rPr lang="en-US" sz="2400" b="1" dirty="0">
                <a:solidFill>
                  <a:srgbClr val="C8A84B"/>
                </a:solidFill>
                <a:latin typeface="Cambria" pitchFamily="34" charset="0"/>
                <a:ea typeface="Cambria" pitchFamily="34" charset="-122"/>
                <a:cs typeface="Cambria" pitchFamily="34" charset="-120"/>
              </a:rPr>
              <a:t>2× mais</a:t>
            </a:r>
            <a:endParaRPr lang="en-US" sz="2400" dirty="0"/>
          </a:p>
        </p:txBody>
      </p:sp>
      <p:sp>
        <p:nvSpPr>
          <p:cNvPr id="19" name="Text 16"/>
          <p:cNvSpPr/>
          <p:nvPr/>
        </p:nvSpPr>
        <p:spPr>
          <a:xfrm>
            <a:off x="6711696" y="2816352"/>
            <a:ext cx="1920240" cy="347472"/>
          </a:xfrm>
          <a:prstGeom prst="rect">
            <a:avLst/>
          </a:prstGeom>
          <a:noFill/>
          <a:ln/>
        </p:spPr>
        <p:txBody>
          <a:bodyPr wrap="square" lIns="0" tIns="0" rIns="0" bIns="0" rtlCol="0" anchor="ctr"/>
          <a:lstStyle/>
          <a:p>
            <a:pPr algn="ctr" indent="0" marL="0">
              <a:buNone/>
            </a:pPr>
            <a:r>
              <a:rPr lang="en-US" sz="900" dirty="0">
                <a:solidFill>
                  <a:srgbClr val="F0EFEC"/>
                </a:solidFill>
                <a:latin typeface="Calibri" pitchFamily="34" charset="0"/>
                <a:ea typeface="Calibri" pitchFamily="34" charset="-122"/>
                <a:cs typeface="Calibri" pitchFamily="34" charset="-120"/>
              </a:rPr>
              <a:t>Velocidade de</a:t>
            </a:r>
            <a:endParaRPr lang="en-US" sz="900" dirty="0"/>
          </a:p>
          <a:p>
            <a:pPr algn="ctr" indent="0" marL="0">
              <a:buNone/>
            </a:pPr>
            <a:r>
              <a:rPr lang="en-US" sz="900" dirty="0">
                <a:solidFill>
                  <a:srgbClr val="F0EFEC"/>
                </a:solidFill>
                <a:latin typeface="Calibri" pitchFamily="34" charset="0"/>
                <a:ea typeface="Calibri" pitchFamily="34" charset="-122"/>
                <a:cs typeface="Calibri" pitchFamily="34" charset="-120"/>
              </a:rPr>
              <a:t>execução</a:t>
            </a:r>
            <a:endParaRPr lang="en-US" sz="900" dirty="0"/>
          </a:p>
        </p:txBody>
      </p:sp>
      <p:sp>
        <p:nvSpPr>
          <p:cNvPr id="20" name="Shape 17"/>
          <p:cNvSpPr/>
          <p:nvPr/>
        </p:nvSpPr>
        <p:spPr>
          <a:xfrm>
            <a:off x="457200" y="3547872"/>
            <a:ext cx="8229600" cy="0"/>
          </a:xfrm>
          <a:prstGeom prst="line">
            <a:avLst/>
          </a:prstGeom>
          <a:noFill/>
          <a:ln w="6350">
            <a:solidFill>
              <a:srgbClr val="A07830"/>
            </a:solidFill>
            <a:prstDash val="solid"/>
          </a:ln>
        </p:spPr>
      </p:sp>
      <p:pic>
        <p:nvPicPr>
          <p:cNvPr id="21" name="Image 1" descr="/mnt/user-data/uploads/1000172040.jpg">    </p:cNvPr>
          <p:cNvPicPr>
            <a:picLocks noChangeAspect="1"/>
          </p:cNvPicPr>
          <p:nvPr/>
        </p:nvPicPr>
        <p:blipFill>
          <a:blip r:embed="rId2"/>
          <a:stretch>
            <a:fillRect/>
          </a:stretch>
        </p:blipFill>
        <p:spPr>
          <a:xfrm>
            <a:off x="457200" y="3639312"/>
            <a:ext cx="3200400" cy="684085"/>
          </a:xfrm>
          <a:prstGeom prst="rect">
            <a:avLst/>
          </a:prstGeom>
        </p:spPr>
      </p:pic>
      <p:sp>
        <p:nvSpPr>
          <p:cNvPr id="22" name="Text 18"/>
          <p:cNvSpPr/>
          <p:nvPr/>
        </p:nvSpPr>
        <p:spPr>
          <a:xfrm>
            <a:off x="3840480" y="3657600"/>
            <a:ext cx="4846320" cy="347472"/>
          </a:xfrm>
          <a:prstGeom prst="rect">
            <a:avLst/>
          </a:prstGeom>
          <a:noFill/>
          <a:ln/>
        </p:spPr>
        <p:txBody>
          <a:bodyPr wrap="square" lIns="0" tIns="0" rIns="0" bIns="0" rtlCol="0" anchor="ctr"/>
          <a:lstStyle/>
          <a:p>
            <a:pPr indent="0" marL="0">
              <a:buNone/>
            </a:pPr>
            <a:r>
              <a:rPr lang="en-US" sz="1100" b="1" spc="100" kern="0" dirty="0">
                <a:solidFill>
                  <a:srgbClr val="C8A84B"/>
                </a:solidFill>
                <a:latin typeface="Cambria" pitchFamily="34" charset="0"/>
                <a:ea typeface="Cambria" pitchFamily="34" charset="-122"/>
                <a:cs typeface="Cambria" pitchFamily="34" charset="-120"/>
              </a:rPr>
              <a:t>SOLICITE PROPOSTA TÉCNICA SEM COMPROMISSO</a:t>
            </a:r>
            <a:endParaRPr lang="en-US" sz="1100" dirty="0"/>
          </a:p>
        </p:txBody>
      </p:sp>
      <p:pic>
        <p:nvPicPr>
          <p:cNvPr id="23" name="Image 2" descr="preencoded.png">    </p:cNvPr>
          <p:cNvPicPr>
            <a:picLocks noChangeAspect="1"/>
          </p:cNvPicPr>
          <p:nvPr/>
        </p:nvPicPr>
        <p:blipFill>
          <a:blip r:embed="rId3"/>
          <a:stretch>
            <a:fillRect/>
          </a:stretch>
        </p:blipFill>
        <p:spPr>
          <a:xfrm>
            <a:off x="3840480" y="4059936"/>
            <a:ext cx="219456" cy="219456"/>
          </a:xfrm>
          <a:prstGeom prst="rect">
            <a:avLst/>
          </a:prstGeom>
        </p:spPr>
      </p:pic>
      <p:sp>
        <p:nvSpPr>
          <p:cNvPr id="24" name="Text 19"/>
          <p:cNvSpPr/>
          <p:nvPr/>
        </p:nvSpPr>
        <p:spPr>
          <a:xfrm>
            <a:off x="4133088" y="4041648"/>
            <a:ext cx="4572000" cy="256032"/>
          </a:xfrm>
          <a:prstGeom prst="rect">
            <a:avLst/>
          </a:prstGeom>
          <a:noFill/>
          <a:ln/>
        </p:spPr>
        <p:txBody>
          <a:bodyPr wrap="square" lIns="0" tIns="0" rIns="0" bIns="0" rtlCol="0" anchor="ctr"/>
          <a:lstStyle/>
          <a:p>
            <a:pPr indent="0" marL="0">
              <a:buNone/>
            </a:pPr>
            <a:r>
              <a:rPr lang="en-US" sz="1000" dirty="0">
                <a:solidFill>
                  <a:srgbClr val="F0EFEC"/>
                </a:solidFill>
                <a:latin typeface="Calibri" pitchFamily="34" charset="0"/>
                <a:ea typeface="Calibri" pitchFamily="34" charset="-122"/>
                <a:cs typeface="Calibri" pitchFamily="34" charset="-120"/>
              </a:rPr>
              <a:t>(41) 97402-0220  ·  WhatsApp e Ligação</a:t>
            </a:r>
            <a:endParaRPr lang="en-US" sz="1000" dirty="0"/>
          </a:p>
        </p:txBody>
      </p:sp>
      <p:pic>
        <p:nvPicPr>
          <p:cNvPr id="25" name="Image 3" descr="preencoded.png">    </p:cNvPr>
          <p:cNvPicPr>
            <a:picLocks noChangeAspect="1"/>
          </p:cNvPicPr>
          <p:nvPr/>
        </p:nvPicPr>
        <p:blipFill>
          <a:blip r:embed="rId4"/>
          <a:stretch>
            <a:fillRect/>
          </a:stretch>
        </p:blipFill>
        <p:spPr>
          <a:xfrm>
            <a:off x="3840480" y="4352544"/>
            <a:ext cx="219456" cy="219456"/>
          </a:xfrm>
          <a:prstGeom prst="rect">
            <a:avLst/>
          </a:prstGeom>
        </p:spPr>
      </p:pic>
      <p:sp>
        <p:nvSpPr>
          <p:cNvPr id="26" name="Text 20"/>
          <p:cNvSpPr/>
          <p:nvPr/>
        </p:nvSpPr>
        <p:spPr>
          <a:xfrm>
            <a:off x="4133088" y="4334256"/>
            <a:ext cx="4572000" cy="256032"/>
          </a:xfrm>
          <a:prstGeom prst="rect">
            <a:avLst/>
          </a:prstGeom>
          <a:noFill/>
          <a:ln/>
        </p:spPr>
        <p:txBody>
          <a:bodyPr wrap="square" lIns="0" tIns="0" rIns="0" bIns="0" rtlCol="0" anchor="ctr"/>
          <a:lstStyle/>
          <a:p>
            <a:pPr indent="0" marL="0">
              <a:buNone/>
            </a:pPr>
            <a:r>
              <a:rPr lang="en-US" sz="1000" dirty="0">
                <a:solidFill>
                  <a:srgbClr val="F0EFEC"/>
                </a:solidFill>
                <a:latin typeface="Calibri" pitchFamily="34" charset="0"/>
                <a:ea typeface="Calibri" pitchFamily="34" charset="-122"/>
                <a:cs typeface="Calibri" pitchFamily="34" charset="-120"/>
              </a:rPr>
              <a:t>comercial@oppermannsteel.com.br</a:t>
            </a:r>
            <a:endParaRPr lang="en-US" sz="1000" dirty="0"/>
          </a:p>
        </p:txBody>
      </p:sp>
      <p:pic>
        <p:nvPicPr>
          <p:cNvPr id="27" name="Image 4" descr="preencoded.png">    </p:cNvPr>
          <p:cNvPicPr>
            <a:picLocks noChangeAspect="1"/>
          </p:cNvPicPr>
          <p:nvPr/>
        </p:nvPicPr>
        <p:blipFill>
          <a:blip r:embed="rId5"/>
          <a:stretch>
            <a:fillRect/>
          </a:stretch>
        </p:blipFill>
        <p:spPr>
          <a:xfrm>
            <a:off x="3840480" y="4645152"/>
            <a:ext cx="219456" cy="219456"/>
          </a:xfrm>
          <a:prstGeom prst="rect">
            <a:avLst/>
          </a:prstGeom>
        </p:spPr>
      </p:pic>
      <p:sp>
        <p:nvSpPr>
          <p:cNvPr id="28" name="Text 21"/>
          <p:cNvSpPr/>
          <p:nvPr/>
        </p:nvSpPr>
        <p:spPr>
          <a:xfrm>
            <a:off x="4133088" y="4626864"/>
            <a:ext cx="4572000" cy="256032"/>
          </a:xfrm>
          <a:prstGeom prst="rect">
            <a:avLst/>
          </a:prstGeom>
          <a:noFill/>
          <a:ln/>
        </p:spPr>
        <p:txBody>
          <a:bodyPr wrap="square" lIns="0" tIns="0" rIns="0" bIns="0" rtlCol="0" anchor="ctr"/>
          <a:lstStyle/>
          <a:p>
            <a:pPr indent="0" marL="0">
              <a:buNone/>
            </a:pPr>
            <a:r>
              <a:rPr lang="en-US" sz="1000" dirty="0">
                <a:solidFill>
                  <a:srgbClr val="F0EFEC"/>
                </a:solidFill>
                <a:latin typeface="Calibri" pitchFamily="34" charset="0"/>
                <a:ea typeface="Calibri" pitchFamily="34" charset="-122"/>
                <a:cs typeface="Calibri" pitchFamily="34" charset="-120"/>
              </a:rPr>
              <a:t>www.oppermannsteel.com.br</a:t>
            </a:r>
            <a:endParaRPr lang="en-US" sz="1000" dirty="0"/>
          </a:p>
        </p:txBody>
      </p:sp>
      <p:sp>
        <p:nvSpPr>
          <p:cNvPr id="29" name="Text 22"/>
          <p:cNvSpPr/>
          <p:nvPr/>
        </p:nvSpPr>
        <p:spPr>
          <a:xfrm>
            <a:off x="457200" y="4919472"/>
            <a:ext cx="8229600" cy="201168"/>
          </a:xfrm>
          <a:prstGeom prst="rect">
            <a:avLst/>
          </a:prstGeom>
          <a:noFill/>
          <a:ln/>
        </p:spPr>
        <p:txBody>
          <a:bodyPr wrap="square" lIns="0" tIns="0" rIns="0" bIns="0" rtlCol="0" anchor="ctr"/>
          <a:lstStyle/>
          <a:p>
            <a:pPr algn="ctr" indent="0" marL="0">
              <a:buNone/>
            </a:pPr>
            <a:r>
              <a:rPr lang="en-US" sz="900" i="1" dirty="0">
                <a:solidFill>
                  <a:srgbClr val="C8A84B"/>
                </a:solidFill>
                <a:latin typeface="Calibri" pitchFamily="34" charset="0"/>
                <a:ea typeface="Calibri" pitchFamily="34" charset="-122"/>
                <a:cs typeface="Calibri" pitchFamily="34" charset="-120"/>
              </a:rPr>
              <a:t>Construção a seco com precisão, desempenho e alto padrão.</a:t>
            </a:r>
            <a:endParaRPr lang="en-US" sz="900" dirty="0"/>
          </a:p>
        </p:txBody>
      </p:sp>
      <p:sp>
        <p:nvSpPr>
          <p:cNvPr id="30" name="Shape 23"/>
          <p:cNvSpPr/>
          <p:nvPr/>
        </p:nvSpPr>
        <p:spPr>
          <a:xfrm>
            <a:off x="0" y="5097780"/>
            <a:ext cx="9144000" cy="45720"/>
          </a:xfrm>
          <a:prstGeom prst="rect">
            <a:avLst/>
          </a:prstGeom>
          <a:solidFill>
            <a:srgbClr val="C8A84B"/>
          </a:solidFill>
          <a:ln w="12700">
            <a:solidFill>
              <a:srgbClr val="C8A84B"/>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Estudo Técnico: Drywall × Alvenaria</dc:title>
  <dc:subject>PptxGenJS Presentation</dc:subject>
  <dc:creator>Oppermann Construção a Seco</dc:creator>
  <cp:lastModifiedBy>Oppermann Construção a Seco</cp:lastModifiedBy>
  <cp:revision>1</cp:revision>
  <dcterms:created xsi:type="dcterms:W3CDTF">2026-06-12T03:33:36Z</dcterms:created>
  <dcterms:modified xsi:type="dcterms:W3CDTF">2026-06-12T03:33:36Z</dcterms:modified>
</cp:coreProperties>
</file>